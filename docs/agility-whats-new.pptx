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this walks through every tool and enhancement released in Agility over the last two weeks, grouped by the team it serves. Photo: our own SZWC living kitchen display, now live on the Sub-Zero landing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 count from the release log: 40+ production pushes since August 13. Three tools are entirely new: the service estimate tool, the online clearance shop, and the Sub-Zero consultation scheduler. Everything customer-facing follows the same rule — a person clicks, or nothing sends.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Payments: pay links now text or email directly (Podium is live), with reminder variants. Receipts can be texted with a tokenized public PDF link that regenerates from Stripe, so it's always current. Refunds map into Paid History with their own receipts and net-revenue summaries. Podium gets an internal payment note on the customer's thread exactly once per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estimate tool went from v1 to fully in production inside these two weeks. Scan the paper work order, the parser builds the estimate, the team reviews and sends by text or email. The client page shows the appliance by name, full cost breakdown, and now the scanned work order itself. Approvals note the Podium thread; declines become claimable sales leads.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Sub-Zero landing page now runs on our own photography and books real appointments. Slots respect showroom hours, hold two consultations each, and everything routes through the same DIBS flow the team already knows from service leads. Scheduler deploys with today's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clearance shop went live mid-month and iterated fast: nightly inventory snapshots from the store PC, ZIP-gated to our delivery area, Stripe-secured card capture at checkout, unit locking to prevent double-selling, and buyer-selected pickup/delivery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Commission statements are now snapshots — what you post is exactly what the rep reviews, immune to later recomputes. Exception requests are line-specific, windowed to 45 days after month end, and resolve with a written response. Action needed: assign the E60 and E80 job codes so exception flags route correctly, and grant reps the My Commissions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connective tissue under everything else. Podium OAuth went live, which unlocked every text button in the app, and the customer's text thread doubles as the customer file — internal notes record payments, receipts, approvals, email touches, and lead ownership. Reply-to stamping means client replies reach the actual sender.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picked up early-warning tooling: delivery runs synced to Samsara with automatic next-stop heads-up texts, health flags for aging service orders, and OE-23 aging inventory reporting. The audit trail answers 'what changed this record' definitively. The Maintenance Plans pilot is Cayden's project, mounted under Test Modules — worth a look from service leadership.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asks: page grants in User Admin, E60/E80 assignments before the first commission exception, estimate wording feedback, the two remaining Sub-Zero placeholders, and making sure teams know the DIBS pattern is universal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pattern: every tool follows the same three rules, which is why the pieces compose — the scheduler reuses DIBS, receipts reuse the thread notes, estimates reuse the same send-and-audit path. Invite feature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7"/>
        </a:solidFill>
      </p:bgPr>
    </p:bg>
    <p:spTree>
      <p:nvGrpSpPr>
        <p:cNvPr id="1" name=""/>
        <p:cNvGrpSpPr/>
        <p:nvPr/>
      </p:nvGrpSpPr>
      <p:grpSpPr>
        <a:xfrm>
          <a:off x="0" y="0"/>
          <a:ext cx="0" cy="0"/>
          <a:chOff x="0" y="0"/>
          <a:chExt cx="0" cy="0"/>
        </a:xfrm>
      </p:grpSpPr>
      <p:pic>
        <p:nvPicPr>
          <p:cNvPr id="2" name="Image 0" descr="/tmp/rebrand/subzero-photos/hero.jpg">    </p:cNvPr>
          <p:cNvPicPr>
            <a:picLocks noChangeAspect="1"/>
          </p:cNvPicPr>
          <p:nvPr/>
        </p:nvPicPr>
        <p:blipFill>
          <a:blip r:embed="rId1">
            <a:alphaModFix amt="88000"/>
          </a:blip>
          <a:srcRect l="0" r="0" t="0" b="0"/>
          <a:stretch/>
        </p:blipFill>
        <p:spPr>
          <a:xfrm>
            <a:off x="6336792" y="0"/>
            <a:ext cx="5852160" cy="6858000"/>
          </a:xfrm>
          <a:prstGeom prst="rect">
            <a:avLst/>
          </a:prstGeom>
        </p:spPr>
      </p:pic>
      <p:sp>
        <p:nvSpPr>
          <p:cNvPr id="3" name="Shape 0"/>
          <p:cNvSpPr/>
          <p:nvPr/>
        </p:nvSpPr>
        <p:spPr>
          <a:xfrm>
            <a:off x="5971032" y="0"/>
            <a:ext cx="365760" cy="6858000"/>
          </a:xfrm>
          <a:prstGeom prst="rect">
            <a:avLst/>
          </a:prstGeom>
          <a:solidFill>
            <a:srgbClr val="1F2937"/>
          </a:solidFill>
          <a:ln/>
        </p:spPr>
      </p:sp>
      <p:sp>
        <p:nvSpPr>
          <p:cNvPr id="4" name="Text 1"/>
          <p:cNvSpPr txBox="1"/>
          <p:nvPr/>
        </p:nvSpPr>
        <p:spPr>
          <a:xfrm>
            <a:off x="640080" y="1371600"/>
            <a:ext cx="5120640" cy="320040"/>
          </a:xfrm>
          <a:prstGeom prst="rect">
            <a:avLst/>
          </a:prstGeom>
          <a:noFill/>
          <a:ln/>
        </p:spPr>
        <p:txBody>
          <a:bodyPr wrap="square" lIns="0" tIns="0" rIns="0" bIns="0" rtlCol="0" anchor="ctr"/>
          <a:lstStyle/>
          <a:p>
            <a:pPr indent="0" marL="0">
              <a:buNone/>
            </a:pPr>
            <a:r>
              <a:rPr lang="en-US" sz="1300" b="1" spc="300" kern="0" dirty="0">
                <a:solidFill>
                  <a:srgbClr val="8FBF9F"/>
                </a:solidFill>
                <a:latin typeface="Calibri" pitchFamily="34" charset="0"/>
                <a:ea typeface="Calibri" pitchFamily="34" charset="-122"/>
                <a:cs typeface="Calibri" pitchFamily="34" charset="-120"/>
              </a:rPr>
              <a:t>WILSON AC &amp; APPLIANCE  ·  LEADERSHIP BRIEFING</a:t>
            </a:r>
            <a:endParaRPr lang="en-US" sz="1300" dirty="0"/>
          </a:p>
        </p:txBody>
      </p:sp>
      <p:sp>
        <p:nvSpPr>
          <p:cNvPr id="5" name="Text 2"/>
          <p:cNvSpPr txBox="1"/>
          <p:nvPr/>
        </p:nvSpPr>
        <p:spPr>
          <a:xfrm>
            <a:off x="640080" y="1828800"/>
            <a:ext cx="5212080" cy="2651760"/>
          </a:xfrm>
          <a:prstGeom prst="rect">
            <a:avLst/>
          </a:prstGeom>
          <a:noFill/>
          <a:ln/>
        </p:spPr>
        <p:txBody>
          <a:bodyPr wrap="square" lIns="0" tIns="0" rIns="0" bIns="0" rtlCol="0" anchor="ctr"/>
          <a:lstStyle/>
          <a:p>
            <a:pPr indent="0" marL="0">
              <a:lnSpc>
                <a:spcPct val="102000"/>
              </a:lnSpc>
              <a:buNone/>
            </a:pPr>
            <a:r>
              <a:rPr lang="en-US" sz="4800" b="1" dirty="0">
                <a:solidFill>
                  <a:srgbClr val="FFFFFF"/>
                </a:solidFill>
                <a:latin typeface="Cambria" pitchFamily="34" charset="0"/>
                <a:ea typeface="Cambria" pitchFamily="34" charset="-122"/>
                <a:cs typeface="Cambria" pitchFamily="34" charset="-120"/>
              </a:rPr>
              <a:t>Agility:</a:t>
            </a:r>
            <a:endParaRPr lang="en-US" sz="4800" dirty="0"/>
          </a:p>
          <a:p>
            <a:pPr indent="0" marL="0">
              <a:lnSpc>
                <a:spcPct val="102000"/>
              </a:lnSpc>
              <a:buNone/>
            </a:pPr>
            <a:r>
              <a:rPr lang="en-US" sz="4800" b="1" dirty="0">
                <a:solidFill>
                  <a:srgbClr val="FFFFFF"/>
                </a:solidFill>
                <a:latin typeface="Cambria" pitchFamily="34" charset="0"/>
                <a:ea typeface="Cambria" pitchFamily="34" charset="-122"/>
                <a:cs typeface="Cambria" pitchFamily="34" charset="-120"/>
              </a:rPr>
              <a:t>Two Weeks of</a:t>
            </a:r>
            <a:endParaRPr lang="en-US" sz="4800" dirty="0"/>
          </a:p>
          <a:p>
            <a:pPr indent="0" marL="0">
              <a:lnSpc>
                <a:spcPct val="102000"/>
              </a:lnSpc>
              <a:buNone/>
            </a:pPr>
            <a:r>
              <a:rPr lang="en-US" sz="4800" b="1" dirty="0">
                <a:solidFill>
                  <a:srgbClr val="FFFFFF"/>
                </a:solidFill>
                <a:latin typeface="Cambria" pitchFamily="34" charset="0"/>
                <a:ea typeface="Cambria" pitchFamily="34" charset="-122"/>
                <a:cs typeface="Cambria" pitchFamily="34" charset="-120"/>
              </a:rPr>
              <a:t>New Tools</a:t>
            </a:r>
            <a:endParaRPr lang="en-US" sz="4800" dirty="0"/>
          </a:p>
        </p:txBody>
      </p:sp>
      <p:sp>
        <p:nvSpPr>
          <p:cNvPr id="6" name="Text 3"/>
          <p:cNvSpPr txBox="1"/>
          <p:nvPr/>
        </p:nvSpPr>
        <p:spPr>
          <a:xfrm>
            <a:off x="640080" y="4709160"/>
            <a:ext cx="5120640" cy="731520"/>
          </a:xfrm>
          <a:prstGeom prst="rect">
            <a:avLst/>
          </a:prstGeom>
          <a:noFill/>
          <a:ln/>
        </p:spPr>
        <p:txBody>
          <a:bodyPr wrap="square" lIns="0" tIns="0" rIns="0" bIns="0" rtlCol="0" anchor="ctr"/>
          <a:lstStyle/>
          <a:p>
            <a:pPr indent="0" marL="0">
              <a:lnSpc>
                <a:spcPct val="115000"/>
              </a:lnSpc>
              <a:buNone/>
            </a:pPr>
            <a:r>
              <a:rPr lang="en-US" sz="1500" dirty="0">
                <a:solidFill>
                  <a:srgbClr val="C9D6CC"/>
                </a:solidFill>
                <a:latin typeface="Calibri" pitchFamily="34" charset="0"/>
                <a:ea typeface="Calibri" pitchFamily="34" charset="-122"/>
                <a:cs typeface="Calibri" pitchFamily="34" charset="-120"/>
              </a:rPr>
              <a:t>Everything we shipped August 13–27, what it does,</a:t>
            </a:r>
            <a:endParaRPr lang="en-US" sz="1500" dirty="0"/>
          </a:p>
          <a:p>
            <a:pPr indent="0" marL="0">
              <a:lnSpc>
                <a:spcPct val="115000"/>
              </a:lnSpc>
              <a:buNone/>
            </a:pPr>
            <a:r>
              <a:rPr lang="en-US" sz="1500" dirty="0">
                <a:solidFill>
                  <a:srgbClr val="C9D6CC"/>
                </a:solidFill>
                <a:latin typeface="Calibri" pitchFamily="34" charset="0"/>
                <a:ea typeface="Calibri" pitchFamily="34" charset="-122"/>
                <a:cs typeface="Calibri" pitchFamily="34" charset="-120"/>
              </a:rPr>
              <a:t>and what it means for your team.</a:t>
            </a:r>
            <a:endParaRPr lang="en-US" sz="1500" dirty="0"/>
          </a:p>
        </p:txBody>
      </p:sp>
      <p:sp>
        <p:nvSpPr>
          <p:cNvPr id="7" name="Text 4"/>
          <p:cNvSpPr txBox="1"/>
          <p:nvPr/>
        </p:nvSpPr>
        <p:spPr>
          <a:xfrm>
            <a:off x="640080" y="5989320"/>
            <a:ext cx="5120640" cy="320040"/>
          </a:xfrm>
          <a:prstGeom prst="rect">
            <a:avLst/>
          </a:prstGeom>
          <a:noFill/>
          <a:ln/>
        </p:spPr>
        <p:txBody>
          <a:bodyPr wrap="square" lIns="0" tIns="0" rIns="0" bIns="0" rtlCol="0" anchor="ctr"/>
          <a:lstStyle/>
          <a:p>
            <a:pPr indent="0" marL="0">
              <a:buNone/>
            </a:pPr>
            <a:r>
              <a:rPr lang="en-US" sz="1200" dirty="0">
                <a:solidFill>
                  <a:srgbClr val="8FBF9F"/>
                </a:solidFill>
                <a:latin typeface="Calibri" pitchFamily="34" charset="0"/>
                <a:ea typeface="Calibri" pitchFamily="34" charset="-122"/>
                <a:cs typeface="Calibri" pitchFamily="34" charset="-120"/>
              </a:rPr>
              <a:t>August 27, 2026  ·  Department Managers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566928" cy="566928"/>
          </a:xfrm>
          <a:prstGeom prst="ellipse">
            <a:avLst/>
          </a:prstGeom>
          <a:solidFill>
            <a:srgbClr val="1C5C34"/>
          </a:solidFill>
          <a:ln/>
        </p:spPr>
      </p:sp>
      <p:pic>
        <p:nvPicPr>
          <p:cNvPr id="3" name="Image 0" descr="/tmp/deck/icons/FiZap-white.png">    </p:cNvPr>
          <p:cNvPicPr>
            <a:picLocks noChangeAspect="1"/>
          </p:cNvPicPr>
          <p:nvPr/>
        </p:nvPicPr>
        <p:blipFill>
          <a:blip r:embed="rId1"/>
          <a:stretch>
            <a:fillRect/>
          </a:stretch>
        </p:blipFill>
        <p:spPr>
          <a:xfrm>
            <a:off x="696041" y="622889"/>
            <a:ext cx="272125" cy="272125"/>
          </a:xfrm>
          <a:prstGeom prst="rect">
            <a:avLst/>
          </a:prstGeom>
        </p:spPr>
      </p:pic>
      <p:sp>
        <p:nvSpPr>
          <p:cNvPr id="4" name="Text 1"/>
          <p:cNvSpPr txBox="1"/>
          <p:nvPr/>
        </p:nvSpPr>
        <p:spPr>
          <a:xfrm>
            <a:off x="1298448" y="384048"/>
            <a:ext cx="9601200" cy="274320"/>
          </a:xfrm>
          <a:prstGeom prst="rect">
            <a:avLst/>
          </a:prstGeom>
          <a:noFill/>
          <a:ln/>
        </p:spPr>
        <p:txBody>
          <a:bodyPr wrap="square" lIns="0" tIns="0" rIns="0" bIns="0" rtlCol="0" anchor="ctr"/>
          <a:lstStyle/>
          <a:p>
            <a:pPr indent="0" marL="0">
              <a:buNone/>
            </a:pPr>
            <a:r>
              <a:rPr lang="en-US" sz="1200" b="1" spc="300" kern="0" dirty="0">
                <a:solidFill>
                  <a:srgbClr val="1C5C34"/>
                </a:solidFill>
                <a:latin typeface="Calibri" pitchFamily="34" charset="0"/>
                <a:ea typeface="Calibri" pitchFamily="34" charset="-122"/>
                <a:cs typeface="Calibri" pitchFamily="34" charset="-120"/>
              </a:rPr>
              <a:t>THE LAST TWO WEEKS</a:t>
            </a:r>
            <a:endParaRPr lang="en-US" sz="1200" dirty="0"/>
          </a:p>
        </p:txBody>
      </p:sp>
      <p:sp>
        <p:nvSpPr>
          <p:cNvPr id="5" name="Text 2"/>
          <p:cNvSpPr txBox="1"/>
          <p:nvPr/>
        </p:nvSpPr>
        <p:spPr>
          <a:xfrm>
            <a:off x="1298448" y="621792"/>
            <a:ext cx="10241280" cy="566928"/>
          </a:xfrm>
          <a:prstGeom prst="rect">
            <a:avLst/>
          </a:prstGeom>
          <a:noFill/>
          <a:ln/>
        </p:spPr>
        <p:txBody>
          <a:bodyPr wrap="square" lIns="0" tIns="0" rIns="0" bIns="0" rtlCol="0" anchor="ctr"/>
          <a:lstStyle/>
          <a:p>
            <a:pPr indent="0" marL="0">
              <a:buNone/>
            </a:pPr>
            <a:r>
              <a:rPr lang="en-US" sz="3100" b="1" dirty="0">
                <a:solidFill>
                  <a:srgbClr val="1F2937"/>
                </a:solidFill>
                <a:latin typeface="Cambria" pitchFamily="34" charset="0"/>
                <a:ea typeface="Cambria" pitchFamily="34" charset="-122"/>
                <a:cs typeface="Cambria" pitchFamily="34" charset="-120"/>
              </a:rPr>
              <a:t>A lot shipped. Here's the shape of it.</a:t>
            </a:r>
            <a:endParaRPr lang="en-US" sz="3100" dirty="0"/>
          </a:p>
        </p:txBody>
      </p:sp>
      <p:sp>
        <p:nvSpPr>
          <p:cNvPr id="6" name="Shape 3"/>
          <p:cNvSpPr/>
          <p:nvPr/>
        </p:nvSpPr>
        <p:spPr>
          <a:xfrm>
            <a:off x="548640" y="1600200"/>
            <a:ext cx="2606040" cy="2103120"/>
          </a:xfrm>
          <a:prstGeom prst="roundRect">
            <a:avLst>
              <a:gd name="adj" fmla="val 3478"/>
            </a:avLst>
          </a:prstGeom>
          <a:solidFill>
            <a:srgbClr val="E3EFE5"/>
          </a:solidFill>
          <a:ln/>
        </p:spPr>
      </p:sp>
      <p:sp>
        <p:nvSpPr>
          <p:cNvPr id="7" name="Text 4"/>
          <p:cNvSpPr txBox="1"/>
          <p:nvPr/>
        </p:nvSpPr>
        <p:spPr>
          <a:xfrm>
            <a:off x="548640" y="1783080"/>
            <a:ext cx="2606040" cy="914400"/>
          </a:xfrm>
          <a:prstGeom prst="rect">
            <a:avLst/>
          </a:prstGeom>
          <a:noFill/>
          <a:ln/>
        </p:spPr>
        <p:txBody>
          <a:bodyPr wrap="square" lIns="0" tIns="0" rIns="0" bIns="0" rtlCol="0" anchor="ctr"/>
          <a:lstStyle/>
          <a:p>
            <a:pPr algn="ctr" indent="0" marL="0">
              <a:buNone/>
            </a:pPr>
            <a:r>
              <a:rPr lang="en-US" sz="5400" b="1" dirty="0">
                <a:solidFill>
                  <a:srgbClr val="1C5C34"/>
                </a:solidFill>
                <a:latin typeface="Cambria" pitchFamily="34" charset="0"/>
                <a:ea typeface="Cambria" pitchFamily="34" charset="-122"/>
                <a:cs typeface="Cambria" pitchFamily="34" charset="-120"/>
              </a:rPr>
              <a:t>40+</a:t>
            </a:r>
            <a:endParaRPr lang="en-US" sz="5400" dirty="0"/>
          </a:p>
        </p:txBody>
      </p:sp>
      <p:sp>
        <p:nvSpPr>
          <p:cNvPr id="8" name="Text 5"/>
          <p:cNvSpPr txBox="1"/>
          <p:nvPr/>
        </p:nvSpPr>
        <p:spPr>
          <a:xfrm>
            <a:off x="685800" y="2788920"/>
            <a:ext cx="2331720" cy="777240"/>
          </a:xfrm>
          <a:prstGeom prst="rect">
            <a:avLst/>
          </a:prstGeom>
          <a:noFill/>
          <a:ln/>
        </p:spPr>
        <p:txBody>
          <a:bodyPr wrap="square" lIns="0" tIns="0" rIns="0" bIns="0" rtlCol="0" anchor="ctr"/>
          <a:lstStyle/>
          <a:p>
            <a:pPr algn="ctr" indent="0" marL="0">
              <a:lnSpc>
                <a:spcPct val="110000"/>
              </a:lnSpc>
              <a:buNone/>
            </a:pPr>
            <a:r>
              <a:rPr lang="en-US" sz="1250" dirty="0">
                <a:solidFill>
                  <a:srgbClr val="5F6B63"/>
                </a:solidFill>
                <a:latin typeface="Calibri" pitchFamily="34" charset="0"/>
                <a:ea typeface="Calibri" pitchFamily="34" charset="-122"/>
                <a:cs typeface="Calibri" pitchFamily="34" charset="-120"/>
              </a:rPr>
              <a:t>releases pushed</a:t>
            </a:r>
            <a:endParaRPr lang="en-US" sz="1250" dirty="0"/>
          </a:p>
          <a:p>
            <a:pPr algn="ctr" indent="0" marL="0">
              <a:lnSpc>
                <a:spcPct val="110000"/>
              </a:lnSpc>
              <a:buNone/>
            </a:pPr>
            <a:r>
              <a:rPr lang="en-US" sz="1250" dirty="0">
                <a:solidFill>
                  <a:srgbClr val="5F6B63"/>
                </a:solidFill>
                <a:latin typeface="Calibri" pitchFamily="34" charset="0"/>
                <a:ea typeface="Calibri" pitchFamily="34" charset="-122"/>
                <a:cs typeface="Calibri" pitchFamily="34" charset="-120"/>
              </a:rPr>
              <a:t>to production</a:t>
            </a:r>
            <a:endParaRPr lang="en-US" sz="1250" dirty="0"/>
          </a:p>
        </p:txBody>
      </p:sp>
      <p:sp>
        <p:nvSpPr>
          <p:cNvPr id="9" name="Shape 6"/>
          <p:cNvSpPr/>
          <p:nvPr/>
        </p:nvSpPr>
        <p:spPr>
          <a:xfrm>
            <a:off x="3410712" y="1600200"/>
            <a:ext cx="2606040" cy="2103120"/>
          </a:xfrm>
          <a:prstGeom prst="roundRect">
            <a:avLst>
              <a:gd name="adj" fmla="val 3478"/>
            </a:avLst>
          </a:prstGeom>
          <a:solidFill>
            <a:srgbClr val="E3EFE5"/>
          </a:solidFill>
          <a:ln/>
        </p:spPr>
      </p:sp>
      <p:sp>
        <p:nvSpPr>
          <p:cNvPr id="10" name="Text 7"/>
          <p:cNvSpPr txBox="1"/>
          <p:nvPr/>
        </p:nvSpPr>
        <p:spPr>
          <a:xfrm>
            <a:off x="3410712" y="1783080"/>
            <a:ext cx="2606040" cy="914400"/>
          </a:xfrm>
          <a:prstGeom prst="rect">
            <a:avLst/>
          </a:prstGeom>
          <a:noFill/>
          <a:ln/>
        </p:spPr>
        <p:txBody>
          <a:bodyPr wrap="square" lIns="0" tIns="0" rIns="0" bIns="0" rtlCol="0" anchor="ctr"/>
          <a:lstStyle/>
          <a:p>
            <a:pPr algn="ctr" indent="0" marL="0">
              <a:buNone/>
            </a:pPr>
            <a:r>
              <a:rPr lang="en-US" sz="5400" b="1" dirty="0">
                <a:solidFill>
                  <a:srgbClr val="1C5C34"/>
                </a:solidFill>
                <a:latin typeface="Cambria" pitchFamily="34" charset="0"/>
                <a:ea typeface="Cambria" pitchFamily="34" charset="-122"/>
                <a:cs typeface="Cambria" pitchFamily="34" charset="-120"/>
              </a:rPr>
              <a:t>6</a:t>
            </a:r>
            <a:endParaRPr lang="en-US" sz="5400" dirty="0"/>
          </a:p>
        </p:txBody>
      </p:sp>
      <p:sp>
        <p:nvSpPr>
          <p:cNvPr id="11" name="Text 8"/>
          <p:cNvSpPr txBox="1"/>
          <p:nvPr/>
        </p:nvSpPr>
        <p:spPr>
          <a:xfrm>
            <a:off x="3547872" y="2788920"/>
            <a:ext cx="2331720" cy="777240"/>
          </a:xfrm>
          <a:prstGeom prst="rect">
            <a:avLst/>
          </a:prstGeom>
          <a:noFill/>
          <a:ln/>
        </p:spPr>
        <p:txBody>
          <a:bodyPr wrap="square" lIns="0" tIns="0" rIns="0" bIns="0" rtlCol="0" anchor="ctr"/>
          <a:lstStyle/>
          <a:p>
            <a:pPr algn="ctr" indent="0" marL="0">
              <a:lnSpc>
                <a:spcPct val="110000"/>
              </a:lnSpc>
              <a:buNone/>
            </a:pPr>
            <a:r>
              <a:rPr lang="en-US" sz="1250" dirty="0">
                <a:solidFill>
                  <a:srgbClr val="5F6B63"/>
                </a:solidFill>
                <a:latin typeface="Calibri" pitchFamily="34" charset="0"/>
                <a:ea typeface="Calibri" pitchFamily="34" charset="-122"/>
                <a:cs typeface="Calibri" pitchFamily="34" charset="-120"/>
              </a:rPr>
              <a:t>department areas</a:t>
            </a:r>
            <a:endParaRPr lang="en-US" sz="1250" dirty="0"/>
          </a:p>
          <a:p>
            <a:pPr algn="ctr" indent="0" marL="0">
              <a:lnSpc>
                <a:spcPct val="110000"/>
              </a:lnSpc>
              <a:buNone/>
            </a:pPr>
            <a:r>
              <a:rPr lang="en-US" sz="1250" dirty="0">
                <a:solidFill>
                  <a:srgbClr val="5F6B63"/>
                </a:solidFill>
                <a:latin typeface="Calibri" pitchFamily="34" charset="0"/>
                <a:ea typeface="Calibri" pitchFamily="34" charset="-122"/>
                <a:cs typeface="Calibri" pitchFamily="34" charset="-120"/>
              </a:rPr>
              <a:t>touched</a:t>
            </a:r>
            <a:endParaRPr lang="en-US" sz="1250" dirty="0"/>
          </a:p>
        </p:txBody>
      </p:sp>
      <p:sp>
        <p:nvSpPr>
          <p:cNvPr id="12" name="Shape 9"/>
          <p:cNvSpPr/>
          <p:nvPr/>
        </p:nvSpPr>
        <p:spPr>
          <a:xfrm>
            <a:off x="6272784" y="1600200"/>
            <a:ext cx="2606040" cy="2103120"/>
          </a:xfrm>
          <a:prstGeom prst="roundRect">
            <a:avLst>
              <a:gd name="adj" fmla="val 3478"/>
            </a:avLst>
          </a:prstGeom>
          <a:solidFill>
            <a:srgbClr val="E3EFE5"/>
          </a:solidFill>
          <a:ln/>
        </p:spPr>
      </p:sp>
      <p:sp>
        <p:nvSpPr>
          <p:cNvPr id="13" name="Text 10"/>
          <p:cNvSpPr txBox="1"/>
          <p:nvPr/>
        </p:nvSpPr>
        <p:spPr>
          <a:xfrm>
            <a:off x="6272784" y="1783080"/>
            <a:ext cx="2606040" cy="914400"/>
          </a:xfrm>
          <a:prstGeom prst="rect">
            <a:avLst/>
          </a:prstGeom>
          <a:noFill/>
          <a:ln/>
        </p:spPr>
        <p:txBody>
          <a:bodyPr wrap="square" lIns="0" tIns="0" rIns="0" bIns="0" rtlCol="0" anchor="ctr"/>
          <a:lstStyle/>
          <a:p>
            <a:pPr algn="ctr" indent="0" marL="0">
              <a:buNone/>
            </a:pPr>
            <a:r>
              <a:rPr lang="en-US" sz="5400" b="1" dirty="0">
                <a:solidFill>
                  <a:srgbClr val="1C5C34"/>
                </a:solidFill>
                <a:latin typeface="Cambria" pitchFamily="34" charset="0"/>
                <a:ea typeface="Cambria" pitchFamily="34" charset="-122"/>
                <a:cs typeface="Cambria" pitchFamily="34" charset="-120"/>
              </a:rPr>
              <a:t>3</a:t>
            </a:r>
            <a:endParaRPr lang="en-US" sz="5400" dirty="0"/>
          </a:p>
        </p:txBody>
      </p:sp>
      <p:sp>
        <p:nvSpPr>
          <p:cNvPr id="14" name="Text 11"/>
          <p:cNvSpPr txBox="1"/>
          <p:nvPr/>
        </p:nvSpPr>
        <p:spPr>
          <a:xfrm>
            <a:off x="6409944" y="2788920"/>
            <a:ext cx="2331720" cy="777240"/>
          </a:xfrm>
          <a:prstGeom prst="rect">
            <a:avLst/>
          </a:prstGeom>
          <a:noFill/>
          <a:ln/>
        </p:spPr>
        <p:txBody>
          <a:bodyPr wrap="square" lIns="0" tIns="0" rIns="0" bIns="0" rtlCol="0" anchor="ctr"/>
          <a:lstStyle/>
          <a:p>
            <a:pPr algn="ctr" indent="0" marL="0">
              <a:lnSpc>
                <a:spcPct val="110000"/>
              </a:lnSpc>
              <a:buNone/>
            </a:pPr>
            <a:r>
              <a:rPr lang="en-US" sz="1250" dirty="0">
                <a:solidFill>
                  <a:srgbClr val="5F6B63"/>
                </a:solidFill>
                <a:latin typeface="Calibri" pitchFamily="34" charset="0"/>
                <a:ea typeface="Calibri" pitchFamily="34" charset="-122"/>
                <a:cs typeface="Calibri" pitchFamily="34" charset="-120"/>
              </a:rPr>
              <a:t>brand-new tools</a:t>
            </a:r>
            <a:endParaRPr lang="en-US" sz="1250" dirty="0"/>
          </a:p>
          <a:p>
            <a:pPr algn="ctr" indent="0" marL="0">
              <a:lnSpc>
                <a:spcPct val="110000"/>
              </a:lnSpc>
              <a:buNone/>
            </a:pPr>
            <a:r>
              <a:rPr lang="en-US" sz="1250" dirty="0">
                <a:solidFill>
                  <a:srgbClr val="5F6B63"/>
                </a:solidFill>
                <a:latin typeface="Calibri" pitchFamily="34" charset="0"/>
                <a:ea typeface="Calibri" pitchFamily="34" charset="-122"/>
                <a:cs typeface="Calibri" pitchFamily="34" charset="-120"/>
              </a:rPr>
              <a:t>(estimates, shop, scheduler)</a:t>
            </a:r>
            <a:endParaRPr lang="en-US" sz="1250" dirty="0"/>
          </a:p>
        </p:txBody>
      </p:sp>
      <p:sp>
        <p:nvSpPr>
          <p:cNvPr id="15" name="Shape 12"/>
          <p:cNvSpPr/>
          <p:nvPr/>
        </p:nvSpPr>
        <p:spPr>
          <a:xfrm>
            <a:off x="9134856" y="1600200"/>
            <a:ext cx="2606040" cy="2103120"/>
          </a:xfrm>
          <a:prstGeom prst="roundRect">
            <a:avLst>
              <a:gd name="adj" fmla="val 3478"/>
            </a:avLst>
          </a:prstGeom>
          <a:solidFill>
            <a:srgbClr val="1C5C34"/>
          </a:solidFill>
          <a:ln/>
        </p:spPr>
      </p:sp>
      <p:sp>
        <p:nvSpPr>
          <p:cNvPr id="16" name="Text 13"/>
          <p:cNvSpPr txBox="1"/>
          <p:nvPr/>
        </p:nvSpPr>
        <p:spPr>
          <a:xfrm>
            <a:off x="9134856" y="1783080"/>
            <a:ext cx="2606040" cy="91440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1</a:t>
            </a:r>
            <a:endParaRPr lang="en-US" sz="5400" dirty="0"/>
          </a:p>
        </p:txBody>
      </p:sp>
      <p:sp>
        <p:nvSpPr>
          <p:cNvPr id="17" name="Text 14"/>
          <p:cNvSpPr txBox="1"/>
          <p:nvPr/>
        </p:nvSpPr>
        <p:spPr>
          <a:xfrm>
            <a:off x="9272016" y="2788920"/>
            <a:ext cx="2331720" cy="777240"/>
          </a:xfrm>
          <a:prstGeom prst="rect">
            <a:avLst/>
          </a:prstGeom>
          <a:noFill/>
          <a:ln/>
        </p:spPr>
        <p:txBody>
          <a:bodyPr wrap="square" lIns="0" tIns="0" rIns="0" bIns="0" rtlCol="0" anchor="ctr"/>
          <a:lstStyle/>
          <a:p>
            <a:pPr algn="ctr" indent="0" marL="0">
              <a:lnSpc>
                <a:spcPct val="110000"/>
              </a:lnSpc>
              <a:buNone/>
            </a:pPr>
            <a:r>
              <a:rPr lang="en-US" sz="1250" dirty="0">
                <a:solidFill>
                  <a:srgbClr val="D9E8DD"/>
                </a:solidFill>
                <a:latin typeface="Calibri" pitchFamily="34" charset="0"/>
                <a:ea typeface="Calibri" pitchFamily="34" charset="-122"/>
                <a:cs typeface="Calibri" pitchFamily="34" charset="-120"/>
              </a:rPr>
              <a:t>principle everywhere:</a:t>
            </a:r>
            <a:endParaRPr lang="en-US" sz="1250" dirty="0"/>
          </a:p>
          <a:p>
            <a:pPr algn="ctr" indent="0" marL="0">
              <a:lnSpc>
                <a:spcPct val="110000"/>
              </a:lnSpc>
              <a:buNone/>
            </a:pPr>
            <a:r>
              <a:rPr lang="en-US" sz="1250" dirty="0">
                <a:solidFill>
                  <a:srgbClr val="D9E8DD"/>
                </a:solidFill>
                <a:latin typeface="Calibri" pitchFamily="34" charset="0"/>
                <a:ea typeface="Calibri" pitchFamily="34" charset="-122"/>
                <a:cs typeface="Calibri" pitchFamily="34" charset="-120"/>
              </a:rPr>
              <a:t>nothing sends without a click</a:t>
            </a:r>
            <a:endParaRPr lang="en-US" sz="1250" dirty="0"/>
          </a:p>
        </p:txBody>
      </p:sp>
      <p:sp>
        <p:nvSpPr>
          <p:cNvPr id="18" name="Text 15"/>
          <p:cNvSpPr txBox="1"/>
          <p:nvPr/>
        </p:nvSpPr>
        <p:spPr>
          <a:xfrm>
            <a:off x="548640" y="4114800"/>
            <a:ext cx="10972800" cy="3200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Where the work landed</a:t>
            </a:r>
            <a:endParaRPr lang="en-US" sz="1400" dirty="0"/>
          </a:p>
        </p:txBody>
      </p:sp>
      <p:sp>
        <p:nvSpPr>
          <p:cNvPr id="19" name="Shape 16"/>
          <p:cNvSpPr/>
          <p:nvPr/>
        </p:nvSpPr>
        <p:spPr>
          <a:xfrm>
            <a:off x="548640" y="4572000"/>
            <a:ext cx="402336" cy="402336"/>
          </a:xfrm>
          <a:prstGeom prst="ellipse">
            <a:avLst/>
          </a:prstGeom>
          <a:solidFill>
            <a:srgbClr val="1C5C34"/>
          </a:solidFill>
          <a:ln/>
        </p:spPr>
      </p:sp>
      <p:pic>
        <p:nvPicPr>
          <p:cNvPr id="20" name="Image 1" descr="/tmp/deck/icons/FiCreditCard-white.png">    </p:cNvPr>
          <p:cNvPicPr>
            <a:picLocks noChangeAspect="1"/>
          </p:cNvPicPr>
          <p:nvPr/>
        </p:nvPicPr>
        <p:blipFill>
          <a:blip r:embed="rId2"/>
          <a:stretch>
            <a:fillRect/>
          </a:stretch>
        </p:blipFill>
        <p:spPr>
          <a:xfrm>
            <a:off x="653247" y="4676607"/>
            <a:ext cx="193121" cy="193121"/>
          </a:xfrm>
          <a:prstGeom prst="rect">
            <a:avLst/>
          </a:prstGeom>
        </p:spPr>
      </p:pic>
      <p:sp>
        <p:nvSpPr>
          <p:cNvPr id="21" name="Text 17"/>
          <p:cNvSpPr txBox="1"/>
          <p:nvPr/>
        </p:nvSpPr>
        <p:spPr>
          <a:xfrm>
            <a:off x="1097280" y="4590288"/>
            <a:ext cx="3200400" cy="36576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Payments &amp; receipts</a:t>
            </a:r>
            <a:endParaRPr lang="en-US" sz="1400" dirty="0"/>
          </a:p>
        </p:txBody>
      </p:sp>
      <p:sp>
        <p:nvSpPr>
          <p:cNvPr id="22" name="Shape 18"/>
          <p:cNvSpPr/>
          <p:nvPr/>
        </p:nvSpPr>
        <p:spPr>
          <a:xfrm>
            <a:off x="4434840" y="4572000"/>
            <a:ext cx="402336" cy="402336"/>
          </a:xfrm>
          <a:prstGeom prst="ellipse">
            <a:avLst/>
          </a:prstGeom>
          <a:solidFill>
            <a:srgbClr val="1C5C34"/>
          </a:solidFill>
          <a:ln/>
        </p:spPr>
      </p:sp>
      <p:pic>
        <p:nvPicPr>
          <p:cNvPr id="23" name="Image 2" descr="/tmp/deck/icons/FiClipboard-white.png">    </p:cNvPr>
          <p:cNvPicPr>
            <a:picLocks noChangeAspect="1"/>
          </p:cNvPicPr>
          <p:nvPr/>
        </p:nvPicPr>
        <p:blipFill>
          <a:blip r:embed="rId3"/>
          <a:stretch>
            <a:fillRect/>
          </a:stretch>
        </p:blipFill>
        <p:spPr>
          <a:xfrm>
            <a:off x="4539447" y="4676607"/>
            <a:ext cx="193121" cy="193121"/>
          </a:xfrm>
          <a:prstGeom prst="rect">
            <a:avLst/>
          </a:prstGeom>
        </p:spPr>
      </p:pic>
      <p:sp>
        <p:nvSpPr>
          <p:cNvPr id="24" name="Text 19"/>
          <p:cNvSpPr txBox="1"/>
          <p:nvPr/>
        </p:nvSpPr>
        <p:spPr>
          <a:xfrm>
            <a:off x="4983480" y="4590288"/>
            <a:ext cx="3200400" cy="36576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Service estimates</a:t>
            </a:r>
            <a:endParaRPr lang="en-US" sz="1400" dirty="0"/>
          </a:p>
        </p:txBody>
      </p:sp>
      <p:sp>
        <p:nvSpPr>
          <p:cNvPr id="25" name="Shape 20"/>
          <p:cNvSpPr/>
          <p:nvPr/>
        </p:nvSpPr>
        <p:spPr>
          <a:xfrm>
            <a:off x="8321040" y="4572000"/>
            <a:ext cx="402336" cy="402336"/>
          </a:xfrm>
          <a:prstGeom prst="ellipse">
            <a:avLst/>
          </a:prstGeom>
          <a:solidFill>
            <a:srgbClr val="1C5C34"/>
          </a:solidFill>
          <a:ln/>
        </p:spPr>
      </p:sp>
      <p:pic>
        <p:nvPicPr>
          <p:cNvPr id="26" name="Image 3" descr="/tmp/deck/icons/FiHome-white.png">    </p:cNvPr>
          <p:cNvPicPr>
            <a:picLocks noChangeAspect="1"/>
          </p:cNvPicPr>
          <p:nvPr/>
        </p:nvPicPr>
        <p:blipFill>
          <a:blip r:embed="rId4"/>
          <a:stretch>
            <a:fillRect/>
          </a:stretch>
        </p:blipFill>
        <p:spPr>
          <a:xfrm>
            <a:off x="8425647" y="4676607"/>
            <a:ext cx="193121" cy="193121"/>
          </a:xfrm>
          <a:prstGeom prst="rect">
            <a:avLst/>
          </a:prstGeom>
        </p:spPr>
      </p:pic>
      <p:sp>
        <p:nvSpPr>
          <p:cNvPr id="27" name="Text 21"/>
          <p:cNvSpPr txBox="1"/>
          <p:nvPr/>
        </p:nvSpPr>
        <p:spPr>
          <a:xfrm>
            <a:off x="8869680" y="4590288"/>
            <a:ext cx="3200400" cy="36576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Sub-Zero showroom</a:t>
            </a:r>
            <a:endParaRPr lang="en-US" sz="1400" dirty="0"/>
          </a:p>
        </p:txBody>
      </p:sp>
      <p:sp>
        <p:nvSpPr>
          <p:cNvPr id="28" name="Shape 22"/>
          <p:cNvSpPr/>
          <p:nvPr/>
        </p:nvSpPr>
        <p:spPr>
          <a:xfrm>
            <a:off x="548640" y="5230368"/>
            <a:ext cx="402336" cy="402336"/>
          </a:xfrm>
          <a:prstGeom prst="ellipse">
            <a:avLst/>
          </a:prstGeom>
          <a:solidFill>
            <a:srgbClr val="1C5C34"/>
          </a:solidFill>
          <a:ln/>
        </p:spPr>
      </p:sp>
      <p:pic>
        <p:nvPicPr>
          <p:cNvPr id="29" name="Image 4" descr="/tmp/deck/icons/FiShoppingCart-white.png">    </p:cNvPr>
          <p:cNvPicPr>
            <a:picLocks noChangeAspect="1"/>
          </p:cNvPicPr>
          <p:nvPr/>
        </p:nvPicPr>
        <p:blipFill>
          <a:blip r:embed="rId5"/>
          <a:stretch>
            <a:fillRect/>
          </a:stretch>
        </p:blipFill>
        <p:spPr>
          <a:xfrm>
            <a:off x="653247" y="5334975"/>
            <a:ext cx="193121" cy="193121"/>
          </a:xfrm>
          <a:prstGeom prst="rect">
            <a:avLst/>
          </a:prstGeom>
        </p:spPr>
      </p:pic>
      <p:sp>
        <p:nvSpPr>
          <p:cNvPr id="30" name="Text 23"/>
          <p:cNvSpPr txBox="1"/>
          <p:nvPr/>
        </p:nvSpPr>
        <p:spPr>
          <a:xfrm>
            <a:off x="1097280" y="5248656"/>
            <a:ext cx="3200400" cy="36576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Online clearance shop</a:t>
            </a:r>
            <a:endParaRPr lang="en-US" sz="1400" dirty="0"/>
          </a:p>
        </p:txBody>
      </p:sp>
      <p:sp>
        <p:nvSpPr>
          <p:cNvPr id="31" name="Shape 24"/>
          <p:cNvSpPr/>
          <p:nvPr/>
        </p:nvSpPr>
        <p:spPr>
          <a:xfrm>
            <a:off x="4434840" y="5230368"/>
            <a:ext cx="402336" cy="402336"/>
          </a:xfrm>
          <a:prstGeom prst="ellipse">
            <a:avLst/>
          </a:prstGeom>
          <a:solidFill>
            <a:srgbClr val="1C5C34"/>
          </a:solidFill>
          <a:ln/>
        </p:spPr>
      </p:sp>
      <p:pic>
        <p:nvPicPr>
          <p:cNvPr id="32" name="Image 5" descr="/tmp/deck/icons/FiPercent-white.png">    </p:cNvPr>
          <p:cNvPicPr>
            <a:picLocks noChangeAspect="1"/>
          </p:cNvPicPr>
          <p:nvPr/>
        </p:nvPicPr>
        <p:blipFill>
          <a:blip r:embed="rId6"/>
          <a:stretch>
            <a:fillRect/>
          </a:stretch>
        </p:blipFill>
        <p:spPr>
          <a:xfrm>
            <a:off x="4539447" y="5334975"/>
            <a:ext cx="193121" cy="193121"/>
          </a:xfrm>
          <a:prstGeom prst="rect">
            <a:avLst/>
          </a:prstGeom>
        </p:spPr>
      </p:pic>
      <p:sp>
        <p:nvSpPr>
          <p:cNvPr id="33" name="Text 25"/>
          <p:cNvSpPr txBox="1"/>
          <p:nvPr/>
        </p:nvSpPr>
        <p:spPr>
          <a:xfrm>
            <a:off x="4983480" y="5248656"/>
            <a:ext cx="3200400" cy="36576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Commissions</a:t>
            </a:r>
            <a:endParaRPr lang="en-US" sz="1400" dirty="0"/>
          </a:p>
        </p:txBody>
      </p:sp>
      <p:sp>
        <p:nvSpPr>
          <p:cNvPr id="34" name="Shape 26"/>
          <p:cNvSpPr/>
          <p:nvPr/>
        </p:nvSpPr>
        <p:spPr>
          <a:xfrm>
            <a:off x="8321040" y="5230368"/>
            <a:ext cx="402336" cy="402336"/>
          </a:xfrm>
          <a:prstGeom prst="ellipse">
            <a:avLst/>
          </a:prstGeom>
          <a:solidFill>
            <a:srgbClr val="1C5C34"/>
          </a:solidFill>
          <a:ln/>
        </p:spPr>
      </p:sp>
      <p:pic>
        <p:nvPicPr>
          <p:cNvPr id="35" name="Image 6" descr="/tmp/deck/icons/FiTruck-white.png">    </p:cNvPr>
          <p:cNvPicPr>
            <a:picLocks noChangeAspect="1"/>
          </p:cNvPicPr>
          <p:nvPr/>
        </p:nvPicPr>
        <p:blipFill>
          <a:blip r:embed="rId7"/>
          <a:stretch>
            <a:fillRect/>
          </a:stretch>
        </p:blipFill>
        <p:spPr>
          <a:xfrm>
            <a:off x="8425647" y="5334975"/>
            <a:ext cx="193121" cy="193121"/>
          </a:xfrm>
          <a:prstGeom prst="rect">
            <a:avLst/>
          </a:prstGeom>
        </p:spPr>
      </p:pic>
      <p:sp>
        <p:nvSpPr>
          <p:cNvPr id="36" name="Text 27"/>
          <p:cNvSpPr txBox="1"/>
          <p:nvPr/>
        </p:nvSpPr>
        <p:spPr>
          <a:xfrm>
            <a:off x="8869680" y="5248656"/>
            <a:ext cx="3200400" cy="36576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Operations &amp; visibility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566928" cy="566928"/>
          </a:xfrm>
          <a:prstGeom prst="ellipse">
            <a:avLst/>
          </a:prstGeom>
          <a:solidFill>
            <a:srgbClr val="1C5C34"/>
          </a:solidFill>
          <a:ln/>
        </p:spPr>
      </p:sp>
      <p:pic>
        <p:nvPicPr>
          <p:cNvPr id="3" name="Image 0" descr="/tmp/deck/icons/FiCreditCard-white.png">    </p:cNvPr>
          <p:cNvPicPr>
            <a:picLocks noChangeAspect="1"/>
          </p:cNvPicPr>
          <p:nvPr/>
        </p:nvPicPr>
        <p:blipFill>
          <a:blip r:embed="rId1"/>
          <a:stretch>
            <a:fillRect/>
          </a:stretch>
        </p:blipFill>
        <p:spPr>
          <a:xfrm>
            <a:off x="696041" y="622889"/>
            <a:ext cx="272125" cy="272125"/>
          </a:xfrm>
          <a:prstGeom prst="rect">
            <a:avLst/>
          </a:prstGeom>
        </p:spPr>
      </p:pic>
      <p:sp>
        <p:nvSpPr>
          <p:cNvPr id="4" name="Text 1"/>
          <p:cNvSpPr txBox="1"/>
          <p:nvPr/>
        </p:nvSpPr>
        <p:spPr>
          <a:xfrm>
            <a:off x="1298448" y="384048"/>
            <a:ext cx="9601200" cy="274320"/>
          </a:xfrm>
          <a:prstGeom prst="rect">
            <a:avLst/>
          </a:prstGeom>
          <a:noFill/>
          <a:ln/>
        </p:spPr>
        <p:txBody>
          <a:bodyPr wrap="square" lIns="0" tIns="0" rIns="0" bIns="0" rtlCol="0" anchor="ctr"/>
          <a:lstStyle/>
          <a:p>
            <a:pPr indent="0" marL="0">
              <a:buNone/>
            </a:pPr>
            <a:r>
              <a:rPr lang="en-US" sz="1200" b="1" spc="300" kern="0" dirty="0">
                <a:solidFill>
                  <a:srgbClr val="1C5C34"/>
                </a:solidFill>
                <a:latin typeface="Calibri" pitchFamily="34" charset="0"/>
                <a:ea typeface="Calibri" pitchFamily="34" charset="-122"/>
                <a:cs typeface="Calibri" pitchFamily="34" charset="-120"/>
              </a:rPr>
              <a:t>PAYMENTS &amp; RECEIPTS</a:t>
            </a:r>
            <a:endParaRPr lang="en-US" sz="1200" dirty="0"/>
          </a:p>
        </p:txBody>
      </p:sp>
      <p:sp>
        <p:nvSpPr>
          <p:cNvPr id="5" name="Text 2"/>
          <p:cNvSpPr txBox="1"/>
          <p:nvPr/>
        </p:nvSpPr>
        <p:spPr>
          <a:xfrm>
            <a:off x="1298448" y="621792"/>
            <a:ext cx="10241280" cy="566928"/>
          </a:xfrm>
          <a:prstGeom prst="rect">
            <a:avLst/>
          </a:prstGeom>
          <a:noFill/>
          <a:ln/>
        </p:spPr>
        <p:txBody>
          <a:bodyPr wrap="square" lIns="0" tIns="0" rIns="0" bIns="0" rtlCol="0" anchor="ctr"/>
          <a:lstStyle/>
          <a:p>
            <a:pPr indent="0" marL="0">
              <a:buNone/>
            </a:pPr>
            <a:r>
              <a:rPr lang="en-US" sz="3100" b="1" dirty="0">
                <a:solidFill>
                  <a:srgbClr val="1F2937"/>
                </a:solidFill>
                <a:latin typeface="Cambria" pitchFamily="34" charset="0"/>
                <a:ea typeface="Cambria" pitchFamily="34" charset="-122"/>
                <a:cs typeface="Cambria" pitchFamily="34" charset="-120"/>
              </a:rPr>
              <a:t>Getting paid — and proving it — got faster.</a:t>
            </a:r>
            <a:endParaRPr lang="en-US" sz="3100" dirty="0"/>
          </a:p>
        </p:txBody>
      </p:sp>
      <p:sp>
        <p:nvSpPr>
          <p:cNvPr id="6" name="Shape 3"/>
          <p:cNvSpPr/>
          <p:nvPr/>
        </p:nvSpPr>
        <p:spPr>
          <a:xfrm>
            <a:off x="566928" y="1581912"/>
            <a:ext cx="384048" cy="384048"/>
          </a:xfrm>
          <a:prstGeom prst="ellipse">
            <a:avLst/>
          </a:prstGeom>
          <a:solidFill>
            <a:srgbClr val="E3EFE5"/>
          </a:solidFill>
          <a:ln/>
        </p:spPr>
      </p:sp>
      <p:pic>
        <p:nvPicPr>
          <p:cNvPr id="7" name="Image 1" descr="/tmp/deck/icons/FiSmartphone-green.png">    </p:cNvPr>
          <p:cNvPicPr>
            <a:picLocks noChangeAspect="1"/>
          </p:cNvPicPr>
          <p:nvPr/>
        </p:nvPicPr>
        <p:blipFill>
          <a:blip r:embed="rId2"/>
          <a:stretch>
            <a:fillRect/>
          </a:stretch>
        </p:blipFill>
        <p:spPr>
          <a:xfrm>
            <a:off x="666780" y="1681764"/>
            <a:ext cx="184343" cy="184343"/>
          </a:xfrm>
          <a:prstGeom prst="rect">
            <a:avLst/>
          </a:prstGeom>
        </p:spPr>
      </p:pic>
      <p:sp>
        <p:nvSpPr>
          <p:cNvPr id="8" name="Text 4"/>
          <p:cNvSpPr txBox="1"/>
          <p:nvPr/>
        </p:nvSpPr>
        <p:spPr>
          <a:xfrm>
            <a:off x="1115568" y="1554480"/>
            <a:ext cx="498348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Text or email the pay link.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One click sends it from the showroom number or the sender's email — copy/paste is now the fallback, not the default.</a:t>
            </a:r>
            <a:endParaRPr lang="en-US" sz="1300" dirty="0"/>
          </a:p>
        </p:txBody>
      </p:sp>
      <p:sp>
        <p:nvSpPr>
          <p:cNvPr id="9" name="Shape 5"/>
          <p:cNvSpPr/>
          <p:nvPr/>
        </p:nvSpPr>
        <p:spPr>
          <a:xfrm>
            <a:off x="566928" y="2331720"/>
            <a:ext cx="384048" cy="384048"/>
          </a:xfrm>
          <a:prstGeom prst="ellipse">
            <a:avLst/>
          </a:prstGeom>
          <a:solidFill>
            <a:srgbClr val="E3EFE5"/>
          </a:solidFill>
          <a:ln/>
        </p:spPr>
      </p:sp>
      <p:pic>
        <p:nvPicPr>
          <p:cNvPr id="10" name="Image 2" descr="/tmp/deck/icons/FiBell-green.png">    </p:cNvPr>
          <p:cNvPicPr>
            <a:picLocks noChangeAspect="1"/>
          </p:cNvPicPr>
          <p:nvPr/>
        </p:nvPicPr>
        <p:blipFill>
          <a:blip r:embed="rId3"/>
          <a:stretch>
            <a:fillRect/>
          </a:stretch>
        </p:blipFill>
        <p:spPr>
          <a:xfrm>
            <a:off x="666780" y="2431572"/>
            <a:ext cx="184343" cy="184343"/>
          </a:xfrm>
          <a:prstGeom prst="rect">
            <a:avLst/>
          </a:prstGeom>
        </p:spPr>
      </p:pic>
      <p:sp>
        <p:nvSpPr>
          <p:cNvPr id="11" name="Text 6"/>
          <p:cNvSpPr txBox="1"/>
          <p:nvPr/>
        </p:nvSpPr>
        <p:spPr>
          <a:xfrm>
            <a:off x="1115568" y="2304288"/>
            <a:ext cx="498348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Reminder versions built in.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A second, politely-worded nudge for links and estimates that sit unpaid — separate wording, one click.</a:t>
            </a:r>
            <a:endParaRPr lang="en-US" sz="1300" dirty="0"/>
          </a:p>
        </p:txBody>
      </p:sp>
      <p:sp>
        <p:nvSpPr>
          <p:cNvPr id="12" name="Shape 7"/>
          <p:cNvSpPr/>
          <p:nvPr/>
        </p:nvSpPr>
        <p:spPr>
          <a:xfrm>
            <a:off x="566928" y="3081528"/>
            <a:ext cx="384048" cy="384048"/>
          </a:xfrm>
          <a:prstGeom prst="ellipse">
            <a:avLst/>
          </a:prstGeom>
          <a:solidFill>
            <a:srgbClr val="E3EFE5"/>
          </a:solidFill>
          <a:ln/>
        </p:spPr>
      </p:sp>
      <p:pic>
        <p:nvPicPr>
          <p:cNvPr id="13" name="Image 3" descr="/tmp/deck/icons/FiFileText-green.png">    </p:cNvPr>
          <p:cNvPicPr>
            <a:picLocks noChangeAspect="1"/>
          </p:cNvPicPr>
          <p:nvPr/>
        </p:nvPicPr>
        <p:blipFill>
          <a:blip r:embed="rId4"/>
          <a:stretch>
            <a:fillRect/>
          </a:stretch>
        </p:blipFill>
        <p:spPr>
          <a:xfrm>
            <a:off x="666780" y="3181380"/>
            <a:ext cx="184343" cy="184343"/>
          </a:xfrm>
          <a:prstGeom prst="rect">
            <a:avLst/>
          </a:prstGeom>
        </p:spPr>
      </p:pic>
      <p:sp>
        <p:nvSpPr>
          <p:cNvPr id="14" name="Text 8"/>
          <p:cNvSpPr txBox="1"/>
          <p:nvPr/>
        </p:nvSpPr>
        <p:spPr>
          <a:xfrm>
            <a:off x="1115568" y="3054096"/>
            <a:ext cx="498348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Receipts by text.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Paid orders can text the client a receipt with a live PDF link — always current, refunds stamped automatically.</a:t>
            </a:r>
            <a:endParaRPr lang="en-US" sz="1300" dirty="0"/>
          </a:p>
        </p:txBody>
      </p:sp>
      <p:sp>
        <p:nvSpPr>
          <p:cNvPr id="15" name="Shape 9"/>
          <p:cNvSpPr/>
          <p:nvPr/>
        </p:nvSpPr>
        <p:spPr>
          <a:xfrm>
            <a:off x="566928" y="3831336"/>
            <a:ext cx="384048" cy="384048"/>
          </a:xfrm>
          <a:prstGeom prst="ellipse">
            <a:avLst/>
          </a:prstGeom>
          <a:solidFill>
            <a:srgbClr val="E3EFE5"/>
          </a:solidFill>
          <a:ln/>
        </p:spPr>
      </p:sp>
      <p:pic>
        <p:nvPicPr>
          <p:cNvPr id="16" name="Image 4" descr="/tmp/deck/icons/FiRotateCcw-green.png">    </p:cNvPr>
          <p:cNvPicPr>
            <a:picLocks noChangeAspect="1"/>
          </p:cNvPicPr>
          <p:nvPr/>
        </p:nvPicPr>
        <p:blipFill>
          <a:blip r:embed="rId5"/>
          <a:stretch>
            <a:fillRect/>
          </a:stretch>
        </p:blipFill>
        <p:spPr>
          <a:xfrm>
            <a:off x="666780" y="3931188"/>
            <a:ext cx="184343" cy="184343"/>
          </a:xfrm>
          <a:prstGeom prst="rect">
            <a:avLst/>
          </a:prstGeom>
        </p:spPr>
      </p:pic>
      <p:sp>
        <p:nvSpPr>
          <p:cNvPr id="17" name="Text 10"/>
          <p:cNvSpPr txBox="1"/>
          <p:nvPr/>
        </p:nvSpPr>
        <p:spPr>
          <a:xfrm>
            <a:off x="1115568" y="3803904"/>
            <a:ext cx="498348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Refunds in Paid History.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Refunds now show alongside payments with their own receipts (PDF + email), and View Summary shows true net revenue for the day.</a:t>
            </a:r>
            <a:endParaRPr lang="en-US" sz="1300" dirty="0"/>
          </a:p>
        </p:txBody>
      </p:sp>
      <p:sp>
        <p:nvSpPr>
          <p:cNvPr id="18" name="Shape 11"/>
          <p:cNvSpPr/>
          <p:nvPr/>
        </p:nvSpPr>
        <p:spPr>
          <a:xfrm>
            <a:off x="6446520" y="1581912"/>
            <a:ext cx="384048" cy="384048"/>
          </a:xfrm>
          <a:prstGeom prst="ellipse">
            <a:avLst/>
          </a:prstGeom>
          <a:solidFill>
            <a:srgbClr val="E3EFE5"/>
          </a:solidFill>
          <a:ln/>
        </p:spPr>
      </p:sp>
      <p:pic>
        <p:nvPicPr>
          <p:cNvPr id="19" name="Image 5" descr="/tmp/deck/icons/FiMessageSquare-green.png">    </p:cNvPr>
          <p:cNvPicPr>
            <a:picLocks noChangeAspect="1"/>
          </p:cNvPicPr>
          <p:nvPr/>
        </p:nvPicPr>
        <p:blipFill>
          <a:blip r:embed="rId6"/>
          <a:stretch>
            <a:fillRect/>
          </a:stretch>
        </p:blipFill>
        <p:spPr>
          <a:xfrm>
            <a:off x="6546372" y="1681764"/>
            <a:ext cx="184343" cy="184343"/>
          </a:xfrm>
          <a:prstGeom prst="rect">
            <a:avLst/>
          </a:prstGeom>
        </p:spPr>
      </p:pic>
      <p:sp>
        <p:nvSpPr>
          <p:cNvPr id="20" name="Text 12"/>
          <p:cNvSpPr txBox="1"/>
          <p:nvPr/>
        </p:nvSpPr>
        <p:spPr>
          <a:xfrm>
            <a:off x="6995160" y="1554480"/>
            <a:ext cx="466344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Podium knows about every payment.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When a client pays, an internal note lands on their text thread — name, amount, order, method. Once, ever.</a:t>
            </a:r>
            <a:endParaRPr lang="en-US" sz="1300" dirty="0"/>
          </a:p>
        </p:txBody>
      </p:sp>
      <p:sp>
        <p:nvSpPr>
          <p:cNvPr id="21" name="Shape 13"/>
          <p:cNvSpPr/>
          <p:nvPr/>
        </p:nvSpPr>
        <p:spPr>
          <a:xfrm>
            <a:off x="6446520" y="2331720"/>
            <a:ext cx="384048" cy="384048"/>
          </a:xfrm>
          <a:prstGeom prst="ellipse">
            <a:avLst/>
          </a:prstGeom>
          <a:solidFill>
            <a:srgbClr val="E3EFE5"/>
          </a:solidFill>
          <a:ln/>
        </p:spPr>
      </p:sp>
      <p:pic>
        <p:nvPicPr>
          <p:cNvPr id="22" name="Image 6" descr="/tmp/deck/icons/FiCheckCircle-green.png">    </p:cNvPr>
          <p:cNvPicPr>
            <a:picLocks noChangeAspect="1"/>
          </p:cNvPicPr>
          <p:nvPr/>
        </p:nvPicPr>
        <p:blipFill>
          <a:blip r:embed="rId7"/>
          <a:stretch>
            <a:fillRect/>
          </a:stretch>
        </p:blipFill>
        <p:spPr>
          <a:xfrm>
            <a:off x="6546372" y="2431572"/>
            <a:ext cx="184343" cy="184343"/>
          </a:xfrm>
          <a:prstGeom prst="rect">
            <a:avLst/>
          </a:prstGeom>
        </p:spPr>
      </p:pic>
      <p:sp>
        <p:nvSpPr>
          <p:cNvPr id="23" name="Text 14"/>
          <p:cNvSpPr txBox="1"/>
          <p:nvPr/>
        </p:nvSpPr>
        <p:spPr>
          <a:xfrm>
            <a:off x="6995160" y="2304288"/>
            <a:ext cx="466344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Saved cards get reused.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Card capture recognizes a returning client and offers their card on file instead of asking again.</a:t>
            </a:r>
            <a:endParaRPr lang="en-US" sz="1300" dirty="0"/>
          </a:p>
        </p:txBody>
      </p:sp>
      <p:sp>
        <p:nvSpPr>
          <p:cNvPr id="24" name="Shape 15"/>
          <p:cNvSpPr/>
          <p:nvPr/>
        </p:nvSpPr>
        <p:spPr>
          <a:xfrm>
            <a:off x="6446520" y="3081528"/>
            <a:ext cx="384048" cy="384048"/>
          </a:xfrm>
          <a:prstGeom prst="ellipse">
            <a:avLst/>
          </a:prstGeom>
          <a:solidFill>
            <a:srgbClr val="E3EFE5"/>
          </a:solidFill>
          <a:ln/>
        </p:spPr>
      </p:sp>
      <p:pic>
        <p:nvPicPr>
          <p:cNvPr id="25" name="Image 7" descr="/tmp/deck/icons/FiTag-green.png">    </p:cNvPr>
          <p:cNvPicPr>
            <a:picLocks noChangeAspect="1"/>
          </p:cNvPicPr>
          <p:nvPr/>
        </p:nvPicPr>
        <p:blipFill>
          <a:blip r:embed="rId8"/>
          <a:stretch>
            <a:fillRect/>
          </a:stretch>
        </p:blipFill>
        <p:spPr>
          <a:xfrm>
            <a:off x="6546372" y="3181380"/>
            <a:ext cx="184343" cy="184343"/>
          </a:xfrm>
          <a:prstGeom prst="rect">
            <a:avLst/>
          </a:prstGeom>
        </p:spPr>
      </p:pic>
      <p:sp>
        <p:nvSpPr>
          <p:cNvPr id="26" name="Text 16"/>
          <p:cNvSpPr txBox="1"/>
          <p:nvPr/>
        </p:nvSpPr>
        <p:spPr>
          <a:xfrm>
            <a:off x="6995160" y="3054096"/>
            <a:ext cx="466344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Tidier descriptions.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Link descriptions cap at 50 characters and clip neatly in Paid History, with the full text on hover.</a:t>
            </a:r>
            <a:endParaRPr lang="en-US" sz="1300" dirty="0"/>
          </a:p>
        </p:txBody>
      </p:sp>
      <p:sp>
        <p:nvSpPr>
          <p:cNvPr id="27" name="Shape 17"/>
          <p:cNvSpPr/>
          <p:nvPr/>
        </p:nvSpPr>
        <p:spPr>
          <a:xfrm>
            <a:off x="6446520" y="3803904"/>
            <a:ext cx="5212080" cy="868680"/>
          </a:xfrm>
          <a:prstGeom prst="roundRect">
            <a:avLst>
              <a:gd name="adj" fmla="val 6316"/>
            </a:avLst>
          </a:prstGeom>
          <a:solidFill>
            <a:srgbClr val="E3EFE5"/>
          </a:solidFill>
          <a:ln/>
        </p:spPr>
      </p:sp>
      <p:sp>
        <p:nvSpPr>
          <p:cNvPr id="28" name="Text 18"/>
          <p:cNvSpPr txBox="1"/>
          <p:nvPr/>
        </p:nvSpPr>
        <p:spPr>
          <a:xfrm>
            <a:off x="6629400" y="3913632"/>
            <a:ext cx="4846320" cy="640080"/>
          </a:xfrm>
          <a:prstGeom prst="rect">
            <a:avLst/>
          </a:prstGeom>
          <a:noFill/>
          <a:ln/>
        </p:spPr>
        <p:txBody>
          <a:bodyPr wrap="square" lIns="0" tIns="0" rIns="0" bIns="0" rtlCol="0" anchor="ctr"/>
          <a:lstStyle/>
          <a:p>
            <a:pPr indent="0" marL="0">
              <a:buNone/>
            </a:pPr>
            <a:r>
              <a:rPr lang="en-US" sz="1300" b="1" dirty="0">
                <a:solidFill>
                  <a:srgbClr val="1C5C34"/>
                </a:solidFill>
                <a:latin typeface="Calibri" pitchFamily="34" charset="0"/>
                <a:ea typeface="Calibri" pitchFamily="34" charset="-122"/>
                <a:cs typeface="Calibri" pitchFamily="34" charset="-120"/>
              </a:rPr>
              <a:t>For your team:  </a:t>
            </a:r>
            <a:pPr indent="0" marL="0">
              <a:buNone/>
            </a:pPr>
            <a:r>
              <a:rPr lang="en-US" sz="1300" dirty="0">
                <a:solidFill>
                  <a:srgbClr val="1F2937"/>
                </a:solidFill>
                <a:latin typeface="Calibri" pitchFamily="34" charset="0"/>
                <a:ea typeface="Calibri" pitchFamily="34" charset="-122"/>
                <a:cs typeface="Calibri" pitchFamily="34" charset="-120"/>
              </a:rPr>
              <a:t>less chasing, cleaner records. Every send and refund is audited with who clicked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566928" cy="566928"/>
          </a:xfrm>
          <a:prstGeom prst="ellipse">
            <a:avLst/>
          </a:prstGeom>
          <a:solidFill>
            <a:srgbClr val="1C5C34"/>
          </a:solidFill>
          <a:ln/>
        </p:spPr>
      </p:sp>
      <p:pic>
        <p:nvPicPr>
          <p:cNvPr id="3" name="Image 0" descr="/tmp/deck/icons/FiClipboard-white.png">    </p:cNvPr>
          <p:cNvPicPr>
            <a:picLocks noChangeAspect="1"/>
          </p:cNvPicPr>
          <p:nvPr/>
        </p:nvPicPr>
        <p:blipFill>
          <a:blip r:embed="rId1"/>
          <a:stretch>
            <a:fillRect/>
          </a:stretch>
        </p:blipFill>
        <p:spPr>
          <a:xfrm>
            <a:off x="696041" y="622889"/>
            <a:ext cx="272125" cy="272125"/>
          </a:xfrm>
          <a:prstGeom prst="rect">
            <a:avLst/>
          </a:prstGeom>
        </p:spPr>
      </p:pic>
      <p:sp>
        <p:nvSpPr>
          <p:cNvPr id="4" name="Text 1"/>
          <p:cNvSpPr txBox="1"/>
          <p:nvPr/>
        </p:nvSpPr>
        <p:spPr>
          <a:xfrm>
            <a:off x="1298448" y="384048"/>
            <a:ext cx="9601200" cy="274320"/>
          </a:xfrm>
          <a:prstGeom prst="rect">
            <a:avLst/>
          </a:prstGeom>
          <a:noFill/>
          <a:ln/>
        </p:spPr>
        <p:txBody>
          <a:bodyPr wrap="square" lIns="0" tIns="0" rIns="0" bIns="0" rtlCol="0" anchor="ctr"/>
          <a:lstStyle/>
          <a:p>
            <a:pPr indent="0" marL="0">
              <a:buNone/>
            </a:pPr>
            <a:r>
              <a:rPr lang="en-US" sz="1200" b="1" spc="300" kern="0" dirty="0">
                <a:solidFill>
                  <a:srgbClr val="1C5C34"/>
                </a:solidFill>
                <a:latin typeface="Calibri" pitchFamily="34" charset="0"/>
                <a:ea typeface="Calibri" pitchFamily="34" charset="-122"/>
                <a:cs typeface="Calibri" pitchFamily="34" charset="-120"/>
              </a:rPr>
              <a:t>SERVICE ESTIMATES — NEW TOOL</a:t>
            </a:r>
            <a:endParaRPr lang="en-US" sz="1200" dirty="0"/>
          </a:p>
        </p:txBody>
      </p:sp>
      <p:sp>
        <p:nvSpPr>
          <p:cNvPr id="5" name="Text 2"/>
          <p:cNvSpPr txBox="1"/>
          <p:nvPr/>
        </p:nvSpPr>
        <p:spPr>
          <a:xfrm>
            <a:off x="1298448" y="621792"/>
            <a:ext cx="10241280" cy="566928"/>
          </a:xfrm>
          <a:prstGeom prst="rect">
            <a:avLst/>
          </a:prstGeom>
          <a:noFill/>
          <a:ln/>
        </p:spPr>
        <p:txBody>
          <a:bodyPr wrap="square" lIns="0" tIns="0" rIns="0" bIns="0" rtlCol="0" anchor="ctr"/>
          <a:lstStyle/>
          <a:p>
            <a:pPr indent="0" marL="0">
              <a:buNone/>
            </a:pPr>
            <a:r>
              <a:rPr lang="en-US" sz="3100" b="1" dirty="0">
                <a:solidFill>
                  <a:srgbClr val="1F2937"/>
                </a:solidFill>
                <a:latin typeface="Cambria" pitchFamily="34" charset="0"/>
                <a:ea typeface="Cambria" pitchFamily="34" charset="-122"/>
                <a:cs typeface="Cambria" pitchFamily="34" charset="-120"/>
              </a:rPr>
              <a:t>From scanned work order to approved repair.</a:t>
            </a:r>
            <a:endParaRPr lang="en-US" sz="3100" dirty="0"/>
          </a:p>
        </p:txBody>
      </p:sp>
      <p:sp>
        <p:nvSpPr>
          <p:cNvPr id="6" name="Shape 3"/>
          <p:cNvSpPr/>
          <p:nvPr/>
        </p:nvSpPr>
        <p:spPr>
          <a:xfrm>
            <a:off x="548640" y="1572768"/>
            <a:ext cx="2121408" cy="1170432"/>
          </a:xfrm>
          <a:prstGeom prst="roundRect">
            <a:avLst>
              <a:gd name="adj" fmla="val 5469"/>
            </a:avLst>
          </a:prstGeom>
          <a:solidFill>
            <a:srgbClr val="E3EFE5"/>
          </a:solidFill>
          <a:ln/>
        </p:spPr>
      </p:sp>
      <p:sp>
        <p:nvSpPr>
          <p:cNvPr id="7" name="Text 4"/>
          <p:cNvSpPr txBox="1"/>
          <p:nvPr/>
        </p:nvSpPr>
        <p:spPr>
          <a:xfrm>
            <a:off x="658368" y="1645920"/>
            <a:ext cx="457200" cy="365760"/>
          </a:xfrm>
          <a:prstGeom prst="rect">
            <a:avLst/>
          </a:prstGeom>
          <a:noFill/>
          <a:ln/>
        </p:spPr>
        <p:txBody>
          <a:bodyPr wrap="square" lIns="0" tIns="0" rIns="0" bIns="0" rtlCol="0" anchor="ctr"/>
          <a:lstStyle/>
          <a:p>
            <a:pPr indent="0" marL="0">
              <a:buNone/>
            </a:pPr>
            <a:r>
              <a:rPr lang="en-US" sz="2000" b="1" dirty="0">
                <a:solidFill>
                  <a:srgbClr val="1C5C34"/>
                </a:solidFill>
                <a:latin typeface="Cambria" pitchFamily="34" charset="0"/>
                <a:ea typeface="Cambria" pitchFamily="34" charset="-122"/>
                <a:cs typeface="Cambria" pitchFamily="34" charset="-120"/>
              </a:rPr>
              <a:t>1</a:t>
            </a:r>
            <a:endParaRPr lang="en-US" sz="2000" dirty="0"/>
          </a:p>
        </p:txBody>
      </p:sp>
      <p:sp>
        <p:nvSpPr>
          <p:cNvPr id="8" name="Text 5"/>
          <p:cNvSpPr txBox="1"/>
          <p:nvPr/>
        </p:nvSpPr>
        <p:spPr>
          <a:xfrm>
            <a:off x="676656" y="1956816"/>
            <a:ext cx="1883664" cy="731520"/>
          </a:xfrm>
          <a:prstGeom prst="rect">
            <a:avLst/>
          </a:prstGeom>
          <a:noFill/>
          <a:ln/>
        </p:spPr>
        <p:txBody>
          <a:bodyPr wrap="square" lIns="0" tIns="0" rIns="0" bIns="0" rtlCol="0" anchor="ctr"/>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Scan the tech's work order</a:t>
            </a:r>
            <a:endParaRPr lang="en-US" sz="1150" dirty="0"/>
          </a:p>
        </p:txBody>
      </p:sp>
      <p:sp>
        <p:nvSpPr>
          <p:cNvPr id="9" name="Shape 6"/>
          <p:cNvSpPr/>
          <p:nvPr/>
        </p:nvSpPr>
        <p:spPr>
          <a:xfrm>
            <a:off x="2852928" y="1572768"/>
            <a:ext cx="2121408" cy="1170432"/>
          </a:xfrm>
          <a:prstGeom prst="roundRect">
            <a:avLst>
              <a:gd name="adj" fmla="val 5469"/>
            </a:avLst>
          </a:prstGeom>
          <a:solidFill>
            <a:srgbClr val="E3EFE5"/>
          </a:solidFill>
          <a:ln/>
        </p:spPr>
      </p:sp>
      <p:sp>
        <p:nvSpPr>
          <p:cNvPr id="10" name="Text 7"/>
          <p:cNvSpPr txBox="1"/>
          <p:nvPr/>
        </p:nvSpPr>
        <p:spPr>
          <a:xfrm>
            <a:off x="2962656" y="1645920"/>
            <a:ext cx="457200" cy="365760"/>
          </a:xfrm>
          <a:prstGeom prst="rect">
            <a:avLst/>
          </a:prstGeom>
          <a:noFill/>
          <a:ln/>
        </p:spPr>
        <p:txBody>
          <a:bodyPr wrap="square" lIns="0" tIns="0" rIns="0" bIns="0" rtlCol="0" anchor="ctr"/>
          <a:lstStyle/>
          <a:p>
            <a:pPr indent="0" marL="0">
              <a:buNone/>
            </a:pPr>
            <a:r>
              <a:rPr lang="en-US" sz="2000" b="1" dirty="0">
                <a:solidFill>
                  <a:srgbClr val="1C5C34"/>
                </a:solidFill>
                <a:latin typeface="Cambria" pitchFamily="34" charset="0"/>
                <a:ea typeface="Cambria" pitchFamily="34" charset="-122"/>
                <a:cs typeface="Cambria" pitchFamily="34" charset="-120"/>
              </a:rPr>
              <a:t>2</a:t>
            </a:r>
            <a:endParaRPr lang="en-US" sz="2000" dirty="0"/>
          </a:p>
        </p:txBody>
      </p:sp>
      <p:sp>
        <p:nvSpPr>
          <p:cNvPr id="11" name="Text 8"/>
          <p:cNvSpPr txBox="1"/>
          <p:nvPr/>
        </p:nvSpPr>
        <p:spPr>
          <a:xfrm>
            <a:off x="2980944" y="1956816"/>
            <a:ext cx="1883664" cy="731520"/>
          </a:xfrm>
          <a:prstGeom prst="rect">
            <a:avLst/>
          </a:prstGeom>
          <a:noFill/>
          <a:ln/>
        </p:spPr>
        <p:txBody>
          <a:bodyPr wrap="square" lIns="0" tIns="0" rIns="0" bIns="0" rtlCol="0" anchor="ctr"/>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Estimate builds itself — team reviews &amp; sends</a:t>
            </a:r>
            <a:endParaRPr lang="en-US" sz="1150" dirty="0"/>
          </a:p>
        </p:txBody>
      </p:sp>
      <p:sp>
        <p:nvSpPr>
          <p:cNvPr id="12" name="Shape 9"/>
          <p:cNvSpPr/>
          <p:nvPr/>
        </p:nvSpPr>
        <p:spPr>
          <a:xfrm>
            <a:off x="5157216" y="1572768"/>
            <a:ext cx="2121408" cy="1170432"/>
          </a:xfrm>
          <a:prstGeom prst="roundRect">
            <a:avLst>
              <a:gd name="adj" fmla="val 5469"/>
            </a:avLst>
          </a:prstGeom>
          <a:solidFill>
            <a:srgbClr val="E3EFE5"/>
          </a:solidFill>
          <a:ln/>
        </p:spPr>
      </p:sp>
      <p:sp>
        <p:nvSpPr>
          <p:cNvPr id="13" name="Text 10"/>
          <p:cNvSpPr txBox="1"/>
          <p:nvPr/>
        </p:nvSpPr>
        <p:spPr>
          <a:xfrm>
            <a:off x="5266944" y="1645920"/>
            <a:ext cx="457200" cy="365760"/>
          </a:xfrm>
          <a:prstGeom prst="rect">
            <a:avLst/>
          </a:prstGeom>
          <a:noFill/>
          <a:ln/>
        </p:spPr>
        <p:txBody>
          <a:bodyPr wrap="square" lIns="0" tIns="0" rIns="0" bIns="0" rtlCol="0" anchor="ctr"/>
          <a:lstStyle/>
          <a:p>
            <a:pPr indent="0" marL="0">
              <a:buNone/>
            </a:pPr>
            <a:r>
              <a:rPr lang="en-US" sz="2000" b="1" dirty="0">
                <a:solidFill>
                  <a:srgbClr val="1C5C34"/>
                </a:solidFill>
                <a:latin typeface="Cambria" pitchFamily="34" charset="0"/>
                <a:ea typeface="Cambria" pitchFamily="34" charset="-122"/>
                <a:cs typeface="Cambria" pitchFamily="34" charset="-120"/>
              </a:rPr>
              <a:t>3</a:t>
            </a:r>
            <a:endParaRPr lang="en-US" sz="2000" dirty="0"/>
          </a:p>
        </p:txBody>
      </p:sp>
      <p:sp>
        <p:nvSpPr>
          <p:cNvPr id="14" name="Text 11"/>
          <p:cNvSpPr txBox="1"/>
          <p:nvPr/>
        </p:nvSpPr>
        <p:spPr>
          <a:xfrm>
            <a:off x="5285232" y="1956816"/>
            <a:ext cx="1883664" cy="731520"/>
          </a:xfrm>
          <a:prstGeom prst="rect">
            <a:avLst/>
          </a:prstGeom>
          <a:noFill/>
          <a:ln/>
        </p:spPr>
        <p:txBody>
          <a:bodyPr wrap="square" lIns="0" tIns="0" rIns="0" bIns="0" rtlCol="0" anchor="ctr"/>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Client sees a clean page: parts, labor, tax</a:t>
            </a:r>
            <a:endParaRPr lang="en-US" sz="1150" dirty="0"/>
          </a:p>
        </p:txBody>
      </p:sp>
      <p:sp>
        <p:nvSpPr>
          <p:cNvPr id="15" name="Shape 12"/>
          <p:cNvSpPr/>
          <p:nvPr/>
        </p:nvSpPr>
        <p:spPr>
          <a:xfrm>
            <a:off x="7461504" y="1572768"/>
            <a:ext cx="2121408" cy="1170432"/>
          </a:xfrm>
          <a:prstGeom prst="roundRect">
            <a:avLst>
              <a:gd name="adj" fmla="val 5469"/>
            </a:avLst>
          </a:prstGeom>
          <a:solidFill>
            <a:srgbClr val="E3EFE5"/>
          </a:solidFill>
          <a:ln/>
        </p:spPr>
      </p:sp>
      <p:sp>
        <p:nvSpPr>
          <p:cNvPr id="16" name="Text 13"/>
          <p:cNvSpPr txBox="1"/>
          <p:nvPr/>
        </p:nvSpPr>
        <p:spPr>
          <a:xfrm>
            <a:off x="7571232" y="1645920"/>
            <a:ext cx="457200" cy="365760"/>
          </a:xfrm>
          <a:prstGeom prst="rect">
            <a:avLst/>
          </a:prstGeom>
          <a:noFill/>
          <a:ln/>
        </p:spPr>
        <p:txBody>
          <a:bodyPr wrap="square" lIns="0" tIns="0" rIns="0" bIns="0" rtlCol="0" anchor="ctr"/>
          <a:lstStyle/>
          <a:p>
            <a:pPr indent="0" marL="0">
              <a:buNone/>
            </a:pPr>
            <a:r>
              <a:rPr lang="en-US" sz="2000" b="1" dirty="0">
                <a:solidFill>
                  <a:srgbClr val="1C5C34"/>
                </a:solidFill>
                <a:latin typeface="Cambria" pitchFamily="34" charset="0"/>
                <a:ea typeface="Cambria" pitchFamily="34" charset="-122"/>
                <a:cs typeface="Cambria" pitchFamily="34" charset="-120"/>
              </a:rPr>
              <a:t>4</a:t>
            </a:r>
            <a:endParaRPr lang="en-US" sz="2000" dirty="0"/>
          </a:p>
        </p:txBody>
      </p:sp>
      <p:sp>
        <p:nvSpPr>
          <p:cNvPr id="17" name="Text 14"/>
          <p:cNvSpPr txBox="1"/>
          <p:nvPr/>
        </p:nvSpPr>
        <p:spPr>
          <a:xfrm>
            <a:off x="7589520" y="1956816"/>
            <a:ext cx="1883664" cy="731520"/>
          </a:xfrm>
          <a:prstGeom prst="rect">
            <a:avLst/>
          </a:prstGeom>
          <a:noFill/>
          <a:ln/>
        </p:spPr>
        <p:txBody>
          <a:bodyPr wrap="square" lIns="0" tIns="0" rIns="0" bIns="0" rtlCol="0" anchor="ctr"/>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Approve the repair — or shop instead</a:t>
            </a:r>
            <a:endParaRPr lang="en-US" sz="1150" dirty="0"/>
          </a:p>
        </p:txBody>
      </p:sp>
      <p:sp>
        <p:nvSpPr>
          <p:cNvPr id="18" name="Shape 15"/>
          <p:cNvSpPr/>
          <p:nvPr/>
        </p:nvSpPr>
        <p:spPr>
          <a:xfrm>
            <a:off x="9765792" y="1572768"/>
            <a:ext cx="2121408" cy="1170432"/>
          </a:xfrm>
          <a:prstGeom prst="roundRect">
            <a:avLst>
              <a:gd name="adj" fmla="val 5469"/>
            </a:avLst>
          </a:prstGeom>
          <a:solidFill>
            <a:srgbClr val="1C5C34"/>
          </a:solidFill>
          <a:ln/>
        </p:spPr>
      </p:sp>
      <p:sp>
        <p:nvSpPr>
          <p:cNvPr id="19" name="Text 16"/>
          <p:cNvSpPr txBox="1"/>
          <p:nvPr/>
        </p:nvSpPr>
        <p:spPr>
          <a:xfrm>
            <a:off x="9875520" y="1645920"/>
            <a:ext cx="457200" cy="365760"/>
          </a:xfrm>
          <a:prstGeom prst="rect">
            <a:avLst/>
          </a:prstGeom>
          <a:noFill/>
          <a:ln/>
        </p:spPr>
        <p:txBody>
          <a:bodyPr wrap="square" lIns="0" tIns="0" rIns="0" bIns="0" rtlCol="0" anchor="ctr"/>
          <a:lstStyle/>
          <a:p>
            <a:pPr indent="0" marL="0">
              <a:buNone/>
            </a:pPr>
            <a:r>
              <a:rPr lang="en-US" sz="2000" b="1" dirty="0">
                <a:solidFill>
                  <a:srgbClr val="9FD0AF"/>
                </a:solidFill>
                <a:latin typeface="Cambria" pitchFamily="34" charset="0"/>
                <a:ea typeface="Cambria" pitchFamily="34" charset="-122"/>
                <a:cs typeface="Cambria" pitchFamily="34" charset="-120"/>
              </a:rPr>
              <a:t>5</a:t>
            </a:r>
            <a:endParaRPr lang="en-US" sz="2000" dirty="0"/>
          </a:p>
        </p:txBody>
      </p:sp>
      <p:sp>
        <p:nvSpPr>
          <p:cNvPr id="20" name="Text 17"/>
          <p:cNvSpPr txBox="1"/>
          <p:nvPr/>
        </p:nvSpPr>
        <p:spPr>
          <a:xfrm>
            <a:off x="9893808" y="1956816"/>
            <a:ext cx="1883664" cy="731520"/>
          </a:xfrm>
          <a:prstGeom prst="rect">
            <a:avLst/>
          </a:prstGeom>
          <a:noFill/>
          <a:ln/>
        </p:spPr>
        <p:txBody>
          <a:bodyPr wrap="square" lIns="0" tIns="0" rIns="0" bIns="0" rtlCol="0" anchor="ctr"/>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“Shop instead” becomes a DIBS sales lead</a:t>
            </a:r>
            <a:endParaRPr lang="en-US" sz="1150" dirty="0"/>
          </a:p>
        </p:txBody>
      </p:sp>
      <p:sp>
        <p:nvSpPr>
          <p:cNvPr id="21" name="Shape 18"/>
          <p:cNvSpPr/>
          <p:nvPr/>
        </p:nvSpPr>
        <p:spPr>
          <a:xfrm>
            <a:off x="566928" y="3090672"/>
            <a:ext cx="384048" cy="384048"/>
          </a:xfrm>
          <a:prstGeom prst="ellipse">
            <a:avLst/>
          </a:prstGeom>
          <a:solidFill>
            <a:srgbClr val="E3EFE5"/>
          </a:solidFill>
          <a:ln/>
        </p:spPr>
      </p:sp>
      <p:pic>
        <p:nvPicPr>
          <p:cNvPr id="22" name="Image 1" descr="/tmp/deck/icons/FiStar-green.png">    </p:cNvPr>
          <p:cNvPicPr>
            <a:picLocks noChangeAspect="1"/>
          </p:cNvPicPr>
          <p:nvPr/>
        </p:nvPicPr>
        <p:blipFill>
          <a:blip r:embed="rId2"/>
          <a:stretch>
            <a:fillRect/>
          </a:stretch>
        </p:blipFill>
        <p:spPr>
          <a:xfrm>
            <a:off x="666780" y="3190524"/>
            <a:ext cx="184343" cy="184343"/>
          </a:xfrm>
          <a:prstGeom prst="rect">
            <a:avLst/>
          </a:prstGeom>
        </p:spPr>
      </p:pic>
      <p:sp>
        <p:nvSpPr>
          <p:cNvPr id="23" name="Text 19"/>
          <p:cNvSpPr txBox="1"/>
          <p:nvPr/>
        </p:nvSpPr>
        <p:spPr>
          <a:xfrm>
            <a:off x="1115568" y="3063240"/>
            <a:ext cx="498348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Clients see their appliance, not a number.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“Your Whirlpool Washer repair estimate” leads every message — the SV number is just the small reference.</a:t>
            </a:r>
            <a:endParaRPr lang="en-US" sz="1300" dirty="0"/>
          </a:p>
        </p:txBody>
      </p:sp>
      <p:sp>
        <p:nvSpPr>
          <p:cNvPr id="24" name="Shape 20"/>
          <p:cNvSpPr/>
          <p:nvPr/>
        </p:nvSpPr>
        <p:spPr>
          <a:xfrm>
            <a:off x="566928" y="3840480"/>
            <a:ext cx="384048" cy="384048"/>
          </a:xfrm>
          <a:prstGeom prst="ellipse">
            <a:avLst/>
          </a:prstGeom>
          <a:solidFill>
            <a:srgbClr val="E3EFE5"/>
          </a:solidFill>
          <a:ln/>
        </p:spPr>
      </p:sp>
      <p:pic>
        <p:nvPicPr>
          <p:cNvPr id="25" name="Image 2" descr="/tmp/deck/icons/FiSmartphone-green.png">    </p:cNvPr>
          <p:cNvPicPr>
            <a:picLocks noChangeAspect="1"/>
          </p:cNvPicPr>
          <p:nvPr/>
        </p:nvPicPr>
        <p:blipFill>
          <a:blip r:embed="rId3"/>
          <a:stretch>
            <a:fillRect/>
          </a:stretch>
        </p:blipFill>
        <p:spPr>
          <a:xfrm>
            <a:off x="666780" y="3940332"/>
            <a:ext cx="184343" cy="184343"/>
          </a:xfrm>
          <a:prstGeom prst="rect">
            <a:avLst/>
          </a:prstGeom>
        </p:spPr>
      </p:pic>
      <p:sp>
        <p:nvSpPr>
          <p:cNvPr id="26" name="Text 21"/>
          <p:cNvSpPr txBox="1"/>
          <p:nvPr/>
        </p:nvSpPr>
        <p:spPr>
          <a:xfrm>
            <a:off x="1115568" y="3813048"/>
            <a:ext cx="498348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Text and email, standard and reminder.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Four ready-made messages, all one-click, all audited. Wording is out for team review now.</a:t>
            </a:r>
            <a:endParaRPr lang="en-US" sz="1300" dirty="0"/>
          </a:p>
        </p:txBody>
      </p:sp>
      <p:sp>
        <p:nvSpPr>
          <p:cNvPr id="27" name="Shape 22"/>
          <p:cNvSpPr/>
          <p:nvPr/>
        </p:nvSpPr>
        <p:spPr>
          <a:xfrm>
            <a:off x="566928" y="4590288"/>
            <a:ext cx="384048" cy="384048"/>
          </a:xfrm>
          <a:prstGeom prst="ellipse">
            <a:avLst/>
          </a:prstGeom>
          <a:solidFill>
            <a:srgbClr val="E3EFE5"/>
          </a:solidFill>
          <a:ln/>
        </p:spPr>
      </p:sp>
      <p:pic>
        <p:nvPicPr>
          <p:cNvPr id="28" name="Image 3" descr="/tmp/deck/icons/FiCamera-green.png">    </p:cNvPr>
          <p:cNvPicPr>
            <a:picLocks noChangeAspect="1"/>
          </p:cNvPicPr>
          <p:nvPr/>
        </p:nvPicPr>
        <p:blipFill>
          <a:blip r:embed="rId4"/>
          <a:stretch>
            <a:fillRect/>
          </a:stretch>
        </p:blipFill>
        <p:spPr>
          <a:xfrm>
            <a:off x="666780" y="4690140"/>
            <a:ext cx="184343" cy="184343"/>
          </a:xfrm>
          <a:prstGeom prst="rect">
            <a:avLst/>
          </a:prstGeom>
        </p:spPr>
      </p:pic>
      <p:sp>
        <p:nvSpPr>
          <p:cNvPr id="29" name="Text 23"/>
          <p:cNvSpPr txBox="1"/>
          <p:nvPr/>
        </p:nvSpPr>
        <p:spPr>
          <a:xfrm>
            <a:off x="1115568" y="4562856"/>
            <a:ext cx="498348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The work order rides along.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Clients can open the technician's scanned work order right from their estimate page.</a:t>
            </a:r>
            <a:endParaRPr lang="en-US" sz="1300" dirty="0"/>
          </a:p>
        </p:txBody>
      </p:sp>
      <p:sp>
        <p:nvSpPr>
          <p:cNvPr id="30" name="Shape 24"/>
          <p:cNvSpPr/>
          <p:nvPr/>
        </p:nvSpPr>
        <p:spPr>
          <a:xfrm>
            <a:off x="6446520" y="3090672"/>
            <a:ext cx="384048" cy="384048"/>
          </a:xfrm>
          <a:prstGeom prst="ellipse">
            <a:avLst/>
          </a:prstGeom>
          <a:solidFill>
            <a:srgbClr val="E3EFE5"/>
          </a:solidFill>
          <a:ln/>
        </p:spPr>
      </p:sp>
      <p:pic>
        <p:nvPicPr>
          <p:cNvPr id="31" name="Image 4" descr="/tmp/deck/icons/FiMessageSquare-green.png">    </p:cNvPr>
          <p:cNvPicPr>
            <a:picLocks noChangeAspect="1"/>
          </p:cNvPicPr>
          <p:nvPr/>
        </p:nvPicPr>
        <p:blipFill>
          <a:blip r:embed="rId5"/>
          <a:stretch>
            <a:fillRect/>
          </a:stretch>
        </p:blipFill>
        <p:spPr>
          <a:xfrm>
            <a:off x="6546372" y="3190524"/>
            <a:ext cx="184343" cy="184343"/>
          </a:xfrm>
          <a:prstGeom prst="rect">
            <a:avLst/>
          </a:prstGeom>
        </p:spPr>
      </p:pic>
      <p:sp>
        <p:nvSpPr>
          <p:cNvPr id="32" name="Text 25"/>
          <p:cNvSpPr txBox="1"/>
          <p:nvPr/>
        </p:nvSpPr>
        <p:spPr>
          <a:xfrm>
            <a:off x="6995160" y="3063240"/>
            <a:ext cx="466344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Podium stays in the loop.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Approval, every email touch, and every claimed lead drops a note on the client's text thread.</a:t>
            </a:r>
            <a:endParaRPr lang="en-US" sz="1300" dirty="0"/>
          </a:p>
        </p:txBody>
      </p:sp>
      <p:sp>
        <p:nvSpPr>
          <p:cNvPr id="33" name="Shape 26"/>
          <p:cNvSpPr/>
          <p:nvPr/>
        </p:nvSpPr>
        <p:spPr>
          <a:xfrm>
            <a:off x="6446520" y="3840480"/>
            <a:ext cx="384048" cy="384048"/>
          </a:xfrm>
          <a:prstGeom prst="ellipse">
            <a:avLst/>
          </a:prstGeom>
          <a:solidFill>
            <a:srgbClr val="E3EFE5"/>
          </a:solidFill>
          <a:ln/>
        </p:spPr>
      </p:sp>
      <p:pic>
        <p:nvPicPr>
          <p:cNvPr id="34" name="Image 5" descr="/tmp/deck/icons/FiFlag-green.png">    </p:cNvPr>
          <p:cNvPicPr>
            <a:picLocks noChangeAspect="1"/>
          </p:cNvPicPr>
          <p:nvPr/>
        </p:nvPicPr>
        <p:blipFill>
          <a:blip r:embed="rId6"/>
          <a:stretch>
            <a:fillRect/>
          </a:stretch>
        </p:blipFill>
        <p:spPr>
          <a:xfrm>
            <a:off x="6546372" y="3940332"/>
            <a:ext cx="184343" cy="184343"/>
          </a:xfrm>
          <a:prstGeom prst="rect">
            <a:avLst/>
          </a:prstGeom>
        </p:spPr>
      </p:pic>
      <p:sp>
        <p:nvSpPr>
          <p:cNvPr id="35" name="Text 27"/>
          <p:cNvSpPr txBox="1"/>
          <p:nvPr/>
        </p:nvSpPr>
        <p:spPr>
          <a:xfrm>
            <a:off x="6995160" y="3813048"/>
            <a:ext cx="466344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Declines aren't dead ends.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“I'd rather replace it” routes to the sales team as a claimable lead with the full repair context attached.</a:t>
            </a:r>
            <a:endParaRPr lang="en-US" sz="1300" dirty="0"/>
          </a:p>
        </p:txBody>
      </p:sp>
      <p:sp>
        <p:nvSpPr>
          <p:cNvPr id="36" name="Shape 28"/>
          <p:cNvSpPr/>
          <p:nvPr/>
        </p:nvSpPr>
        <p:spPr>
          <a:xfrm>
            <a:off x="6446520" y="4562856"/>
            <a:ext cx="5212080" cy="822960"/>
          </a:xfrm>
          <a:prstGeom prst="roundRect">
            <a:avLst>
              <a:gd name="adj" fmla="val 6667"/>
            </a:avLst>
          </a:prstGeom>
          <a:solidFill>
            <a:srgbClr val="E3EFE5"/>
          </a:solidFill>
          <a:ln/>
        </p:spPr>
      </p:sp>
      <p:sp>
        <p:nvSpPr>
          <p:cNvPr id="37" name="Text 29"/>
          <p:cNvSpPr txBox="1"/>
          <p:nvPr/>
        </p:nvSpPr>
        <p:spPr>
          <a:xfrm>
            <a:off x="6629400" y="4654296"/>
            <a:ext cx="4846320" cy="640080"/>
          </a:xfrm>
          <a:prstGeom prst="rect">
            <a:avLst/>
          </a:prstGeom>
          <a:noFill/>
          <a:ln/>
        </p:spPr>
        <p:txBody>
          <a:bodyPr wrap="square" lIns="0" tIns="0" rIns="0" bIns="0" rtlCol="0" anchor="ctr"/>
          <a:lstStyle/>
          <a:p>
            <a:pPr indent="0" marL="0">
              <a:buNone/>
            </a:pPr>
            <a:r>
              <a:rPr lang="en-US" sz="1300" b="1" dirty="0">
                <a:solidFill>
                  <a:srgbClr val="1C5C34"/>
                </a:solidFill>
                <a:latin typeface="Calibri" pitchFamily="34" charset="0"/>
                <a:ea typeface="Calibri" pitchFamily="34" charset="-122"/>
                <a:cs typeface="Calibri" pitchFamily="34" charset="-120"/>
              </a:rPr>
              <a:t>For service &amp; sales:  </a:t>
            </a:r>
            <a:pPr indent="0" marL="0">
              <a:buNone/>
            </a:pPr>
            <a:r>
              <a:rPr lang="en-US" sz="1300" dirty="0">
                <a:solidFill>
                  <a:srgbClr val="1F2937"/>
                </a:solidFill>
                <a:latin typeface="Calibri" pitchFamily="34" charset="0"/>
                <a:ea typeface="Calibri" pitchFamily="34" charset="-122"/>
                <a:cs typeface="Calibri" pitchFamily="34" charset="-120"/>
              </a:rPr>
              <a:t>one tool from diagnosis to yes — and a warm handoff when the answer is “replace 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mp/rebrand/subzero-photos/show-main.jpg">    </p:cNvPr>
          <p:cNvPicPr>
            <a:picLocks noChangeAspect="1"/>
          </p:cNvPicPr>
          <p:nvPr/>
        </p:nvPicPr>
        <p:blipFill>
          <a:blip r:embed="rId1"/>
          <a:srcRect l="0" r="0" t="0" b="0"/>
          <a:stretch/>
        </p:blipFill>
        <p:spPr>
          <a:xfrm>
            <a:off x="7982712" y="0"/>
            <a:ext cx="4206240" cy="6858000"/>
          </a:xfrm>
          <a:prstGeom prst="rect">
            <a:avLst/>
          </a:prstGeom>
        </p:spPr>
      </p:pic>
      <p:sp>
        <p:nvSpPr>
          <p:cNvPr id="3" name="Shape 0"/>
          <p:cNvSpPr/>
          <p:nvPr/>
        </p:nvSpPr>
        <p:spPr>
          <a:xfrm>
            <a:off x="548640" y="475488"/>
            <a:ext cx="566928" cy="566928"/>
          </a:xfrm>
          <a:prstGeom prst="ellipse">
            <a:avLst/>
          </a:prstGeom>
          <a:solidFill>
            <a:srgbClr val="1C5C34"/>
          </a:solidFill>
          <a:ln/>
        </p:spPr>
      </p:sp>
      <p:pic>
        <p:nvPicPr>
          <p:cNvPr id="4" name="Image 1" descr="/tmp/deck/icons/FiHome-white.png">    </p:cNvPr>
          <p:cNvPicPr>
            <a:picLocks noChangeAspect="1"/>
          </p:cNvPicPr>
          <p:nvPr/>
        </p:nvPicPr>
        <p:blipFill>
          <a:blip r:embed="rId2"/>
          <a:stretch>
            <a:fillRect/>
          </a:stretch>
        </p:blipFill>
        <p:spPr>
          <a:xfrm>
            <a:off x="696041" y="622889"/>
            <a:ext cx="272125" cy="272125"/>
          </a:xfrm>
          <a:prstGeom prst="rect">
            <a:avLst/>
          </a:prstGeom>
        </p:spPr>
      </p:pic>
      <p:sp>
        <p:nvSpPr>
          <p:cNvPr id="5" name="Text 1"/>
          <p:cNvSpPr txBox="1"/>
          <p:nvPr/>
        </p:nvSpPr>
        <p:spPr>
          <a:xfrm>
            <a:off x="1298448" y="384048"/>
            <a:ext cx="6400800" cy="274320"/>
          </a:xfrm>
          <a:prstGeom prst="rect">
            <a:avLst/>
          </a:prstGeom>
          <a:noFill/>
          <a:ln/>
        </p:spPr>
        <p:txBody>
          <a:bodyPr wrap="square" lIns="0" tIns="0" rIns="0" bIns="0" rtlCol="0" anchor="ctr"/>
          <a:lstStyle/>
          <a:p>
            <a:pPr indent="0" marL="0">
              <a:buNone/>
            </a:pPr>
            <a:r>
              <a:rPr lang="en-US" sz="1200" b="1" spc="300" kern="0" dirty="0">
                <a:solidFill>
                  <a:srgbClr val="1C5C34"/>
                </a:solidFill>
                <a:latin typeface="Calibri" pitchFamily="34" charset="0"/>
                <a:ea typeface="Calibri" pitchFamily="34" charset="-122"/>
                <a:cs typeface="Calibri" pitchFamily="34" charset="-120"/>
              </a:rPr>
              <a:t>SUB-ZERO SHOWROOM</a:t>
            </a:r>
            <a:endParaRPr lang="en-US" sz="1200" dirty="0"/>
          </a:p>
        </p:txBody>
      </p:sp>
      <p:sp>
        <p:nvSpPr>
          <p:cNvPr id="6" name="Text 2"/>
          <p:cNvSpPr txBox="1"/>
          <p:nvPr/>
        </p:nvSpPr>
        <p:spPr>
          <a:xfrm>
            <a:off x="1298448" y="621792"/>
            <a:ext cx="6492240" cy="566928"/>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From brochure to booking engine.</a:t>
            </a:r>
            <a:endParaRPr lang="en-US" sz="2900" dirty="0"/>
          </a:p>
        </p:txBody>
      </p:sp>
      <p:sp>
        <p:nvSpPr>
          <p:cNvPr id="7" name="Shape 3"/>
          <p:cNvSpPr/>
          <p:nvPr/>
        </p:nvSpPr>
        <p:spPr>
          <a:xfrm>
            <a:off x="566928" y="1600200"/>
            <a:ext cx="384048" cy="384048"/>
          </a:xfrm>
          <a:prstGeom prst="ellipse">
            <a:avLst/>
          </a:prstGeom>
          <a:solidFill>
            <a:srgbClr val="E3EFE5"/>
          </a:solidFill>
          <a:ln/>
        </p:spPr>
      </p:sp>
      <p:pic>
        <p:nvPicPr>
          <p:cNvPr id="8" name="Image 2" descr="/tmp/deck/icons/FiCamera-green.png">    </p:cNvPr>
          <p:cNvPicPr>
            <a:picLocks noChangeAspect="1"/>
          </p:cNvPicPr>
          <p:nvPr/>
        </p:nvPicPr>
        <p:blipFill>
          <a:blip r:embed="rId3"/>
          <a:stretch>
            <a:fillRect/>
          </a:stretch>
        </p:blipFill>
        <p:spPr>
          <a:xfrm>
            <a:off x="666780" y="1700052"/>
            <a:ext cx="184343" cy="184343"/>
          </a:xfrm>
          <a:prstGeom prst="rect">
            <a:avLst/>
          </a:prstGeom>
        </p:spPr>
      </p:pic>
      <p:sp>
        <p:nvSpPr>
          <p:cNvPr id="9" name="Text 4"/>
          <p:cNvSpPr txBox="1"/>
          <p:nvPr/>
        </p:nvSpPr>
        <p:spPr>
          <a:xfrm>
            <a:off x="1115568" y="1572768"/>
            <a:ext cx="649224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Real photography, live now.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The SZWC living kitchen display fills the page — hero, six looks, and showroom shots. No more placeholders.</a:t>
            </a:r>
            <a:endParaRPr lang="en-US" sz="1300" dirty="0"/>
          </a:p>
        </p:txBody>
      </p:sp>
      <p:sp>
        <p:nvSpPr>
          <p:cNvPr id="10" name="Shape 5"/>
          <p:cNvSpPr/>
          <p:nvPr/>
        </p:nvSpPr>
        <p:spPr>
          <a:xfrm>
            <a:off x="566928" y="2368296"/>
            <a:ext cx="384048" cy="384048"/>
          </a:xfrm>
          <a:prstGeom prst="ellipse">
            <a:avLst/>
          </a:prstGeom>
          <a:solidFill>
            <a:srgbClr val="E3EFE5"/>
          </a:solidFill>
          <a:ln/>
        </p:spPr>
      </p:sp>
      <p:pic>
        <p:nvPicPr>
          <p:cNvPr id="11" name="Image 3" descr="/tmp/deck/icons/FiCalendar-green.png">    </p:cNvPr>
          <p:cNvPicPr>
            <a:picLocks noChangeAspect="1"/>
          </p:cNvPicPr>
          <p:nvPr/>
        </p:nvPicPr>
        <p:blipFill>
          <a:blip r:embed="rId4"/>
          <a:stretch>
            <a:fillRect/>
          </a:stretch>
        </p:blipFill>
        <p:spPr>
          <a:xfrm>
            <a:off x="666780" y="2468148"/>
            <a:ext cx="184343" cy="184343"/>
          </a:xfrm>
          <a:prstGeom prst="rect">
            <a:avLst/>
          </a:prstGeom>
        </p:spPr>
      </p:pic>
      <p:sp>
        <p:nvSpPr>
          <p:cNvPr id="12" name="Text 6"/>
          <p:cNvSpPr txBox="1"/>
          <p:nvPr/>
        </p:nvSpPr>
        <p:spPr>
          <a:xfrm>
            <a:off x="1115568" y="2340864"/>
            <a:ext cx="649224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Clients book a real consultation slot.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Hourly times, Mon–Fri 10–5 and Saturday 10–3, three weeks out. Two consultations per slot; full times vanish.</a:t>
            </a:r>
            <a:endParaRPr lang="en-US" sz="1300" dirty="0"/>
          </a:p>
        </p:txBody>
      </p:sp>
      <p:sp>
        <p:nvSpPr>
          <p:cNvPr id="13" name="Shape 7"/>
          <p:cNvSpPr/>
          <p:nvPr/>
        </p:nvSpPr>
        <p:spPr>
          <a:xfrm>
            <a:off x="566928" y="3136392"/>
            <a:ext cx="384048" cy="384048"/>
          </a:xfrm>
          <a:prstGeom prst="ellipse">
            <a:avLst/>
          </a:prstGeom>
          <a:solidFill>
            <a:srgbClr val="E3EFE5"/>
          </a:solidFill>
          <a:ln/>
        </p:spPr>
      </p:sp>
      <p:pic>
        <p:nvPicPr>
          <p:cNvPr id="14" name="Image 4" descr="/tmp/deck/icons/FiPhone-green.png">    </p:cNvPr>
          <p:cNvPicPr>
            <a:picLocks noChangeAspect="1"/>
          </p:cNvPicPr>
          <p:nvPr/>
        </p:nvPicPr>
        <p:blipFill>
          <a:blip r:embed="rId5"/>
          <a:stretch>
            <a:fillRect/>
          </a:stretch>
        </p:blipFill>
        <p:spPr>
          <a:xfrm>
            <a:off x="666780" y="3236244"/>
            <a:ext cx="184343" cy="184343"/>
          </a:xfrm>
          <a:prstGeom prst="rect">
            <a:avLst/>
          </a:prstGeom>
        </p:spPr>
      </p:pic>
      <p:sp>
        <p:nvSpPr>
          <p:cNvPr id="15" name="Text 8"/>
          <p:cNvSpPr txBox="1"/>
          <p:nvPr/>
        </p:nvSpPr>
        <p:spPr>
          <a:xfrm>
            <a:off x="1115568" y="3108960"/>
            <a:ext cx="649224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They tell us how to reach them.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Phone and email are separate now, with a Text me / Call me / Email me choice on every request.</a:t>
            </a:r>
            <a:endParaRPr lang="en-US" sz="1300" dirty="0"/>
          </a:p>
        </p:txBody>
      </p:sp>
      <p:sp>
        <p:nvSpPr>
          <p:cNvPr id="16" name="Shape 9"/>
          <p:cNvSpPr/>
          <p:nvPr/>
        </p:nvSpPr>
        <p:spPr>
          <a:xfrm>
            <a:off x="566928" y="3904488"/>
            <a:ext cx="384048" cy="384048"/>
          </a:xfrm>
          <a:prstGeom prst="ellipse">
            <a:avLst/>
          </a:prstGeom>
          <a:solidFill>
            <a:srgbClr val="E3EFE5"/>
          </a:solidFill>
          <a:ln/>
        </p:spPr>
      </p:sp>
      <p:pic>
        <p:nvPicPr>
          <p:cNvPr id="17" name="Image 5" descr="/tmp/deck/icons/FiSend-green.png">    </p:cNvPr>
          <p:cNvPicPr>
            <a:picLocks noChangeAspect="1"/>
          </p:cNvPicPr>
          <p:nvPr/>
        </p:nvPicPr>
        <p:blipFill>
          <a:blip r:embed="rId6"/>
          <a:stretch>
            <a:fillRect/>
          </a:stretch>
        </p:blipFill>
        <p:spPr>
          <a:xfrm>
            <a:off x="666780" y="4004340"/>
            <a:ext cx="184343" cy="184343"/>
          </a:xfrm>
          <a:prstGeom prst="rect">
            <a:avLst/>
          </a:prstGeom>
        </p:spPr>
      </p:pic>
      <p:sp>
        <p:nvSpPr>
          <p:cNvPr id="18" name="Text 10"/>
          <p:cNvSpPr txBox="1"/>
          <p:nvPr/>
        </p:nvSpPr>
        <p:spPr>
          <a:xfrm>
            <a:off x="1115568" y="3877056"/>
            <a:ext cx="649224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Instant confirmation text.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Prefer text or call? A brief, polite confirmation goes out from the showroom number the moment they submit.</a:t>
            </a:r>
            <a:endParaRPr lang="en-US" sz="1300" dirty="0"/>
          </a:p>
        </p:txBody>
      </p:sp>
      <p:sp>
        <p:nvSpPr>
          <p:cNvPr id="19" name="Shape 11"/>
          <p:cNvSpPr/>
          <p:nvPr/>
        </p:nvSpPr>
        <p:spPr>
          <a:xfrm>
            <a:off x="566928" y="4672584"/>
            <a:ext cx="384048" cy="384048"/>
          </a:xfrm>
          <a:prstGeom prst="ellipse">
            <a:avLst/>
          </a:prstGeom>
          <a:solidFill>
            <a:srgbClr val="E3EFE5"/>
          </a:solidFill>
          <a:ln/>
        </p:spPr>
      </p:sp>
      <p:pic>
        <p:nvPicPr>
          <p:cNvPr id="20" name="Image 6" descr="/tmp/deck/icons/FiFlag-green.png">    </p:cNvPr>
          <p:cNvPicPr>
            <a:picLocks noChangeAspect="1"/>
          </p:cNvPicPr>
          <p:nvPr/>
        </p:nvPicPr>
        <p:blipFill>
          <a:blip r:embed="rId7"/>
          <a:stretch>
            <a:fillRect/>
          </a:stretch>
        </p:blipFill>
        <p:spPr>
          <a:xfrm>
            <a:off x="666780" y="4772436"/>
            <a:ext cx="184343" cy="184343"/>
          </a:xfrm>
          <a:prstGeom prst="rect">
            <a:avLst/>
          </a:prstGeom>
        </p:spPr>
      </p:pic>
      <p:sp>
        <p:nvSpPr>
          <p:cNvPr id="21" name="Text 12"/>
          <p:cNvSpPr txBox="1"/>
          <p:nvPr/>
        </p:nvSpPr>
        <p:spPr>
          <a:xfrm>
            <a:off x="1115568" y="4645152"/>
            <a:ext cx="649224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DIBS decides who takes it.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Every request flags the sales team with the time up front. First DIBS wins, the appointment is stamped to them, and a note lands on the client's Podium thread naming the owner.</a:t>
            </a:r>
            <a:endParaRPr lang="en-US" sz="1300" dirty="0"/>
          </a:p>
        </p:txBody>
      </p:sp>
      <p:sp>
        <p:nvSpPr>
          <p:cNvPr id="22" name="Shape 13"/>
          <p:cNvSpPr/>
          <p:nvPr/>
        </p:nvSpPr>
        <p:spPr>
          <a:xfrm>
            <a:off x="566928" y="5577840"/>
            <a:ext cx="7040880" cy="777240"/>
          </a:xfrm>
          <a:prstGeom prst="roundRect">
            <a:avLst>
              <a:gd name="adj" fmla="val 7059"/>
            </a:avLst>
          </a:prstGeom>
          <a:solidFill>
            <a:srgbClr val="E3EFE5"/>
          </a:solidFill>
          <a:ln/>
        </p:spPr>
      </p:sp>
      <p:sp>
        <p:nvSpPr>
          <p:cNvPr id="23" name="Text 14"/>
          <p:cNvSpPr txBox="1"/>
          <p:nvPr/>
        </p:nvSpPr>
        <p:spPr>
          <a:xfrm>
            <a:off x="749808" y="5669280"/>
            <a:ext cx="6675120" cy="594360"/>
          </a:xfrm>
          <a:prstGeom prst="rect">
            <a:avLst/>
          </a:prstGeom>
          <a:noFill/>
          <a:ln/>
        </p:spPr>
        <p:txBody>
          <a:bodyPr wrap="square" lIns="0" tIns="0" rIns="0" bIns="0" rtlCol="0" anchor="ctr"/>
          <a:lstStyle/>
          <a:p>
            <a:pPr indent="0" marL="0">
              <a:buNone/>
            </a:pPr>
            <a:r>
              <a:rPr lang="en-US" sz="1300" b="1" dirty="0">
                <a:solidFill>
                  <a:srgbClr val="1C5C34"/>
                </a:solidFill>
                <a:latin typeface="Calibri" pitchFamily="34" charset="0"/>
                <a:ea typeface="Calibri" pitchFamily="34" charset="-122"/>
                <a:cs typeface="Calibri" pitchFamily="34" charset="-120"/>
              </a:rPr>
              <a:t>For the showroom:  </a:t>
            </a:r>
            <a:pPr indent="0" marL="0">
              <a:buNone/>
            </a:pPr>
            <a:r>
              <a:rPr lang="en-US" sz="1300" dirty="0">
                <a:solidFill>
                  <a:srgbClr val="1F2937"/>
                </a:solidFill>
                <a:latin typeface="Calibri" pitchFamily="34" charset="0"/>
                <a:ea typeface="Calibri" pitchFamily="34" charset="-122"/>
                <a:cs typeface="Calibri" pitchFamily="34" charset="-120"/>
              </a:rPr>
              <a:t>warm, scheduled walk-ins instead of anonymous form fills — with clear ownership of every lead.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566928" cy="566928"/>
          </a:xfrm>
          <a:prstGeom prst="ellipse">
            <a:avLst/>
          </a:prstGeom>
          <a:solidFill>
            <a:srgbClr val="1C5C34"/>
          </a:solidFill>
          <a:ln/>
        </p:spPr>
      </p:sp>
      <p:pic>
        <p:nvPicPr>
          <p:cNvPr id="3" name="Image 0" descr="/tmp/deck/icons/FiShoppingCart-white.png">    </p:cNvPr>
          <p:cNvPicPr>
            <a:picLocks noChangeAspect="1"/>
          </p:cNvPicPr>
          <p:nvPr/>
        </p:nvPicPr>
        <p:blipFill>
          <a:blip r:embed="rId1"/>
          <a:stretch>
            <a:fillRect/>
          </a:stretch>
        </p:blipFill>
        <p:spPr>
          <a:xfrm>
            <a:off x="696041" y="622889"/>
            <a:ext cx="272125" cy="272125"/>
          </a:xfrm>
          <a:prstGeom prst="rect">
            <a:avLst/>
          </a:prstGeom>
        </p:spPr>
      </p:pic>
      <p:sp>
        <p:nvSpPr>
          <p:cNvPr id="4" name="Text 1"/>
          <p:cNvSpPr txBox="1"/>
          <p:nvPr/>
        </p:nvSpPr>
        <p:spPr>
          <a:xfrm>
            <a:off x="1298448" y="384048"/>
            <a:ext cx="9601200" cy="274320"/>
          </a:xfrm>
          <a:prstGeom prst="rect">
            <a:avLst/>
          </a:prstGeom>
          <a:noFill/>
          <a:ln/>
        </p:spPr>
        <p:txBody>
          <a:bodyPr wrap="square" lIns="0" tIns="0" rIns="0" bIns="0" rtlCol="0" anchor="ctr"/>
          <a:lstStyle/>
          <a:p>
            <a:pPr indent="0" marL="0">
              <a:buNone/>
            </a:pPr>
            <a:r>
              <a:rPr lang="en-US" sz="1200" b="1" spc="300" kern="0" dirty="0">
                <a:solidFill>
                  <a:srgbClr val="1C5C34"/>
                </a:solidFill>
                <a:latin typeface="Calibri" pitchFamily="34" charset="0"/>
                <a:ea typeface="Calibri" pitchFamily="34" charset="-122"/>
                <a:cs typeface="Calibri" pitchFamily="34" charset="-120"/>
              </a:rPr>
              <a:t>ONLINE CLEARANCE SHOP — NEW TOOL</a:t>
            </a:r>
            <a:endParaRPr lang="en-US" sz="1200" dirty="0"/>
          </a:p>
        </p:txBody>
      </p:sp>
      <p:sp>
        <p:nvSpPr>
          <p:cNvPr id="5" name="Text 2"/>
          <p:cNvSpPr txBox="1"/>
          <p:nvPr/>
        </p:nvSpPr>
        <p:spPr>
          <a:xfrm>
            <a:off x="1298448" y="621792"/>
            <a:ext cx="10241280" cy="566928"/>
          </a:xfrm>
          <a:prstGeom prst="rect">
            <a:avLst/>
          </a:prstGeom>
          <a:noFill/>
          <a:ln/>
        </p:spPr>
        <p:txBody>
          <a:bodyPr wrap="square" lIns="0" tIns="0" rIns="0" bIns="0" rtlCol="0" anchor="ctr"/>
          <a:lstStyle/>
          <a:p>
            <a:pPr indent="0" marL="0">
              <a:buNone/>
            </a:pPr>
            <a:r>
              <a:rPr lang="en-US" sz="3100" b="1" dirty="0">
                <a:solidFill>
                  <a:srgbClr val="1F2937"/>
                </a:solidFill>
                <a:latin typeface="Cambria" pitchFamily="34" charset="0"/>
                <a:ea typeface="Cambria" pitchFamily="34" charset="-122"/>
                <a:cs typeface="Cambria" pitchFamily="34" charset="-120"/>
              </a:rPr>
              <a:t>Clearance units now sell themselves online.</a:t>
            </a:r>
            <a:endParaRPr lang="en-US" sz="3100" dirty="0"/>
          </a:p>
        </p:txBody>
      </p:sp>
      <p:sp>
        <p:nvSpPr>
          <p:cNvPr id="6" name="Shape 3"/>
          <p:cNvSpPr/>
          <p:nvPr/>
        </p:nvSpPr>
        <p:spPr>
          <a:xfrm>
            <a:off x="566928" y="1627632"/>
            <a:ext cx="384048" cy="384048"/>
          </a:xfrm>
          <a:prstGeom prst="ellipse">
            <a:avLst/>
          </a:prstGeom>
          <a:solidFill>
            <a:srgbClr val="E3EFE5"/>
          </a:solidFill>
          <a:ln/>
        </p:spPr>
      </p:sp>
      <p:pic>
        <p:nvPicPr>
          <p:cNvPr id="7" name="Image 1" descr="/tmp/deck/icons/FiRotateCcw-green.png">    </p:cNvPr>
          <p:cNvPicPr>
            <a:picLocks noChangeAspect="1"/>
          </p:cNvPicPr>
          <p:nvPr/>
        </p:nvPicPr>
        <p:blipFill>
          <a:blip r:embed="rId2"/>
          <a:stretch>
            <a:fillRect/>
          </a:stretch>
        </p:blipFill>
        <p:spPr>
          <a:xfrm>
            <a:off x="666780" y="1727484"/>
            <a:ext cx="184343" cy="184343"/>
          </a:xfrm>
          <a:prstGeom prst="rect">
            <a:avLst/>
          </a:prstGeom>
        </p:spPr>
      </p:pic>
      <p:sp>
        <p:nvSpPr>
          <p:cNvPr id="8" name="Text 4"/>
          <p:cNvSpPr txBox="1"/>
          <p:nvPr/>
        </p:nvSpPr>
        <p:spPr>
          <a:xfrm>
            <a:off x="1115568" y="1600200"/>
            <a:ext cx="498348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Inventory syncs itself.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The store PC uploads a nightly snapshot, so the online catalog tracks what's actually on the floor.</a:t>
            </a:r>
            <a:endParaRPr lang="en-US" sz="1300" dirty="0"/>
          </a:p>
        </p:txBody>
      </p:sp>
      <p:sp>
        <p:nvSpPr>
          <p:cNvPr id="9" name="Shape 5"/>
          <p:cNvSpPr/>
          <p:nvPr/>
        </p:nvSpPr>
        <p:spPr>
          <a:xfrm>
            <a:off x="566928" y="2423160"/>
            <a:ext cx="384048" cy="384048"/>
          </a:xfrm>
          <a:prstGeom prst="ellipse">
            <a:avLst/>
          </a:prstGeom>
          <a:solidFill>
            <a:srgbClr val="E3EFE5"/>
          </a:solidFill>
          <a:ln/>
        </p:spPr>
      </p:sp>
      <p:pic>
        <p:nvPicPr>
          <p:cNvPr id="10" name="Image 2" descr="/tmp/deck/icons/FiSearch-green.png">    </p:cNvPr>
          <p:cNvPicPr>
            <a:picLocks noChangeAspect="1"/>
          </p:cNvPicPr>
          <p:nvPr/>
        </p:nvPicPr>
        <p:blipFill>
          <a:blip r:embed="rId3"/>
          <a:stretch>
            <a:fillRect/>
          </a:stretch>
        </p:blipFill>
        <p:spPr>
          <a:xfrm>
            <a:off x="666780" y="2523012"/>
            <a:ext cx="184343" cy="184343"/>
          </a:xfrm>
          <a:prstGeom prst="rect">
            <a:avLst/>
          </a:prstGeom>
        </p:spPr>
      </p:pic>
      <p:sp>
        <p:nvSpPr>
          <p:cNvPr id="11" name="Text 6"/>
          <p:cNvSpPr txBox="1"/>
          <p:nvPr/>
        </p:nvSpPr>
        <p:spPr>
          <a:xfrm>
            <a:off x="1115568" y="2395728"/>
            <a:ext cx="498348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Local buyers only.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A ZIP check up front keeps orders inside our delivery footprint before anyone falls in love with a unit.</a:t>
            </a:r>
            <a:endParaRPr lang="en-US" sz="1300" dirty="0"/>
          </a:p>
        </p:txBody>
      </p:sp>
      <p:sp>
        <p:nvSpPr>
          <p:cNvPr id="12" name="Shape 7"/>
          <p:cNvSpPr/>
          <p:nvPr/>
        </p:nvSpPr>
        <p:spPr>
          <a:xfrm>
            <a:off x="566928" y="3218688"/>
            <a:ext cx="384048" cy="384048"/>
          </a:xfrm>
          <a:prstGeom prst="ellipse">
            <a:avLst/>
          </a:prstGeom>
          <a:solidFill>
            <a:srgbClr val="E3EFE5"/>
          </a:solidFill>
          <a:ln/>
        </p:spPr>
      </p:sp>
      <p:pic>
        <p:nvPicPr>
          <p:cNvPr id="13" name="Image 3" descr="/tmp/deck/icons/FiCreditCard-green.png">    </p:cNvPr>
          <p:cNvPicPr>
            <a:picLocks noChangeAspect="1"/>
          </p:cNvPicPr>
          <p:nvPr/>
        </p:nvPicPr>
        <p:blipFill>
          <a:blip r:embed="rId4"/>
          <a:stretch>
            <a:fillRect/>
          </a:stretch>
        </p:blipFill>
        <p:spPr>
          <a:xfrm>
            <a:off x="666780" y="3318540"/>
            <a:ext cx="184343" cy="184343"/>
          </a:xfrm>
          <a:prstGeom prst="rect">
            <a:avLst/>
          </a:prstGeom>
        </p:spPr>
      </p:pic>
      <p:sp>
        <p:nvSpPr>
          <p:cNvPr id="14" name="Text 8"/>
          <p:cNvSpPr txBox="1"/>
          <p:nvPr/>
        </p:nvSpPr>
        <p:spPr>
          <a:xfrm>
            <a:off x="1115568" y="3191256"/>
            <a:ext cx="498348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Card-on-file checkout.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Buyers register, save a card securely through Stripe, and units lock the moment an order lands — no double-selling.</a:t>
            </a:r>
            <a:endParaRPr lang="en-US" sz="1300" dirty="0"/>
          </a:p>
        </p:txBody>
      </p:sp>
      <p:sp>
        <p:nvSpPr>
          <p:cNvPr id="15" name="Shape 9"/>
          <p:cNvSpPr/>
          <p:nvPr/>
        </p:nvSpPr>
        <p:spPr>
          <a:xfrm>
            <a:off x="566928" y="4014216"/>
            <a:ext cx="384048" cy="384048"/>
          </a:xfrm>
          <a:prstGeom prst="ellipse">
            <a:avLst/>
          </a:prstGeom>
          <a:solidFill>
            <a:srgbClr val="E3EFE5"/>
          </a:solidFill>
          <a:ln/>
        </p:spPr>
      </p:sp>
      <p:pic>
        <p:nvPicPr>
          <p:cNvPr id="16" name="Image 4" descr="/tmp/deck/icons/FiCalendar-green.png">    </p:cNvPr>
          <p:cNvPicPr>
            <a:picLocks noChangeAspect="1"/>
          </p:cNvPicPr>
          <p:nvPr/>
        </p:nvPicPr>
        <p:blipFill>
          <a:blip r:embed="rId5"/>
          <a:stretch>
            <a:fillRect/>
          </a:stretch>
        </p:blipFill>
        <p:spPr>
          <a:xfrm>
            <a:off x="666780" y="4114068"/>
            <a:ext cx="184343" cy="184343"/>
          </a:xfrm>
          <a:prstGeom prst="rect">
            <a:avLst/>
          </a:prstGeom>
        </p:spPr>
      </p:pic>
      <p:sp>
        <p:nvSpPr>
          <p:cNvPr id="17" name="Text 10"/>
          <p:cNvSpPr txBox="1"/>
          <p:nvPr/>
        </p:nvSpPr>
        <p:spPr>
          <a:xfrm>
            <a:off x="1115568" y="3986784"/>
            <a:ext cx="498348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Pickup or delivery, scheduled.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Buyers pick their day at checkout, so orders arrive with fulfillment already planned.</a:t>
            </a:r>
            <a:endParaRPr lang="en-US" sz="1300" dirty="0"/>
          </a:p>
        </p:txBody>
      </p:sp>
      <p:sp>
        <p:nvSpPr>
          <p:cNvPr id="18" name="Shape 11"/>
          <p:cNvSpPr/>
          <p:nvPr/>
        </p:nvSpPr>
        <p:spPr>
          <a:xfrm>
            <a:off x="6446520" y="1600200"/>
            <a:ext cx="5166360" cy="2834640"/>
          </a:xfrm>
          <a:prstGeom prst="roundRect">
            <a:avLst>
              <a:gd name="adj" fmla="val 2581"/>
            </a:avLst>
          </a:prstGeom>
          <a:solidFill>
            <a:srgbClr val="1F2937"/>
          </a:solidFill>
          <a:ln/>
        </p:spPr>
      </p:sp>
      <p:sp>
        <p:nvSpPr>
          <p:cNvPr id="19" name="Text 12"/>
          <p:cNvSpPr txBox="1"/>
          <p:nvPr/>
        </p:nvSpPr>
        <p:spPr>
          <a:xfrm>
            <a:off x="6766560" y="1874520"/>
            <a:ext cx="4526280" cy="365760"/>
          </a:xfrm>
          <a:prstGeom prst="rect">
            <a:avLst/>
          </a:prstGeom>
          <a:noFill/>
          <a:ln/>
        </p:spPr>
        <p:txBody>
          <a:bodyPr wrap="square" lIns="0" tIns="0" rIns="0" bIns="0" rtlCol="0" anchor="ctr"/>
          <a:lstStyle/>
          <a:p>
            <a:pPr indent="0" marL="0">
              <a:buNone/>
            </a:pPr>
            <a:r>
              <a:rPr lang="en-US" sz="1600" b="1" dirty="0">
                <a:solidFill>
                  <a:srgbClr val="9FD0AF"/>
                </a:solidFill>
                <a:latin typeface="Calibri" pitchFamily="34" charset="0"/>
                <a:ea typeface="Calibri" pitchFamily="34" charset="-122"/>
                <a:cs typeface="Calibri" pitchFamily="34" charset="-120"/>
              </a:rPr>
              <a:t>shop.wilsonappliance.com</a:t>
            </a:r>
            <a:endParaRPr lang="en-US" sz="1600" dirty="0"/>
          </a:p>
        </p:txBody>
      </p:sp>
      <p:sp>
        <p:nvSpPr>
          <p:cNvPr id="20" name="Text 13"/>
          <p:cNvSpPr txBox="1"/>
          <p:nvPr/>
        </p:nvSpPr>
        <p:spPr>
          <a:xfrm>
            <a:off x="6766560" y="2331720"/>
            <a:ext cx="4526280" cy="1005840"/>
          </a:xfrm>
          <a:prstGeom prst="rect">
            <a:avLst/>
          </a:prstGeom>
          <a:noFill/>
          <a:ln/>
        </p:spPr>
        <p:txBody>
          <a:bodyPr wrap="square" lIns="0" tIns="0" rIns="0" bIns="0" rtlCol="0" anchor="ctr"/>
          <a:lstStyle/>
          <a:p>
            <a:pPr indent="0" marL="0">
              <a:lnSpc>
                <a:spcPct val="115000"/>
              </a:lnSpc>
              <a:buNone/>
            </a:pPr>
            <a:r>
              <a:rPr lang="en-US" sz="1300" dirty="0">
                <a:solidFill>
                  <a:srgbClr val="D9E8DD"/>
                </a:solidFill>
                <a:latin typeface="Calibri" pitchFamily="34" charset="0"/>
                <a:ea typeface="Calibri" pitchFamily="34" charset="-122"/>
                <a:cs typeface="Calibri" pitchFamily="34" charset="-120"/>
              </a:rPr>
              <a:t>Fourteen releases in two weeks — v1 to v1.45. Catalog, menus, pricing import from RetailDeck, scheduling, and checkout hardening.</a:t>
            </a:r>
            <a:endParaRPr lang="en-US" sz="1300" dirty="0"/>
          </a:p>
        </p:txBody>
      </p:sp>
      <p:sp>
        <p:nvSpPr>
          <p:cNvPr id="21" name="Text 14"/>
          <p:cNvSpPr txBox="1"/>
          <p:nvPr/>
        </p:nvSpPr>
        <p:spPr>
          <a:xfrm>
            <a:off x="6766560" y="3429000"/>
            <a:ext cx="4526280" cy="822960"/>
          </a:xfrm>
          <a:prstGeom prst="rect">
            <a:avLst/>
          </a:prstGeom>
          <a:noFill/>
          <a:ln/>
        </p:spPr>
        <p:txBody>
          <a:bodyPr wrap="square" lIns="0" tIns="0" rIns="0" bIns="0" rtlCol="0" anchor="ctr"/>
          <a:lstStyle/>
          <a:p>
            <a:pPr indent="0" marL="0">
              <a:lnSpc>
                <a:spcPct val="115000"/>
              </a:lnSpc>
              <a:buNone/>
            </a:pPr>
            <a:r>
              <a:rPr lang="en-US" sz="1300" dirty="0">
                <a:solidFill>
                  <a:srgbClr val="D9E8DD"/>
                </a:solidFill>
                <a:latin typeface="Calibri" pitchFamily="34" charset="0"/>
                <a:ea typeface="Calibri" pitchFamily="34" charset="-122"/>
                <a:cs typeface="Calibri" pitchFamily="34" charset="-120"/>
              </a:rPr>
              <a:t>Orders file straight to the sales team with the buyer's saved card ready for the final charge.</a:t>
            </a:r>
            <a:endParaRPr lang="en-US" sz="1300" dirty="0"/>
          </a:p>
        </p:txBody>
      </p:sp>
      <p:sp>
        <p:nvSpPr>
          <p:cNvPr id="22" name="Shape 15"/>
          <p:cNvSpPr/>
          <p:nvPr/>
        </p:nvSpPr>
        <p:spPr>
          <a:xfrm>
            <a:off x="6446520" y="4663440"/>
            <a:ext cx="5166360" cy="868680"/>
          </a:xfrm>
          <a:prstGeom prst="roundRect">
            <a:avLst>
              <a:gd name="adj" fmla="val 6316"/>
            </a:avLst>
          </a:prstGeom>
          <a:solidFill>
            <a:srgbClr val="E3EFE5"/>
          </a:solidFill>
          <a:ln/>
        </p:spPr>
      </p:sp>
      <p:sp>
        <p:nvSpPr>
          <p:cNvPr id="23" name="Text 16"/>
          <p:cNvSpPr txBox="1"/>
          <p:nvPr/>
        </p:nvSpPr>
        <p:spPr>
          <a:xfrm>
            <a:off x="6629400" y="4773168"/>
            <a:ext cx="4800600" cy="640080"/>
          </a:xfrm>
          <a:prstGeom prst="rect">
            <a:avLst/>
          </a:prstGeom>
          <a:noFill/>
          <a:ln/>
        </p:spPr>
        <p:txBody>
          <a:bodyPr wrap="square" lIns="0" tIns="0" rIns="0" bIns="0" rtlCol="0" anchor="ctr"/>
          <a:lstStyle/>
          <a:p>
            <a:pPr indent="0" marL="0">
              <a:buNone/>
            </a:pPr>
            <a:r>
              <a:rPr lang="en-US" sz="1300" b="1" dirty="0">
                <a:solidFill>
                  <a:srgbClr val="1C5C34"/>
                </a:solidFill>
                <a:latin typeface="Calibri" pitchFamily="34" charset="0"/>
                <a:ea typeface="Calibri" pitchFamily="34" charset="-122"/>
                <a:cs typeface="Calibri" pitchFamily="34" charset="-120"/>
              </a:rPr>
              <a:t>For sales:  </a:t>
            </a:r>
            <a:pPr indent="0" marL="0">
              <a:buNone/>
            </a:pPr>
            <a:r>
              <a:rPr lang="en-US" sz="1300" dirty="0">
                <a:solidFill>
                  <a:srgbClr val="1F2937"/>
                </a:solidFill>
                <a:latin typeface="Calibri" pitchFamily="34" charset="0"/>
                <a:ea typeface="Calibri" pitchFamily="34" charset="-122"/>
                <a:cs typeface="Calibri" pitchFamily="34" charset="-120"/>
              </a:rPr>
              <a:t>clearance units move without floor time — the team just confirms and fulfills.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566928" cy="566928"/>
          </a:xfrm>
          <a:prstGeom prst="ellipse">
            <a:avLst/>
          </a:prstGeom>
          <a:solidFill>
            <a:srgbClr val="1C5C34"/>
          </a:solidFill>
          <a:ln/>
        </p:spPr>
      </p:sp>
      <p:pic>
        <p:nvPicPr>
          <p:cNvPr id="3" name="Image 0" descr="/tmp/deck/icons/FiPercent-white.png">    </p:cNvPr>
          <p:cNvPicPr>
            <a:picLocks noChangeAspect="1"/>
          </p:cNvPicPr>
          <p:nvPr/>
        </p:nvPicPr>
        <p:blipFill>
          <a:blip r:embed="rId1"/>
          <a:stretch>
            <a:fillRect/>
          </a:stretch>
        </p:blipFill>
        <p:spPr>
          <a:xfrm>
            <a:off x="696041" y="622889"/>
            <a:ext cx="272125" cy="272125"/>
          </a:xfrm>
          <a:prstGeom prst="rect">
            <a:avLst/>
          </a:prstGeom>
        </p:spPr>
      </p:pic>
      <p:sp>
        <p:nvSpPr>
          <p:cNvPr id="4" name="Text 1"/>
          <p:cNvSpPr txBox="1"/>
          <p:nvPr/>
        </p:nvSpPr>
        <p:spPr>
          <a:xfrm>
            <a:off x="1298448" y="384048"/>
            <a:ext cx="9601200" cy="274320"/>
          </a:xfrm>
          <a:prstGeom prst="rect">
            <a:avLst/>
          </a:prstGeom>
          <a:noFill/>
          <a:ln/>
        </p:spPr>
        <p:txBody>
          <a:bodyPr wrap="square" lIns="0" tIns="0" rIns="0" bIns="0" rtlCol="0" anchor="ctr"/>
          <a:lstStyle/>
          <a:p>
            <a:pPr indent="0" marL="0">
              <a:buNone/>
            </a:pPr>
            <a:r>
              <a:rPr lang="en-US" sz="1200" b="1" spc="300" kern="0" dirty="0">
                <a:solidFill>
                  <a:srgbClr val="1C5C34"/>
                </a:solidFill>
                <a:latin typeface="Calibri" pitchFamily="34" charset="0"/>
                <a:ea typeface="Calibri" pitchFamily="34" charset="-122"/>
                <a:cs typeface="Calibri" pitchFamily="34" charset="-120"/>
              </a:rPr>
              <a:t>COMMISSIONS</a:t>
            </a:r>
            <a:endParaRPr lang="en-US" sz="1200" dirty="0"/>
          </a:p>
        </p:txBody>
      </p:sp>
      <p:sp>
        <p:nvSpPr>
          <p:cNvPr id="5" name="Text 2"/>
          <p:cNvSpPr txBox="1"/>
          <p:nvPr/>
        </p:nvSpPr>
        <p:spPr>
          <a:xfrm>
            <a:off x="1298448" y="621792"/>
            <a:ext cx="10241280" cy="566928"/>
          </a:xfrm>
          <a:prstGeom prst="rect">
            <a:avLst/>
          </a:prstGeom>
          <a:noFill/>
          <a:ln/>
        </p:spPr>
        <p:txBody>
          <a:bodyPr wrap="square" lIns="0" tIns="0" rIns="0" bIns="0" rtlCol="0" anchor="ctr"/>
          <a:lstStyle/>
          <a:p>
            <a:pPr indent="0" marL="0">
              <a:buNone/>
            </a:pPr>
            <a:r>
              <a:rPr lang="en-US" sz="3100" b="1" dirty="0">
                <a:solidFill>
                  <a:srgbClr val="1F2937"/>
                </a:solidFill>
                <a:latin typeface="Cambria" pitchFamily="34" charset="0"/>
                <a:ea typeface="Cambria" pitchFamily="34" charset="-122"/>
                <a:cs typeface="Cambria" pitchFamily="34" charset="-120"/>
              </a:rPr>
              <a:t>Transparent statements, closed-loop disputes.</a:t>
            </a:r>
            <a:endParaRPr lang="en-US" sz="3100" dirty="0"/>
          </a:p>
        </p:txBody>
      </p:sp>
      <p:sp>
        <p:nvSpPr>
          <p:cNvPr id="6" name="Shape 3"/>
          <p:cNvSpPr/>
          <p:nvPr/>
        </p:nvSpPr>
        <p:spPr>
          <a:xfrm>
            <a:off x="566928" y="1627632"/>
            <a:ext cx="384048" cy="384048"/>
          </a:xfrm>
          <a:prstGeom prst="ellipse">
            <a:avLst/>
          </a:prstGeom>
          <a:solidFill>
            <a:srgbClr val="E3EFE5"/>
          </a:solidFill>
          <a:ln/>
        </p:spPr>
      </p:sp>
      <p:pic>
        <p:nvPicPr>
          <p:cNvPr id="7" name="Image 1" descr="/tmp/deck/icons/FiSend-green.png">    </p:cNvPr>
          <p:cNvPicPr>
            <a:picLocks noChangeAspect="1"/>
          </p:cNvPicPr>
          <p:nvPr/>
        </p:nvPicPr>
        <p:blipFill>
          <a:blip r:embed="rId2"/>
          <a:stretch>
            <a:fillRect/>
          </a:stretch>
        </p:blipFill>
        <p:spPr>
          <a:xfrm>
            <a:off x="666780" y="1727484"/>
            <a:ext cx="184343" cy="184343"/>
          </a:xfrm>
          <a:prstGeom prst="rect">
            <a:avLst/>
          </a:prstGeom>
        </p:spPr>
      </p:pic>
      <p:sp>
        <p:nvSpPr>
          <p:cNvPr id="8" name="Text 4"/>
          <p:cNvSpPr txBox="1"/>
          <p:nvPr/>
        </p:nvSpPr>
        <p:spPr>
          <a:xfrm>
            <a:off x="1115568" y="1600200"/>
            <a:ext cx="498348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Post statements to your reps.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A per-rep Post button publishes the month's frozen statement to their own My Commissions page — re-post or retract anytime.</a:t>
            </a:r>
            <a:endParaRPr lang="en-US" sz="1300" dirty="0"/>
          </a:p>
        </p:txBody>
      </p:sp>
      <p:sp>
        <p:nvSpPr>
          <p:cNvPr id="9" name="Shape 5"/>
          <p:cNvSpPr/>
          <p:nvPr/>
        </p:nvSpPr>
        <p:spPr>
          <a:xfrm>
            <a:off x="566928" y="2478024"/>
            <a:ext cx="384048" cy="384048"/>
          </a:xfrm>
          <a:prstGeom prst="ellipse">
            <a:avLst/>
          </a:prstGeom>
          <a:solidFill>
            <a:srgbClr val="E3EFE5"/>
          </a:solidFill>
          <a:ln/>
        </p:spPr>
      </p:sp>
      <p:pic>
        <p:nvPicPr>
          <p:cNvPr id="10" name="Image 2" descr="/tmp/deck/icons/FiEye-green.png">    </p:cNvPr>
          <p:cNvPicPr>
            <a:picLocks noChangeAspect="1"/>
          </p:cNvPicPr>
          <p:nvPr/>
        </p:nvPicPr>
        <p:blipFill>
          <a:blip r:embed="rId3"/>
          <a:stretch>
            <a:fillRect/>
          </a:stretch>
        </p:blipFill>
        <p:spPr>
          <a:xfrm>
            <a:off x="666780" y="2577876"/>
            <a:ext cx="184343" cy="184343"/>
          </a:xfrm>
          <a:prstGeom prst="rect">
            <a:avLst/>
          </a:prstGeom>
        </p:spPr>
      </p:pic>
      <p:sp>
        <p:nvSpPr>
          <p:cNvPr id="11" name="Text 6"/>
          <p:cNvSpPr txBox="1"/>
          <p:nvPr/>
        </p:nvSpPr>
        <p:spPr>
          <a:xfrm>
            <a:off x="1115568" y="2450592"/>
            <a:ext cx="498348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Reps see exactly what you see.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Totals, every line, every exclusion with its reason — no more screenshots or hallway math.</a:t>
            </a:r>
            <a:endParaRPr lang="en-US" sz="1300" dirty="0"/>
          </a:p>
        </p:txBody>
      </p:sp>
      <p:sp>
        <p:nvSpPr>
          <p:cNvPr id="12" name="Shape 7"/>
          <p:cNvSpPr/>
          <p:nvPr/>
        </p:nvSpPr>
        <p:spPr>
          <a:xfrm>
            <a:off x="566928" y="3328416"/>
            <a:ext cx="384048" cy="384048"/>
          </a:xfrm>
          <a:prstGeom prst="ellipse">
            <a:avLst/>
          </a:prstGeom>
          <a:solidFill>
            <a:srgbClr val="E3EFE5"/>
          </a:solidFill>
          <a:ln/>
        </p:spPr>
      </p:sp>
      <p:pic>
        <p:nvPicPr>
          <p:cNvPr id="13" name="Image 3" descr="/tmp/deck/icons/FiFlag-green.png">    </p:cNvPr>
          <p:cNvPicPr>
            <a:picLocks noChangeAspect="1"/>
          </p:cNvPicPr>
          <p:nvPr/>
        </p:nvPicPr>
        <p:blipFill>
          <a:blip r:embed="rId4"/>
          <a:stretch>
            <a:fillRect/>
          </a:stretch>
        </p:blipFill>
        <p:spPr>
          <a:xfrm>
            <a:off x="666780" y="3428268"/>
            <a:ext cx="184343" cy="184343"/>
          </a:xfrm>
          <a:prstGeom prst="rect">
            <a:avLst/>
          </a:prstGeom>
        </p:spPr>
      </p:pic>
      <p:sp>
        <p:nvSpPr>
          <p:cNvPr id="14" name="Text 8"/>
          <p:cNvSpPr txBox="1"/>
          <p:nvPr/>
        </p:nvSpPr>
        <p:spPr>
          <a:xfrm>
            <a:off x="1115568" y="3300984"/>
            <a:ext cx="498348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Exceptions with a deadline.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Reps flag a specific line with a note; requests route to E60/E80 leadership and close with a written response. Window: 45 days after month end.</a:t>
            </a:r>
            <a:endParaRPr lang="en-US" sz="1300" dirty="0"/>
          </a:p>
        </p:txBody>
      </p:sp>
      <p:sp>
        <p:nvSpPr>
          <p:cNvPr id="15" name="Shape 9"/>
          <p:cNvSpPr/>
          <p:nvPr/>
        </p:nvSpPr>
        <p:spPr>
          <a:xfrm>
            <a:off x="566928" y="4178808"/>
            <a:ext cx="384048" cy="384048"/>
          </a:xfrm>
          <a:prstGeom prst="ellipse">
            <a:avLst/>
          </a:prstGeom>
          <a:solidFill>
            <a:srgbClr val="E3EFE5"/>
          </a:solidFill>
          <a:ln/>
        </p:spPr>
      </p:sp>
      <p:pic>
        <p:nvPicPr>
          <p:cNvPr id="16" name="Image 4" descr="/tmp/deck/icons/FiList-green.png">    </p:cNvPr>
          <p:cNvPicPr>
            <a:picLocks noChangeAspect="1"/>
          </p:cNvPicPr>
          <p:nvPr/>
        </p:nvPicPr>
        <p:blipFill>
          <a:blip r:embed="rId5"/>
          <a:stretch>
            <a:fillRect/>
          </a:stretch>
        </p:blipFill>
        <p:spPr>
          <a:xfrm>
            <a:off x="666780" y="4278660"/>
            <a:ext cx="184343" cy="184343"/>
          </a:xfrm>
          <a:prstGeom prst="rect">
            <a:avLst/>
          </a:prstGeom>
        </p:spPr>
      </p:pic>
      <p:sp>
        <p:nvSpPr>
          <p:cNvPr id="17" name="Text 10"/>
          <p:cNvSpPr txBox="1"/>
          <p:nvPr/>
        </p:nvSpPr>
        <p:spPr>
          <a:xfrm>
            <a:off x="1115568" y="4151376"/>
            <a:ext cx="498348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Omit a line, on the record.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Returns and stray artifacts can be omitted from pay with a required note — visible to the rep, never silent.</a:t>
            </a:r>
            <a:endParaRPr lang="en-US" sz="1300" dirty="0"/>
          </a:p>
        </p:txBody>
      </p:sp>
      <p:sp>
        <p:nvSpPr>
          <p:cNvPr id="18" name="Shape 11"/>
          <p:cNvSpPr/>
          <p:nvPr/>
        </p:nvSpPr>
        <p:spPr>
          <a:xfrm>
            <a:off x="6446520" y="1627632"/>
            <a:ext cx="384048" cy="384048"/>
          </a:xfrm>
          <a:prstGeom prst="ellipse">
            <a:avLst/>
          </a:prstGeom>
          <a:solidFill>
            <a:srgbClr val="E3EFE5"/>
          </a:solidFill>
          <a:ln/>
        </p:spPr>
      </p:sp>
      <p:pic>
        <p:nvPicPr>
          <p:cNvPr id="19" name="Image 5" descr="/tmp/deck/icons/FiSearch-green.png">    </p:cNvPr>
          <p:cNvPicPr>
            <a:picLocks noChangeAspect="1"/>
          </p:cNvPicPr>
          <p:nvPr/>
        </p:nvPicPr>
        <p:blipFill>
          <a:blip r:embed="rId6"/>
          <a:stretch>
            <a:fillRect/>
          </a:stretch>
        </p:blipFill>
        <p:spPr>
          <a:xfrm>
            <a:off x="6546372" y="1727484"/>
            <a:ext cx="184343" cy="184343"/>
          </a:xfrm>
          <a:prstGeom prst="rect">
            <a:avLst/>
          </a:prstGeom>
        </p:spPr>
      </p:pic>
      <p:sp>
        <p:nvSpPr>
          <p:cNvPr id="20" name="Text 12"/>
          <p:cNvSpPr txBox="1"/>
          <p:nvPr/>
        </p:nvSpPr>
        <p:spPr>
          <a:xfrm>
            <a:off x="6995160" y="1600200"/>
            <a:ext cx="466344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Unpaid detection.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Statements catch orders that haven't actually collected yet.</a:t>
            </a:r>
            <a:endParaRPr lang="en-US" sz="1300" dirty="0"/>
          </a:p>
        </p:txBody>
      </p:sp>
      <p:sp>
        <p:nvSpPr>
          <p:cNvPr id="21" name="Shape 13"/>
          <p:cNvSpPr/>
          <p:nvPr/>
        </p:nvSpPr>
        <p:spPr>
          <a:xfrm>
            <a:off x="6446520" y="2478024"/>
            <a:ext cx="384048" cy="384048"/>
          </a:xfrm>
          <a:prstGeom prst="ellipse">
            <a:avLst/>
          </a:prstGeom>
          <a:solidFill>
            <a:srgbClr val="E3EFE5"/>
          </a:solidFill>
          <a:ln/>
        </p:spPr>
      </p:sp>
      <p:pic>
        <p:nvPicPr>
          <p:cNvPr id="22" name="Image 6" descr="/tmp/deck/icons/FiFileText-green.png">    </p:cNvPr>
          <p:cNvPicPr>
            <a:picLocks noChangeAspect="1"/>
          </p:cNvPicPr>
          <p:nvPr/>
        </p:nvPicPr>
        <p:blipFill>
          <a:blip r:embed="rId7"/>
          <a:stretch>
            <a:fillRect/>
          </a:stretch>
        </p:blipFill>
        <p:spPr>
          <a:xfrm>
            <a:off x="6546372" y="2577876"/>
            <a:ext cx="184343" cy="184343"/>
          </a:xfrm>
          <a:prstGeom prst="rect">
            <a:avLst/>
          </a:prstGeom>
        </p:spPr>
      </p:pic>
      <p:sp>
        <p:nvSpPr>
          <p:cNvPr id="23" name="Text 14"/>
          <p:cNvSpPr txBox="1"/>
          <p:nvPr/>
        </p:nvSpPr>
        <p:spPr>
          <a:xfrm>
            <a:off x="6995160" y="2450592"/>
            <a:ext cx="466344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Cleaner imports.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Crystal and OE-23 parsing fixed and hardened; the old import path works again.</a:t>
            </a:r>
            <a:endParaRPr lang="en-US" sz="1300" dirty="0"/>
          </a:p>
        </p:txBody>
      </p:sp>
      <p:sp>
        <p:nvSpPr>
          <p:cNvPr id="24" name="Shape 15"/>
          <p:cNvSpPr/>
          <p:nvPr/>
        </p:nvSpPr>
        <p:spPr>
          <a:xfrm>
            <a:off x="6446520" y="3328416"/>
            <a:ext cx="384048" cy="384048"/>
          </a:xfrm>
          <a:prstGeom prst="ellipse">
            <a:avLst/>
          </a:prstGeom>
          <a:solidFill>
            <a:srgbClr val="E3EFE5"/>
          </a:solidFill>
          <a:ln/>
        </p:spPr>
      </p:sp>
      <p:pic>
        <p:nvPicPr>
          <p:cNvPr id="25" name="Image 7" descr="/tmp/deck/icons/FiStar-green.png">    </p:cNvPr>
          <p:cNvPicPr>
            <a:picLocks noChangeAspect="1"/>
          </p:cNvPicPr>
          <p:nvPr/>
        </p:nvPicPr>
        <p:blipFill>
          <a:blip r:embed="rId8"/>
          <a:stretch>
            <a:fillRect/>
          </a:stretch>
        </p:blipFill>
        <p:spPr>
          <a:xfrm>
            <a:off x="6546372" y="3428268"/>
            <a:ext cx="184343" cy="184343"/>
          </a:xfrm>
          <a:prstGeom prst="rect">
            <a:avLst/>
          </a:prstGeom>
        </p:spPr>
      </p:pic>
      <p:sp>
        <p:nvSpPr>
          <p:cNvPr id="26" name="Text 16"/>
          <p:cNvSpPr txBox="1"/>
          <p:nvPr/>
        </p:nvSpPr>
        <p:spPr>
          <a:xfrm>
            <a:off x="6995160" y="3300984"/>
            <a:ext cx="466344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Bonus module.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Bonus tracking joined the commission suite alongside the monthly statements.</a:t>
            </a:r>
            <a:endParaRPr lang="en-US" sz="1300" dirty="0"/>
          </a:p>
        </p:txBody>
      </p:sp>
      <p:sp>
        <p:nvSpPr>
          <p:cNvPr id="27" name="Shape 17"/>
          <p:cNvSpPr/>
          <p:nvPr/>
        </p:nvSpPr>
        <p:spPr>
          <a:xfrm>
            <a:off x="6446520" y="4151376"/>
            <a:ext cx="5212080" cy="914400"/>
          </a:xfrm>
          <a:prstGeom prst="roundRect">
            <a:avLst>
              <a:gd name="adj" fmla="val 6000"/>
            </a:avLst>
          </a:prstGeom>
          <a:solidFill>
            <a:srgbClr val="E3EFE5"/>
          </a:solidFill>
          <a:ln/>
        </p:spPr>
      </p:sp>
      <p:sp>
        <p:nvSpPr>
          <p:cNvPr id="28" name="Text 18"/>
          <p:cNvSpPr txBox="1"/>
          <p:nvPr/>
        </p:nvSpPr>
        <p:spPr>
          <a:xfrm>
            <a:off x="6629400" y="4261104"/>
            <a:ext cx="4846320" cy="685800"/>
          </a:xfrm>
          <a:prstGeom prst="rect">
            <a:avLst/>
          </a:prstGeom>
          <a:noFill/>
          <a:ln/>
        </p:spPr>
        <p:txBody>
          <a:bodyPr wrap="square" lIns="0" tIns="0" rIns="0" bIns="0" rtlCol="0" anchor="ctr"/>
          <a:lstStyle/>
          <a:p>
            <a:pPr indent="0" marL="0">
              <a:buNone/>
            </a:pPr>
            <a:r>
              <a:rPr lang="en-US" sz="1300" b="1" dirty="0">
                <a:solidFill>
                  <a:srgbClr val="1C5C34"/>
                </a:solidFill>
                <a:latin typeface="Calibri" pitchFamily="34" charset="0"/>
                <a:ea typeface="Calibri" pitchFamily="34" charset="-122"/>
                <a:cs typeface="Calibri" pitchFamily="34" charset="-120"/>
              </a:rPr>
              <a:t>For managers:  </a:t>
            </a:r>
            <a:pPr indent="0" marL="0">
              <a:buNone/>
            </a:pPr>
            <a:r>
              <a:rPr lang="en-US" sz="1300" dirty="0">
                <a:solidFill>
                  <a:srgbClr val="1F2937"/>
                </a:solidFill>
                <a:latin typeface="Calibri" pitchFamily="34" charset="0"/>
                <a:ea typeface="Calibri" pitchFamily="34" charset="-122"/>
                <a:cs typeface="Calibri" pitchFamily="34" charset="-120"/>
              </a:rPr>
              <a:t>post monthly, and disputes arrive as structured requests instead of hallway conversations.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566928" cy="566928"/>
          </a:xfrm>
          <a:prstGeom prst="ellipse">
            <a:avLst/>
          </a:prstGeom>
          <a:solidFill>
            <a:srgbClr val="1C5C34"/>
          </a:solidFill>
          <a:ln/>
        </p:spPr>
      </p:sp>
      <p:pic>
        <p:nvPicPr>
          <p:cNvPr id="3" name="Image 0" descr="/tmp/deck/icons/FiMessageSquare-white.png">    </p:cNvPr>
          <p:cNvPicPr>
            <a:picLocks noChangeAspect="1"/>
          </p:cNvPicPr>
          <p:nvPr/>
        </p:nvPicPr>
        <p:blipFill>
          <a:blip r:embed="rId1"/>
          <a:stretch>
            <a:fillRect/>
          </a:stretch>
        </p:blipFill>
        <p:spPr>
          <a:xfrm>
            <a:off x="696041" y="622889"/>
            <a:ext cx="272125" cy="272125"/>
          </a:xfrm>
          <a:prstGeom prst="rect">
            <a:avLst/>
          </a:prstGeom>
        </p:spPr>
      </p:pic>
      <p:sp>
        <p:nvSpPr>
          <p:cNvPr id="4" name="Text 1"/>
          <p:cNvSpPr txBox="1"/>
          <p:nvPr/>
        </p:nvSpPr>
        <p:spPr>
          <a:xfrm>
            <a:off x="1298448" y="384048"/>
            <a:ext cx="9601200" cy="274320"/>
          </a:xfrm>
          <a:prstGeom prst="rect">
            <a:avLst/>
          </a:prstGeom>
          <a:noFill/>
          <a:ln/>
        </p:spPr>
        <p:txBody>
          <a:bodyPr wrap="square" lIns="0" tIns="0" rIns="0" bIns="0" rtlCol="0" anchor="ctr"/>
          <a:lstStyle/>
          <a:p>
            <a:pPr indent="0" marL="0">
              <a:buNone/>
            </a:pPr>
            <a:r>
              <a:rPr lang="en-US" sz="1200" b="1" spc="300" kern="0" dirty="0">
                <a:solidFill>
                  <a:srgbClr val="1C5C34"/>
                </a:solidFill>
                <a:latin typeface="Calibri" pitchFamily="34" charset="0"/>
                <a:ea typeface="Calibri" pitchFamily="34" charset="-122"/>
                <a:cs typeface="Calibri" pitchFamily="34" charset="-120"/>
              </a:rPr>
              <a:t>THE COMMUNICATION BACKBONE</a:t>
            </a:r>
            <a:endParaRPr lang="en-US" sz="1200" dirty="0"/>
          </a:p>
        </p:txBody>
      </p:sp>
      <p:sp>
        <p:nvSpPr>
          <p:cNvPr id="5" name="Text 2"/>
          <p:cNvSpPr txBox="1"/>
          <p:nvPr/>
        </p:nvSpPr>
        <p:spPr>
          <a:xfrm>
            <a:off x="1298448" y="621792"/>
            <a:ext cx="10241280" cy="566928"/>
          </a:xfrm>
          <a:prstGeom prst="rect">
            <a:avLst/>
          </a:prstGeom>
          <a:noFill/>
          <a:ln/>
        </p:spPr>
        <p:txBody>
          <a:bodyPr wrap="square" lIns="0" tIns="0" rIns="0" bIns="0" rtlCol="0" anchor="ctr"/>
          <a:lstStyle/>
          <a:p>
            <a:pPr indent="0" marL="0">
              <a:buNone/>
            </a:pPr>
            <a:r>
              <a:rPr lang="en-US" sz="3100" b="1" dirty="0">
                <a:solidFill>
                  <a:srgbClr val="1F2937"/>
                </a:solidFill>
                <a:latin typeface="Cambria" pitchFamily="34" charset="0"/>
                <a:ea typeface="Cambria" pitchFamily="34" charset="-122"/>
                <a:cs typeface="Cambria" pitchFamily="34" charset="-120"/>
              </a:rPr>
              <a:t>Podium and email now work like one system.</a:t>
            </a:r>
            <a:endParaRPr lang="en-US" sz="3100" dirty="0"/>
          </a:p>
        </p:txBody>
      </p:sp>
      <p:sp>
        <p:nvSpPr>
          <p:cNvPr id="6" name="Shape 3"/>
          <p:cNvSpPr/>
          <p:nvPr/>
        </p:nvSpPr>
        <p:spPr>
          <a:xfrm>
            <a:off x="548640" y="1600200"/>
            <a:ext cx="5532120" cy="1920240"/>
          </a:xfrm>
          <a:prstGeom prst="roundRect">
            <a:avLst>
              <a:gd name="adj" fmla="val 3810"/>
            </a:avLst>
          </a:prstGeom>
          <a:solidFill>
            <a:srgbClr val="1C5C34"/>
          </a:solidFill>
          <a:ln/>
        </p:spPr>
      </p:sp>
      <p:sp>
        <p:nvSpPr>
          <p:cNvPr id="7" name="Shape 4"/>
          <p:cNvSpPr/>
          <p:nvPr/>
        </p:nvSpPr>
        <p:spPr>
          <a:xfrm>
            <a:off x="822960" y="1874520"/>
            <a:ext cx="457200" cy="457200"/>
          </a:xfrm>
          <a:prstGeom prst="ellipse">
            <a:avLst/>
          </a:prstGeom>
          <a:solidFill>
            <a:srgbClr val="FFFFFF"/>
          </a:solidFill>
          <a:ln/>
        </p:spPr>
      </p:sp>
      <p:pic>
        <p:nvPicPr>
          <p:cNvPr id="8" name="Image 1" descr="/tmp/deck/icons/FiSmartphone-green.png">    </p:cNvPr>
          <p:cNvPicPr>
            <a:picLocks noChangeAspect="1"/>
          </p:cNvPicPr>
          <p:nvPr/>
        </p:nvPicPr>
        <p:blipFill>
          <a:blip r:embed="rId2"/>
          <a:stretch>
            <a:fillRect/>
          </a:stretch>
        </p:blipFill>
        <p:spPr>
          <a:xfrm>
            <a:off x="941832" y="1993392"/>
            <a:ext cx="219456" cy="219456"/>
          </a:xfrm>
          <a:prstGeom prst="rect">
            <a:avLst/>
          </a:prstGeom>
        </p:spPr>
      </p:pic>
      <p:sp>
        <p:nvSpPr>
          <p:cNvPr id="9" name="Text 5"/>
          <p:cNvSpPr txBox="1"/>
          <p:nvPr/>
        </p:nvSpPr>
        <p:spPr>
          <a:xfrm>
            <a:off x="1463040" y="1874520"/>
            <a:ext cx="4343400" cy="45720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Texting from Agility is live</a:t>
            </a:r>
            <a:endParaRPr lang="en-US" sz="1550" dirty="0"/>
          </a:p>
        </p:txBody>
      </p:sp>
      <p:sp>
        <p:nvSpPr>
          <p:cNvPr id="10" name="Text 6"/>
          <p:cNvSpPr txBox="1"/>
          <p:nvPr/>
        </p:nvSpPr>
        <p:spPr>
          <a:xfrm>
            <a:off x="822960" y="2468880"/>
            <a:ext cx="4983480" cy="960120"/>
          </a:xfrm>
          <a:prstGeom prst="rect">
            <a:avLst/>
          </a:prstGeom>
          <a:noFill/>
          <a:ln/>
        </p:spPr>
        <p:txBody>
          <a:bodyPr wrap="square" lIns="0" tIns="0" rIns="0" bIns="0" rtlCol="0" anchor="ctr"/>
          <a:lstStyle/>
          <a:p>
            <a:pPr indent="0" marL="0">
              <a:lnSpc>
                <a:spcPct val="112000"/>
              </a:lnSpc>
              <a:buNone/>
            </a:pPr>
            <a:r>
              <a:rPr lang="en-US" sz="1250" dirty="0">
                <a:solidFill>
                  <a:srgbClr val="D9E8DD"/>
                </a:solidFill>
                <a:latin typeface="Calibri" pitchFamily="34" charset="0"/>
                <a:ea typeface="Calibri" pitchFamily="34" charset="-122"/>
                <a:cs typeface="Calibri" pitchFamily="34" charset="-120"/>
              </a:rPr>
              <a:t>The Podium connection is in production. Pay links, estimates, receipts, reminders, delivery heads-ups — all text from the showroom number, all one-click.</a:t>
            </a:r>
            <a:endParaRPr lang="en-US" sz="1250" dirty="0"/>
          </a:p>
        </p:txBody>
      </p:sp>
      <p:sp>
        <p:nvSpPr>
          <p:cNvPr id="11" name="Shape 7"/>
          <p:cNvSpPr/>
          <p:nvPr/>
        </p:nvSpPr>
        <p:spPr>
          <a:xfrm>
            <a:off x="6446520" y="1600200"/>
            <a:ext cx="5532120" cy="1920240"/>
          </a:xfrm>
          <a:prstGeom prst="roundRect">
            <a:avLst>
              <a:gd name="adj" fmla="val 3810"/>
            </a:avLst>
          </a:prstGeom>
          <a:solidFill>
            <a:srgbClr val="E3EFE5"/>
          </a:solidFill>
          <a:ln/>
        </p:spPr>
      </p:sp>
      <p:sp>
        <p:nvSpPr>
          <p:cNvPr id="12" name="Shape 8"/>
          <p:cNvSpPr/>
          <p:nvPr/>
        </p:nvSpPr>
        <p:spPr>
          <a:xfrm>
            <a:off x="6720840" y="1874520"/>
            <a:ext cx="457200" cy="457200"/>
          </a:xfrm>
          <a:prstGeom prst="ellipse">
            <a:avLst/>
          </a:prstGeom>
          <a:solidFill>
            <a:srgbClr val="1C5C34"/>
          </a:solidFill>
          <a:ln/>
        </p:spPr>
      </p:sp>
      <p:pic>
        <p:nvPicPr>
          <p:cNvPr id="13" name="Image 2" descr="/tmp/deck/icons/FiFileText-white.png">    </p:cNvPr>
          <p:cNvPicPr>
            <a:picLocks noChangeAspect="1"/>
          </p:cNvPicPr>
          <p:nvPr/>
        </p:nvPicPr>
        <p:blipFill>
          <a:blip r:embed="rId3"/>
          <a:stretch>
            <a:fillRect/>
          </a:stretch>
        </p:blipFill>
        <p:spPr>
          <a:xfrm>
            <a:off x="6839712" y="1993392"/>
            <a:ext cx="219456" cy="219456"/>
          </a:xfrm>
          <a:prstGeom prst="rect">
            <a:avLst/>
          </a:prstGeom>
        </p:spPr>
      </p:pic>
      <p:sp>
        <p:nvSpPr>
          <p:cNvPr id="14" name="Text 9"/>
          <p:cNvSpPr txBox="1"/>
          <p:nvPr/>
        </p:nvSpPr>
        <p:spPr>
          <a:xfrm>
            <a:off x="7360920" y="1874520"/>
            <a:ext cx="4343400" cy="457200"/>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The thread is the record</a:t>
            </a:r>
            <a:endParaRPr lang="en-US" sz="1550" dirty="0"/>
          </a:p>
        </p:txBody>
      </p:sp>
      <p:sp>
        <p:nvSpPr>
          <p:cNvPr id="15" name="Text 10"/>
          <p:cNvSpPr txBox="1"/>
          <p:nvPr/>
        </p:nvSpPr>
        <p:spPr>
          <a:xfrm>
            <a:off x="6720840" y="2468880"/>
            <a:ext cx="4983480" cy="960120"/>
          </a:xfrm>
          <a:prstGeom prst="rect">
            <a:avLst/>
          </a:prstGeom>
          <a:noFill/>
          <a:ln/>
        </p:spPr>
        <p:txBody>
          <a:bodyPr wrap="square" lIns="0" tIns="0" rIns="0" bIns="0" rtlCol="0" anchor="ctr"/>
          <a:lstStyle/>
          <a:p>
            <a:pPr indent="0" marL="0">
              <a:lnSpc>
                <a:spcPct val="112000"/>
              </a:lnSpc>
              <a:buNone/>
            </a:pPr>
            <a:r>
              <a:rPr lang="en-US" sz="1250" dirty="0">
                <a:solidFill>
                  <a:srgbClr val="5F6B63"/>
                </a:solidFill>
                <a:latin typeface="Calibri" pitchFamily="34" charset="0"/>
                <a:ea typeface="Calibri" pitchFamily="34" charset="-122"/>
                <a:cs typeface="Calibri" pitchFamily="34" charset="-120"/>
              </a:rPr>
              <a:t>Payments, receipts, estimate approvals, emails sent, DIBS claims — each drops an internal note on the customer's Podium thread. Anyone who opens it sees the whole story.</a:t>
            </a:r>
            <a:endParaRPr lang="en-US" sz="1250" dirty="0"/>
          </a:p>
        </p:txBody>
      </p:sp>
      <p:sp>
        <p:nvSpPr>
          <p:cNvPr id="16" name="Shape 11"/>
          <p:cNvSpPr/>
          <p:nvPr/>
        </p:nvSpPr>
        <p:spPr>
          <a:xfrm>
            <a:off x="548640" y="3749040"/>
            <a:ext cx="5532120" cy="1920240"/>
          </a:xfrm>
          <a:prstGeom prst="roundRect">
            <a:avLst>
              <a:gd name="adj" fmla="val 3810"/>
            </a:avLst>
          </a:prstGeom>
          <a:solidFill>
            <a:srgbClr val="E3EFE5"/>
          </a:solidFill>
          <a:ln/>
        </p:spPr>
      </p:sp>
      <p:sp>
        <p:nvSpPr>
          <p:cNvPr id="17" name="Shape 12"/>
          <p:cNvSpPr/>
          <p:nvPr/>
        </p:nvSpPr>
        <p:spPr>
          <a:xfrm>
            <a:off x="822960" y="4023360"/>
            <a:ext cx="457200" cy="457200"/>
          </a:xfrm>
          <a:prstGeom prst="ellipse">
            <a:avLst/>
          </a:prstGeom>
          <a:solidFill>
            <a:srgbClr val="1C5C34"/>
          </a:solidFill>
          <a:ln/>
        </p:spPr>
      </p:sp>
      <p:pic>
        <p:nvPicPr>
          <p:cNvPr id="18" name="Image 3" descr="/tmp/deck/icons/FiMail-white.png">    </p:cNvPr>
          <p:cNvPicPr>
            <a:picLocks noChangeAspect="1"/>
          </p:cNvPicPr>
          <p:nvPr/>
        </p:nvPicPr>
        <p:blipFill>
          <a:blip r:embed="rId4"/>
          <a:stretch>
            <a:fillRect/>
          </a:stretch>
        </p:blipFill>
        <p:spPr>
          <a:xfrm>
            <a:off x="941832" y="4142232"/>
            <a:ext cx="219456" cy="219456"/>
          </a:xfrm>
          <a:prstGeom prst="rect">
            <a:avLst/>
          </a:prstGeom>
        </p:spPr>
      </p:pic>
      <p:sp>
        <p:nvSpPr>
          <p:cNvPr id="19" name="Text 13"/>
          <p:cNvSpPr txBox="1"/>
          <p:nvPr/>
        </p:nvSpPr>
        <p:spPr>
          <a:xfrm>
            <a:off x="1463040" y="4023360"/>
            <a:ext cx="4343400" cy="457200"/>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Replies come back to the sender</a:t>
            </a:r>
            <a:endParaRPr lang="en-US" sz="1550" dirty="0"/>
          </a:p>
        </p:txBody>
      </p:sp>
      <p:sp>
        <p:nvSpPr>
          <p:cNvPr id="20" name="Text 14"/>
          <p:cNvSpPr txBox="1"/>
          <p:nvPr/>
        </p:nvSpPr>
        <p:spPr>
          <a:xfrm>
            <a:off x="822960" y="4617720"/>
            <a:ext cx="4983480" cy="960120"/>
          </a:xfrm>
          <a:prstGeom prst="rect">
            <a:avLst/>
          </a:prstGeom>
          <a:noFill/>
          <a:ln/>
        </p:spPr>
        <p:txBody>
          <a:bodyPr wrap="square" lIns="0" tIns="0" rIns="0" bIns="0" rtlCol="0" anchor="ctr"/>
          <a:lstStyle/>
          <a:p>
            <a:pPr indent="0" marL="0">
              <a:lnSpc>
                <a:spcPct val="112000"/>
              </a:lnSpc>
              <a:buNone/>
            </a:pPr>
            <a:r>
              <a:rPr lang="en-US" sz="1250" dirty="0">
                <a:solidFill>
                  <a:srgbClr val="5F6B63"/>
                </a:solidFill>
                <a:latin typeface="Calibri" pitchFamily="34" charset="0"/>
                <a:ea typeface="Calibri" pitchFamily="34" charset="-122"/>
                <a:cs typeface="Calibri" pitchFamily="34" charset="-120"/>
              </a:rPr>
              <a:t>Every email a person clicks to send carries their address as reply-to. Clients reply to Will, not to no-reply.</a:t>
            </a:r>
            <a:endParaRPr lang="en-US" sz="1250" dirty="0"/>
          </a:p>
        </p:txBody>
      </p:sp>
      <p:sp>
        <p:nvSpPr>
          <p:cNvPr id="21" name="Shape 15"/>
          <p:cNvSpPr/>
          <p:nvPr/>
        </p:nvSpPr>
        <p:spPr>
          <a:xfrm>
            <a:off x="6446520" y="3749040"/>
            <a:ext cx="5532120" cy="1920240"/>
          </a:xfrm>
          <a:prstGeom prst="roundRect">
            <a:avLst>
              <a:gd name="adj" fmla="val 3810"/>
            </a:avLst>
          </a:prstGeom>
          <a:solidFill>
            <a:srgbClr val="E3EFE5"/>
          </a:solidFill>
          <a:ln/>
        </p:spPr>
      </p:sp>
      <p:sp>
        <p:nvSpPr>
          <p:cNvPr id="22" name="Shape 16"/>
          <p:cNvSpPr/>
          <p:nvPr/>
        </p:nvSpPr>
        <p:spPr>
          <a:xfrm>
            <a:off x="6720840" y="4023360"/>
            <a:ext cx="457200" cy="457200"/>
          </a:xfrm>
          <a:prstGeom prst="ellipse">
            <a:avLst/>
          </a:prstGeom>
          <a:solidFill>
            <a:srgbClr val="1C5C34"/>
          </a:solidFill>
          <a:ln/>
        </p:spPr>
      </p:sp>
      <p:pic>
        <p:nvPicPr>
          <p:cNvPr id="23" name="Image 4" descr="/tmp/deck/icons/FiThumbsUp-white.png">    </p:cNvPr>
          <p:cNvPicPr>
            <a:picLocks noChangeAspect="1"/>
          </p:cNvPicPr>
          <p:nvPr/>
        </p:nvPicPr>
        <p:blipFill>
          <a:blip r:embed="rId5"/>
          <a:stretch>
            <a:fillRect/>
          </a:stretch>
        </p:blipFill>
        <p:spPr>
          <a:xfrm>
            <a:off x="6839712" y="4142232"/>
            <a:ext cx="219456" cy="219456"/>
          </a:xfrm>
          <a:prstGeom prst="rect">
            <a:avLst/>
          </a:prstGeom>
        </p:spPr>
      </p:pic>
      <p:sp>
        <p:nvSpPr>
          <p:cNvPr id="24" name="Text 17"/>
          <p:cNvSpPr txBox="1"/>
          <p:nvPr/>
        </p:nvSpPr>
        <p:spPr>
          <a:xfrm>
            <a:off x="7360920" y="4023360"/>
            <a:ext cx="4343400" cy="457200"/>
          </a:xfrm>
          <a:prstGeom prst="rect">
            <a:avLst/>
          </a:prstGeom>
          <a:noFill/>
          <a:ln/>
        </p:spPr>
        <p:txBody>
          <a:bodyPr wrap="square" lIns="0" tIns="0" rIns="0" bIns="0" rtlCol="0" anchor="ctr"/>
          <a:lstStyle/>
          <a:p>
            <a:pPr indent="0" marL="0">
              <a:buNone/>
            </a:pPr>
            <a:r>
              <a:rPr lang="en-US" sz="1550" b="1" dirty="0">
                <a:solidFill>
                  <a:srgbClr val="1F2937"/>
                </a:solidFill>
                <a:latin typeface="Calibri" pitchFamily="34" charset="0"/>
                <a:ea typeface="Calibri" pitchFamily="34" charset="-122"/>
                <a:cs typeface="Calibri" pitchFamily="34" charset="-120"/>
              </a:rPr>
              <a:t>Emails sound like us now</a:t>
            </a:r>
            <a:endParaRPr lang="en-US" sz="1550" dirty="0"/>
          </a:p>
        </p:txBody>
      </p:sp>
      <p:sp>
        <p:nvSpPr>
          <p:cNvPr id="25" name="Text 18"/>
          <p:cNvSpPr txBox="1"/>
          <p:nvPr/>
        </p:nvSpPr>
        <p:spPr>
          <a:xfrm>
            <a:off x="6720840" y="4617720"/>
            <a:ext cx="4983480" cy="960120"/>
          </a:xfrm>
          <a:prstGeom prst="rect">
            <a:avLst/>
          </a:prstGeom>
          <a:noFill/>
          <a:ln/>
        </p:spPr>
        <p:txBody>
          <a:bodyPr wrap="square" lIns="0" tIns="0" rIns="0" bIns="0" rtlCol="0" anchor="ctr"/>
          <a:lstStyle/>
          <a:p>
            <a:pPr indent="0" marL="0">
              <a:lnSpc>
                <a:spcPct val="112000"/>
              </a:lnSpc>
              <a:buNone/>
            </a:pPr>
            <a:r>
              <a:rPr lang="en-US" sz="1250" dirty="0">
                <a:solidFill>
                  <a:srgbClr val="5F6B63"/>
                </a:solidFill>
                <a:latin typeface="Calibri" pitchFamily="34" charset="0"/>
                <a:ea typeface="Calibri" pitchFamily="34" charset="-122"/>
                <a:cs typeface="Calibri" pitchFamily="34" charset="-120"/>
              </a:rPr>
              <a:t>The builder-credit result email was rewritten in our own voice, with the terms PDF attached — and like everything else, it sends on a click, never automatically.</a:t>
            </a:r>
            <a:endParaRPr lang="en-US" sz="1250" dirty="0"/>
          </a:p>
        </p:txBody>
      </p:sp>
      <p:sp>
        <p:nvSpPr>
          <p:cNvPr id="26" name="Text 19"/>
          <p:cNvSpPr txBox="1"/>
          <p:nvPr/>
        </p:nvSpPr>
        <p:spPr>
          <a:xfrm>
            <a:off x="566928" y="5806440"/>
            <a:ext cx="11064240" cy="365760"/>
          </a:xfrm>
          <a:prstGeom prst="rect">
            <a:avLst/>
          </a:prstGeom>
          <a:noFill/>
          <a:ln/>
        </p:spPr>
        <p:txBody>
          <a:bodyPr wrap="square" lIns="0" tIns="0" rIns="0" bIns="0" rtlCol="0" anchor="ctr"/>
          <a:lstStyle/>
          <a:p>
            <a:pPr algn="ctr" indent="0" marL="0">
              <a:buNone/>
            </a:pPr>
            <a:r>
              <a:rPr lang="en-US" sz="1300" i="1" dirty="0">
                <a:solidFill>
                  <a:srgbClr val="1C5C34"/>
                </a:solidFill>
                <a:latin typeface="Calibri" pitchFamily="34" charset="0"/>
                <a:ea typeface="Calibri" pitchFamily="34" charset="-122"/>
                <a:cs typeface="Calibri" pitchFamily="34" charset="-120"/>
              </a:rPr>
              <a:t>Standing rule: no customer hears from us unless a person clicked, or a manager explicitly turned the toggle 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566928" cy="566928"/>
          </a:xfrm>
          <a:prstGeom prst="ellipse">
            <a:avLst/>
          </a:prstGeom>
          <a:solidFill>
            <a:srgbClr val="1C5C34"/>
          </a:solidFill>
          <a:ln/>
        </p:spPr>
      </p:sp>
      <p:pic>
        <p:nvPicPr>
          <p:cNvPr id="3" name="Image 0" descr="/tmp/deck/icons/FiTruck-white.png">    </p:cNvPr>
          <p:cNvPicPr>
            <a:picLocks noChangeAspect="1"/>
          </p:cNvPicPr>
          <p:nvPr/>
        </p:nvPicPr>
        <p:blipFill>
          <a:blip r:embed="rId1"/>
          <a:stretch>
            <a:fillRect/>
          </a:stretch>
        </p:blipFill>
        <p:spPr>
          <a:xfrm>
            <a:off x="696041" y="622889"/>
            <a:ext cx="272125" cy="272125"/>
          </a:xfrm>
          <a:prstGeom prst="rect">
            <a:avLst/>
          </a:prstGeom>
        </p:spPr>
      </p:pic>
      <p:sp>
        <p:nvSpPr>
          <p:cNvPr id="4" name="Text 1"/>
          <p:cNvSpPr txBox="1"/>
          <p:nvPr/>
        </p:nvSpPr>
        <p:spPr>
          <a:xfrm>
            <a:off x="1298448" y="384048"/>
            <a:ext cx="9601200" cy="274320"/>
          </a:xfrm>
          <a:prstGeom prst="rect">
            <a:avLst/>
          </a:prstGeom>
          <a:noFill/>
          <a:ln/>
        </p:spPr>
        <p:txBody>
          <a:bodyPr wrap="square" lIns="0" tIns="0" rIns="0" bIns="0" rtlCol="0" anchor="ctr"/>
          <a:lstStyle/>
          <a:p>
            <a:pPr indent="0" marL="0">
              <a:buNone/>
            </a:pPr>
            <a:r>
              <a:rPr lang="en-US" sz="1200" b="1" spc="300" kern="0" dirty="0">
                <a:solidFill>
                  <a:srgbClr val="1C5C34"/>
                </a:solidFill>
                <a:latin typeface="Calibri" pitchFamily="34" charset="0"/>
                <a:ea typeface="Calibri" pitchFamily="34" charset="-122"/>
                <a:cs typeface="Calibri" pitchFamily="34" charset="-120"/>
              </a:rPr>
              <a:t>OPERATIONS &amp; VISIBILITY</a:t>
            </a:r>
            <a:endParaRPr lang="en-US" sz="1200" dirty="0"/>
          </a:p>
        </p:txBody>
      </p:sp>
      <p:sp>
        <p:nvSpPr>
          <p:cNvPr id="5" name="Text 2"/>
          <p:cNvSpPr txBox="1"/>
          <p:nvPr/>
        </p:nvSpPr>
        <p:spPr>
          <a:xfrm>
            <a:off x="1298448" y="621792"/>
            <a:ext cx="10241280" cy="566928"/>
          </a:xfrm>
          <a:prstGeom prst="rect">
            <a:avLst/>
          </a:prstGeom>
          <a:noFill/>
          <a:ln/>
        </p:spPr>
        <p:txBody>
          <a:bodyPr wrap="square" lIns="0" tIns="0" rIns="0" bIns="0" rtlCol="0" anchor="ctr"/>
          <a:lstStyle/>
          <a:p>
            <a:pPr indent="0" marL="0">
              <a:buNone/>
            </a:pPr>
            <a:r>
              <a:rPr lang="en-US" sz="3100" b="1" dirty="0">
                <a:solidFill>
                  <a:srgbClr val="1F2937"/>
                </a:solidFill>
                <a:latin typeface="Cambria" pitchFamily="34" charset="0"/>
                <a:ea typeface="Cambria" pitchFamily="34" charset="-122"/>
                <a:cs typeface="Cambria" pitchFamily="34" charset="-120"/>
              </a:rPr>
              <a:t>Fewer mysteries, earlier warnings.</a:t>
            </a:r>
            <a:endParaRPr lang="en-US" sz="3100" dirty="0"/>
          </a:p>
        </p:txBody>
      </p:sp>
      <p:sp>
        <p:nvSpPr>
          <p:cNvPr id="6" name="Shape 3"/>
          <p:cNvSpPr/>
          <p:nvPr/>
        </p:nvSpPr>
        <p:spPr>
          <a:xfrm>
            <a:off x="566928" y="1627632"/>
            <a:ext cx="384048" cy="384048"/>
          </a:xfrm>
          <a:prstGeom prst="ellipse">
            <a:avLst/>
          </a:prstGeom>
          <a:solidFill>
            <a:srgbClr val="E3EFE5"/>
          </a:solidFill>
          <a:ln/>
        </p:spPr>
      </p:sp>
      <p:pic>
        <p:nvPicPr>
          <p:cNvPr id="7" name="Image 1" descr="/tmp/deck/icons/FiTruck-green.png">    </p:cNvPr>
          <p:cNvPicPr>
            <a:picLocks noChangeAspect="1"/>
          </p:cNvPicPr>
          <p:nvPr/>
        </p:nvPicPr>
        <p:blipFill>
          <a:blip r:embed="rId2"/>
          <a:stretch>
            <a:fillRect/>
          </a:stretch>
        </p:blipFill>
        <p:spPr>
          <a:xfrm>
            <a:off x="666780" y="1727484"/>
            <a:ext cx="184343" cy="184343"/>
          </a:xfrm>
          <a:prstGeom prst="rect">
            <a:avLst/>
          </a:prstGeom>
        </p:spPr>
      </p:pic>
      <p:sp>
        <p:nvSpPr>
          <p:cNvPr id="8" name="Text 4"/>
          <p:cNvSpPr txBox="1"/>
          <p:nvPr/>
        </p:nvSpPr>
        <p:spPr>
          <a:xfrm>
            <a:off x="1115568" y="1600200"/>
            <a:ext cx="498348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Delivery routing v0.1.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Runs and stops in Agility, tied to Samsara — as the truck rolls, the next customer gets their heads-up text.</a:t>
            </a:r>
            <a:endParaRPr lang="en-US" sz="1300" dirty="0"/>
          </a:p>
        </p:txBody>
      </p:sp>
      <p:sp>
        <p:nvSpPr>
          <p:cNvPr id="9" name="Shape 5"/>
          <p:cNvSpPr/>
          <p:nvPr/>
        </p:nvSpPr>
        <p:spPr>
          <a:xfrm>
            <a:off x="566928" y="2478024"/>
            <a:ext cx="384048" cy="384048"/>
          </a:xfrm>
          <a:prstGeom prst="ellipse">
            <a:avLst/>
          </a:prstGeom>
          <a:solidFill>
            <a:srgbClr val="E3EFE5"/>
          </a:solidFill>
          <a:ln/>
        </p:spPr>
      </p:sp>
      <p:pic>
        <p:nvPicPr>
          <p:cNvPr id="10" name="Image 2" descr="/tmp/deck/icons/FiFlag-green.png">    </p:cNvPr>
          <p:cNvPicPr>
            <a:picLocks noChangeAspect="1"/>
          </p:cNvPicPr>
          <p:nvPr/>
        </p:nvPicPr>
        <p:blipFill>
          <a:blip r:embed="rId3"/>
          <a:stretch>
            <a:fillRect/>
          </a:stretch>
        </p:blipFill>
        <p:spPr>
          <a:xfrm>
            <a:off x="666780" y="2577876"/>
            <a:ext cx="184343" cy="184343"/>
          </a:xfrm>
          <a:prstGeom prst="rect">
            <a:avLst/>
          </a:prstGeom>
        </p:spPr>
      </p:pic>
      <p:sp>
        <p:nvSpPr>
          <p:cNvPr id="11" name="Text 6"/>
          <p:cNvSpPr txBox="1"/>
          <p:nvPr/>
        </p:nvSpPr>
        <p:spPr>
          <a:xfrm>
            <a:off x="1115568" y="2450592"/>
            <a:ext cx="498348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Service order health flags.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Aging and at-risk service orders surface on the dashboard instead of hiding in the queue.</a:t>
            </a:r>
            <a:endParaRPr lang="en-US" sz="1300" dirty="0"/>
          </a:p>
        </p:txBody>
      </p:sp>
      <p:sp>
        <p:nvSpPr>
          <p:cNvPr id="12" name="Shape 7"/>
          <p:cNvSpPr/>
          <p:nvPr/>
        </p:nvSpPr>
        <p:spPr>
          <a:xfrm>
            <a:off x="566928" y="3328416"/>
            <a:ext cx="384048" cy="384048"/>
          </a:xfrm>
          <a:prstGeom prst="ellipse">
            <a:avLst/>
          </a:prstGeom>
          <a:solidFill>
            <a:srgbClr val="E3EFE5"/>
          </a:solidFill>
          <a:ln/>
        </p:spPr>
      </p:sp>
      <p:pic>
        <p:nvPicPr>
          <p:cNvPr id="13" name="Image 3" descr="/tmp/deck/icons/FiClock-green.png">    </p:cNvPr>
          <p:cNvPicPr>
            <a:picLocks noChangeAspect="1"/>
          </p:cNvPicPr>
          <p:nvPr/>
        </p:nvPicPr>
        <p:blipFill>
          <a:blip r:embed="rId4"/>
          <a:stretch>
            <a:fillRect/>
          </a:stretch>
        </p:blipFill>
        <p:spPr>
          <a:xfrm>
            <a:off x="666780" y="3428268"/>
            <a:ext cx="184343" cy="184343"/>
          </a:xfrm>
          <a:prstGeom prst="rect">
            <a:avLst/>
          </a:prstGeom>
        </p:spPr>
      </p:pic>
      <p:sp>
        <p:nvSpPr>
          <p:cNvPr id="14" name="Text 8"/>
          <p:cNvSpPr txBox="1"/>
          <p:nvPr/>
        </p:nvSpPr>
        <p:spPr>
          <a:xfrm>
            <a:off x="1115568" y="3300984"/>
            <a:ext cx="498348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Aging inventory reporting.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OE-23 open sales orders and aging snapshots, imported and reportable.</a:t>
            </a:r>
            <a:endParaRPr lang="en-US" sz="1300" dirty="0"/>
          </a:p>
        </p:txBody>
      </p:sp>
      <p:sp>
        <p:nvSpPr>
          <p:cNvPr id="15" name="Shape 9"/>
          <p:cNvSpPr/>
          <p:nvPr/>
        </p:nvSpPr>
        <p:spPr>
          <a:xfrm>
            <a:off x="6446520" y="1627632"/>
            <a:ext cx="384048" cy="384048"/>
          </a:xfrm>
          <a:prstGeom prst="ellipse">
            <a:avLst/>
          </a:prstGeom>
          <a:solidFill>
            <a:srgbClr val="E3EFE5"/>
          </a:solidFill>
          <a:ln/>
        </p:spPr>
      </p:sp>
      <p:pic>
        <p:nvPicPr>
          <p:cNvPr id="16" name="Image 4" descr="/tmp/deck/icons/FiShield-green.png">    </p:cNvPr>
          <p:cNvPicPr>
            <a:picLocks noChangeAspect="1"/>
          </p:cNvPicPr>
          <p:nvPr/>
        </p:nvPicPr>
        <p:blipFill>
          <a:blip r:embed="rId5"/>
          <a:stretch>
            <a:fillRect/>
          </a:stretch>
        </p:blipFill>
        <p:spPr>
          <a:xfrm>
            <a:off x="6546372" y="1727484"/>
            <a:ext cx="184343" cy="184343"/>
          </a:xfrm>
          <a:prstGeom prst="rect">
            <a:avLst/>
          </a:prstGeom>
        </p:spPr>
      </p:pic>
      <p:sp>
        <p:nvSpPr>
          <p:cNvPr id="17" name="Text 10"/>
          <p:cNvSpPr txBox="1"/>
          <p:nvPr/>
        </p:nvSpPr>
        <p:spPr>
          <a:xfrm>
            <a:off x="6995160" y="1600200"/>
            <a:ext cx="466344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Service request audit trail.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Every save, submit, claim, and auto-archive is stamped with who and when. “What touched this June call?” now has an answer.</a:t>
            </a:r>
            <a:endParaRPr lang="en-US" sz="1300" dirty="0"/>
          </a:p>
        </p:txBody>
      </p:sp>
      <p:sp>
        <p:nvSpPr>
          <p:cNvPr id="18" name="Shape 11"/>
          <p:cNvSpPr/>
          <p:nvPr/>
        </p:nvSpPr>
        <p:spPr>
          <a:xfrm>
            <a:off x="6446520" y="2478024"/>
            <a:ext cx="384048" cy="384048"/>
          </a:xfrm>
          <a:prstGeom prst="ellipse">
            <a:avLst/>
          </a:prstGeom>
          <a:solidFill>
            <a:srgbClr val="E3EFE5"/>
          </a:solidFill>
          <a:ln/>
        </p:spPr>
      </p:sp>
      <p:pic>
        <p:nvPicPr>
          <p:cNvPr id="19" name="Image 5" descr="/tmp/deck/icons/FiDollarSign-green.png">    </p:cNvPr>
          <p:cNvPicPr>
            <a:picLocks noChangeAspect="1"/>
          </p:cNvPicPr>
          <p:nvPr/>
        </p:nvPicPr>
        <p:blipFill>
          <a:blip r:embed="rId6"/>
          <a:stretch>
            <a:fillRect/>
          </a:stretch>
        </p:blipFill>
        <p:spPr>
          <a:xfrm>
            <a:off x="6546372" y="2577876"/>
            <a:ext cx="184343" cy="184343"/>
          </a:xfrm>
          <a:prstGeom prst="rect">
            <a:avLst/>
          </a:prstGeom>
        </p:spPr>
      </p:pic>
      <p:sp>
        <p:nvSpPr>
          <p:cNvPr id="20" name="Text 12"/>
          <p:cNvSpPr txBox="1"/>
          <p:nvPr/>
        </p:nvSpPr>
        <p:spPr>
          <a:xfrm>
            <a:off x="6995160" y="2450592"/>
            <a:ext cx="466344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Day-at-a-glance revenue.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The Stripe summary shows collected, refunds, and per-department net for the day.</a:t>
            </a:r>
            <a:endParaRPr lang="en-US" sz="1300" dirty="0"/>
          </a:p>
        </p:txBody>
      </p:sp>
      <p:sp>
        <p:nvSpPr>
          <p:cNvPr id="21" name="Shape 13"/>
          <p:cNvSpPr/>
          <p:nvPr/>
        </p:nvSpPr>
        <p:spPr>
          <a:xfrm>
            <a:off x="6446520" y="3328416"/>
            <a:ext cx="384048" cy="384048"/>
          </a:xfrm>
          <a:prstGeom prst="ellipse">
            <a:avLst/>
          </a:prstGeom>
          <a:solidFill>
            <a:srgbClr val="E3EFE5"/>
          </a:solidFill>
          <a:ln/>
        </p:spPr>
      </p:sp>
      <p:pic>
        <p:nvPicPr>
          <p:cNvPr id="22" name="Image 6" descr="/tmp/deck/icons/FiUsers-green.png">    </p:cNvPr>
          <p:cNvPicPr>
            <a:picLocks noChangeAspect="1"/>
          </p:cNvPicPr>
          <p:nvPr/>
        </p:nvPicPr>
        <p:blipFill>
          <a:blip r:embed="rId7"/>
          <a:stretch>
            <a:fillRect/>
          </a:stretch>
        </p:blipFill>
        <p:spPr>
          <a:xfrm>
            <a:off x="6546372" y="3428268"/>
            <a:ext cx="184343" cy="184343"/>
          </a:xfrm>
          <a:prstGeom prst="rect">
            <a:avLst/>
          </a:prstGeom>
        </p:spPr>
      </p:pic>
      <p:sp>
        <p:nvSpPr>
          <p:cNvPr id="23" name="Text 14"/>
          <p:cNvSpPr txBox="1"/>
          <p:nvPr/>
        </p:nvSpPr>
        <p:spPr>
          <a:xfrm>
            <a:off x="6995160" y="3300984"/>
            <a:ext cx="4663440" cy="566928"/>
          </a:xfrm>
          <a:prstGeom prst="rect">
            <a:avLst/>
          </a:prstGeom>
          <a:noFill/>
          <a:ln/>
        </p:spPr>
        <p:txBody>
          <a:bodyPr wrap="square" lIns="0" tIns="0" rIns="0" bIns="0" rtlCol="0" anchor="t"/>
          <a:lstStyle/>
          <a:p>
            <a:pPr indent="0" marL="0">
              <a:lnSpc>
                <a:spcPct val="104000"/>
              </a:lnSpc>
              <a:buNone/>
            </a:pPr>
            <a:r>
              <a:rPr lang="en-US" sz="1300" b="1" dirty="0">
                <a:solidFill>
                  <a:srgbClr val="1F2937"/>
                </a:solidFill>
                <a:latin typeface="Calibri" pitchFamily="34" charset="0"/>
                <a:ea typeface="Calibri" pitchFamily="34" charset="-122"/>
                <a:cs typeface="Calibri" pitchFamily="34" charset="-120"/>
              </a:rPr>
              <a:t>Directory &amp; job codes overhauled.  </a:t>
            </a:r>
            <a:pPr indent="0" marL="0">
              <a:lnSpc>
                <a:spcPct val="104000"/>
              </a:lnSpc>
              <a:buNone/>
            </a:pPr>
            <a:r>
              <a:rPr lang="en-US" sz="1300" dirty="0">
                <a:solidFill>
                  <a:srgbClr val="5F6B63"/>
                </a:solidFill>
                <a:latin typeface="Calibri" pitchFamily="34" charset="0"/>
                <a:ea typeface="Calibri" pitchFamily="34" charset="-122"/>
                <a:cs typeface="Calibri" pitchFamily="34" charset="-120"/>
              </a:rPr>
              <a:t>Departments and job titles carry codes (E/NE, numeric order) — dropdown chaos replaced with grouped, sorted lists.</a:t>
            </a:r>
            <a:endParaRPr lang="en-US" sz="1300" dirty="0"/>
          </a:p>
        </p:txBody>
      </p:sp>
      <p:sp>
        <p:nvSpPr>
          <p:cNvPr id="24" name="Shape 15"/>
          <p:cNvSpPr/>
          <p:nvPr/>
        </p:nvSpPr>
        <p:spPr>
          <a:xfrm>
            <a:off x="566928" y="4434840"/>
            <a:ext cx="11091672" cy="1371600"/>
          </a:xfrm>
          <a:prstGeom prst="roundRect">
            <a:avLst>
              <a:gd name="adj" fmla="val 5333"/>
            </a:avLst>
          </a:prstGeom>
          <a:solidFill>
            <a:srgbClr val="1F2937"/>
          </a:solidFill>
          <a:ln/>
        </p:spPr>
      </p:sp>
      <p:sp>
        <p:nvSpPr>
          <p:cNvPr id="25" name="Shape 16"/>
          <p:cNvSpPr/>
          <p:nvPr/>
        </p:nvSpPr>
        <p:spPr>
          <a:xfrm>
            <a:off x="886968" y="4709160"/>
            <a:ext cx="457200" cy="457200"/>
          </a:xfrm>
          <a:prstGeom prst="ellipse">
            <a:avLst/>
          </a:prstGeom>
          <a:solidFill>
            <a:srgbClr val="1C5C34"/>
          </a:solidFill>
          <a:ln/>
        </p:spPr>
      </p:sp>
      <p:pic>
        <p:nvPicPr>
          <p:cNvPr id="26" name="Image 7" descr="/tmp/deck/icons/FiTool-white.png">    </p:cNvPr>
          <p:cNvPicPr>
            <a:picLocks noChangeAspect="1"/>
          </p:cNvPicPr>
          <p:nvPr/>
        </p:nvPicPr>
        <p:blipFill>
          <a:blip r:embed="rId8"/>
          <a:stretch>
            <a:fillRect/>
          </a:stretch>
        </p:blipFill>
        <p:spPr>
          <a:xfrm>
            <a:off x="1005840" y="4828032"/>
            <a:ext cx="219456" cy="219456"/>
          </a:xfrm>
          <a:prstGeom prst="rect">
            <a:avLst/>
          </a:prstGeom>
        </p:spPr>
      </p:pic>
      <p:sp>
        <p:nvSpPr>
          <p:cNvPr id="27" name="Text 17"/>
          <p:cNvSpPr txBox="1"/>
          <p:nvPr/>
        </p:nvSpPr>
        <p:spPr>
          <a:xfrm>
            <a:off x="1527048" y="4617720"/>
            <a:ext cx="9875520" cy="1051560"/>
          </a:xfrm>
          <a:prstGeom prst="rect">
            <a:avLst/>
          </a:prstGeom>
          <a:noFill/>
          <a:ln/>
        </p:spPr>
        <p:txBody>
          <a:bodyPr wrap="square" lIns="0" tIns="0" rIns="0" bIns="0" rtlCol="0" anchor="ctr"/>
          <a:lstStyle/>
          <a:p>
            <a:pPr indent="0" marL="0">
              <a:lnSpc>
                <a:spcPct val="112000"/>
              </a:lnSpc>
              <a:buNone/>
            </a:pPr>
            <a:r>
              <a:rPr lang="en-US" sz="1250" b="1" dirty="0">
                <a:solidFill>
                  <a:srgbClr val="FFFFFF"/>
                </a:solidFill>
                <a:latin typeface="Calibri" pitchFamily="34" charset="0"/>
                <a:ea typeface="Calibri" pitchFamily="34" charset="-122"/>
                <a:cs typeface="Calibri" pitchFamily="34" charset="-120"/>
              </a:rPr>
              <a:t>In the pilot lane — Maintenance Plans (Test Modules).  </a:t>
            </a:r>
            <a:pPr indent="0" marL="0">
              <a:lnSpc>
                <a:spcPct val="112000"/>
              </a:lnSpc>
              <a:buNone/>
            </a:pPr>
            <a:r>
              <a:rPr lang="en-US" sz="1250" dirty="0">
                <a:solidFill>
                  <a:srgbClr val="D9E8DD"/>
                </a:solidFill>
                <a:latin typeface="Calibri" pitchFamily="34" charset="0"/>
                <a:ea typeface="Calibri" pitchFamily="34" charset="-122"/>
                <a:cs typeface="Calibri" pitchFamily="34" charset="-120"/>
              </a:rPr>
              <a:t>Cayden's maintenance-plan portal is mounted in Agility as a pilot: plan setup, asset tracking, and an invoice scanner that reads our real Wilson invoices field-for-field. Managers can preview it under Test Modules before we commit it to Postgres.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566928" cy="566928"/>
          </a:xfrm>
          <a:prstGeom prst="ellipse">
            <a:avLst/>
          </a:prstGeom>
          <a:solidFill>
            <a:srgbClr val="1C5C34"/>
          </a:solidFill>
          <a:ln/>
        </p:spPr>
      </p:sp>
      <p:pic>
        <p:nvPicPr>
          <p:cNvPr id="3" name="Image 0" descr="/tmp/deck/icons/FiCheckCircle-white.png">    </p:cNvPr>
          <p:cNvPicPr>
            <a:picLocks noChangeAspect="1"/>
          </p:cNvPicPr>
          <p:nvPr/>
        </p:nvPicPr>
        <p:blipFill>
          <a:blip r:embed="rId1"/>
          <a:stretch>
            <a:fillRect/>
          </a:stretch>
        </p:blipFill>
        <p:spPr>
          <a:xfrm>
            <a:off x="696041" y="622889"/>
            <a:ext cx="272125" cy="272125"/>
          </a:xfrm>
          <a:prstGeom prst="rect">
            <a:avLst/>
          </a:prstGeom>
        </p:spPr>
      </p:pic>
      <p:sp>
        <p:nvSpPr>
          <p:cNvPr id="4" name="Text 1"/>
          <p:cNvSpPr txBox="1"/>
          <p:nvPr/>
        </p:nvSpPr>
        <p:spPr>
          <a:xfrm>
            <a:off x="1298448" y="384048"/>
            <a:ext cx="9601200" cy="274320"/>
          </a:xfrm>
          <a:prstGeom prst="rect">
            <a:avLst/>
          </a:prstGeom>
          <a:noFill/>
          <a:ln/>
        </p:spPr>
        <p:txBody>
          <a:bodyPr wrap="square" lIns="0" tIns="0" rIns="0" bIns="0" rtlCol="0" anchor="ctr"/>
          <a:lstStyle/>
          <a:p>
            <a:pPr indent="0" marL="0">
              <a:buNone/>
            </a:pPr>
            <a:r>
              <a:rPr lang="en-US" sz="1200" b="1" spc="300" kern="0" dirty="0">
                <a:solidFill>
                  <a:srgbClr val="1C5C34"/>
                </a:solidFill>
                <a:latin typeface="Calibri" pitchFamily="34" charset="0"/>
                <a:ea typeface="Calibri" pitchFamily="34" charset="-122"/>
                <a:cs typeface="Calibri" pitchFamily="34" charset="-120"/>
              </a:rPr>
              <a:t>WHAT WE NEED FROM THIS ROOM</a:t>
            </a:r>
            <a:endParaRPr lang="en-US" sz="1200" dirty="0"/>
          </a:p>
        </p:txBody>
      </p:sp>
      <p:sp>
        <p:nvSpPr>
          <p:cNvPr id="5" name="Text 2"/>
          <p:cNvSpPr txBox="1"/>
          <p:nvPr/>
        </p:nvSpPr>
        <p:spPr>
          <a:xfrm>
            <a:off x="1298448" y="621792"/>
            <a:ext cx="10241280" cy="566928"/>
          </a:xfrm>
          <a:prstGeom prst="rect">
            <a:avLst/>
          </a:prstGeom>
          <a:noFill/>
          <a:ln/>
        </p:spPr>
        <p:txBody>
          <a:bodyPr wrap="square" lIns="0" tIns="0" rIns="0" bIns="0" rtlCol="0" anchor="ctr"/>
          <a:lstStyle/>
          <a:p>
            <a:pPr indent="0" marL="0">
              <a:buNone/>
            </a:pPr>
            <a:r>
              <a:rPr lang="en-US" sz="3100" b="1" dirty="0">
                <a:solidFill>
                  <a:srgbClr val="1F2937"/>
                </a:solidFill>
                <a:latin typeface="Cambria" pitchFamily="34" charset="0"/>
                <a:ea typeface="Cambria" pitchFamily="34" charset="-122"/>
                <a:cs typeface="Cambria" pitchFamily="34" charset="-120"/>
              </a:rPr>
              <a:t>Five things managers should do this week.</a:t>
            </a:r>
            <a:endParaRPr lang="en-US" sz="3100" dirty="0"/>
          </a:p>
        </p:txBody>
      </p:sp>
      <p:sp>
        <p:nvSpPr>
          <p:cNvPr id="6" name="Shape 3"/>
          <p:cNvSpPr/>
          <p:nvPr/>
        </p:nvSpPr>
        <p:spPr>
          <a:xfrm>
            <a:off x="566928" y="1618488"/>
            <a:ext cx="457200" cy="457200"/>
          </a:xfrm>
          <a:prstGeom prst="ellipse">
            <a:avLst/>
          </a:prstGeom>
          <a:solidFill>
            <a:srgbClr val="1C5C34"/>
          </a:solidFill>
          <a:ln/>
        </p:spPr>
      </p:sp>
      <p:sp>
        <p:nvSpPr>
          <p:cNvPr id="7" name="Text 4"/>
          <p:cNvSpPr txBox="1"/>
          <p:nvPr/>
        </p:nvSpPr>
        <p:spPr>
          <a:xfrm>
            <a:off x="566928" y="161848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8" name="Text 5"/>
          <p:cNvSpPr txBox="1"/>
          <p:nvPr/>
        </p:nvSpPr>
        <p:spPr>
          <a:xfrm>
            <a:off x="1207008" y="1572768"/>
            <a:ext cx="10332720" cy="777240"/>
          </a:xfrm>
          <a:prstGeom prst="rect">
            <a:avLst/>
          </a:prstGeom>
          <a:noFill/>
          <a:ln/>
        </p:spPr>
        <p:txBody>
          <a:bodyPr wrap="square" lIns="0" tIns="0" rIns="0" bIns="0" rtlCol="0" anchor="t"/>
          <a:lstStyle/>
          <a:p>
            <a:pPr indent="0" marL="0">
              <a:lnSpc>
                <a:spcPct val="108000"/>
              </a:lnSpc>
              <a:buNone/>
            </a:pPr>
            <a:r>
              <a:rPr lang="en-US" sz="1450" b="1" dirty="0">
                <a:solidFill>
                  <a:srgbClr val="1F2937"/>
                </a:solidFill>
                <a:latin typeface="Calibri" pitchFamily="34" charset="0"/>
                <a:ea typeface="Calibri" pitchFamily="34" charset="-122"/>
                <a:cs typeface="Calibri" pitchFamily="34" charset="-120"/>
              </a:rPr>
              <a:t>Grant the new pages   </a:t>
            </a:r>
            <a:pPr indent="0" marL="0">
              <a:lnSpc>
                <a:spcPct val="108000"/>
              </a:lnSpc>
              <a:buNone/>
            </a:pPr>
            <a:r>
              <a:rPr lang="en-US" sz="1300" dirty="0">
                <a:solidFill>
                  <a:srgbClr val="5F6B63"/>
                </a:solidFill>
                <a:latin typeface="Calibri" pitchFamily="34" charset="0"/>
                <a:ea typeface="Calibri" pitchFamily="34" charset="-122"/>
                <a:cs typeface="Calibri" pitchFamily="34" charset="-120"/>
              </a:rPr>
              <a:t>User Admin → give reps My Commissions; give pilot reviewers the Test Modules pages.</a:t>
            </a:r>
            <a:endParaRPr lang="en-US" sz="1450" dirty="0"/>
          </a:p>
        </p:txBody>
      </p:sp>
      <p:sp>
        <p:nvSpPr>
          <p:cNvPr id="9" name="Shape 6"/>
          <p:cNvSpPr/>
          <p:nvPr/>
        </p:nvSpPr>
        <p:spPr>
          <a:xfrm>
            <a:off x="1207008" y="2331720"/>
            <a:ext cx="10241280" cy="0"/>
          </a:xfrm>
          <a:prstGeom prst="line">
            <a:avLst/>
          </a:prstGeom>
          <a:noFill/>
          <a:ln w="9525">
            <a:solidFill>
              <a:srgbClr val="DDE6DD"/>
            </a:solidFill>
            <a:prstDash val="solid"/>
          </a:ln>
        </p:spPr>
      </p:sp>
      <p:sp>
        <p:nvSpPr>
          <p:cNvPr id="10" name="Shape 7"/>
          <p:cNvSpPr/>
          <p:nvPr/>
        </p:nvSpPr>
        <p:spPr>
          <a:xfrm>
            <a:off x="566928" y="2514600"/>
            <a:ext cx="457200" cy="457200"/>
          </a:xfrm>
          <a:prstGeom prst="ellipse">
            <a:avLst/>
          </a:prstGeom>
          <a:solidFill>
            <a:srgbClr val="1C5C34"/>
          </a:solidFill>
          <a:ln/>
        </p:spPr>
      </p:sp>
      <p:sp>
        <p:nvSpPr>
          <p:cNvPr id="11" name="Text 8"/>
          <p:cNvSpPr txBox="1"/>
          <p:nvPr/>
        </p:nvSpPr>
        <p:spPr>
          <a:xfrm>
            <a:off x="566928" y="251460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9"/>
          <p:cNvSpPr txBox="1"/>
          <p:nvPr/>
        </p:nvSpPr>
        <p:spPr>
          <a:xfrm>
            <a:off x="1207008" y="2468880"/>
            <a:ext cx="10332720" cy="777240"/>
          </a:xfrm>
          <a:prstGeom prst="rect">
            <a:avLst/>
          </a:prstGeom>
          <a:noFill/>
          <a:ln/>
        </p:spPr>
        <p:txBody>
          <a:bodyPr wrap="square" lIns="0" tIns="0" rIns="0" bIns="0" rtlCol="0" anchor="t"/>
          <a:lstStyle/>
          <a:p>
            <a:pPr indent="0" marL="0">
              <a:lnSpc>
                <a:spcPct val="108000"/>
              </a:lnSpc>
              <a:buNone/>
            </a:pPr>
            <a:r>
              <a:rPr lang="en-US" sz="1450" b="1" dirty="0">
                <a:solidFill>
                  <a:srgbClr val="1F2937"/>
                </a:solidFill>
                <a:latin typeface="Calibri" pitchFamily="34" charset="0"/>
                <a:ea typeface="Calibri" pitchFamily="34" charset="-122"/>
                <a:cs typeface="Calibri" pitchFamily="34" charset="-120"/>
              </a:rPr>
              <a:t>Assign E60 / E80 job codes   </a:t>
            </a:r>
            <a:pPr indent="0" marL="0">
              <a:lnSpc>
                <a:spcPct val="108000"/>
              </a:lnSpc>
              <a:buNone/>
            </a:pPr>
            <a:r>
              <a:rPr lang="en-US" sz="1300" dirty="0">
                <a:solidFill>
                  <a:srgbClr val="5F6B63"/>
                </a:solidFill>
                <a:latin typeface="Calibri" pitchFamily="34" charset="0"/>
                <a:ea typeface="Calibri" pitchFamily="34" charset="-122"/>
                <a:cs typeface="Calibri" pitchFamily="34" charset="-120"/>
              </a:rPr>
              <a:t>Commission exception flags route to those codes — they need owners before the first request lands.</a:t>
            </a:r>
            <a:endParaRPr lang="en-US" sz="1450" dirty="0"/>
          </a:p>
        </p:txBody>
      </p:sp>
      <p:sp>
        <p:nvSpPr>
          <p:cNvPr id="13" name="Shape 10"/>
          <p:cNvSpPr/>
          <p:nvPr/>
        </p:nvSpPr>
        <p:spPr>
          <a:xfrm>
            <a:off x="1207008" y="3227832"/>
            <a:ext cx="10241280" cy="0"/>
          </a:xfrm>
          <a:prstGeom prst="line">
            <a:avLst/>
          </a:prstGeom>
          <a:noFill/>
          <a:ln w="9525">
            <a:solidFill>
              <a:srgbClr val="DDE6DD"/>
            </a:solidFill>
            <a:prstDash val="solid"/>
          </a:ln>
        </p:spPr>
      </p:sp>
      <p:sp>
        <p:nvSpPr>
          <p:cNvPr id="14" name="Shape 11"/>
          <p:cNvSpPr/>
          <p:nvPr/>
        </p:nvSpPr>
        <p:spPr>
          <a:xfrm>
            <a:off x="566928" y="3410712"/>
            <a:ext cx="457200" cy="457200"/>
          </a:xfrm>
          <a:prstGeom prst="ellipse">
            <a:avLst/>
          </a:prstGeom>
          <a:solidFill>
            <a:srgbClr val="1C5C34"/>
          </a:solidFill>
          <a:ln/>
        </p:spPr>
      </p:sp>
      <p:sp>
        <p:nvSpPr>
          <p:cNvPr id="15" name="Text 12"/>
          <p:cNvSpPr txBox="1"/>
          <p:nvPr/>
        </p:nvSpPr>
        <p:spPr>
          <a:xfrm>
            <a:off x="566928" y="341071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6" name="Text 13"/>
          <p:cNvSpPr txBox="1"/>
          <p:nvPr/>
        </p:nvSpPr>
        <p:spPr>
          <a:xfrm>
            <a:off x="1207008" y="3364992"/>
            <a:ext cx="10332720" cy="777240"/>
          </a:xfrm>
          <a:prstGeom prst="rect">
            <a:avLst/>
          </a:prstGeom>
          <a:noFill/>
          <a:ln/>
        </p:spPr>
        <p:txBody>
          <a:bodyPr wrap="square" lIns="0" tIns="0" rIns="0" bIns="0" rtlCol="0" anchor="t"/>
          <a:lstStyle/>
          <a:p>
            <a:pPr indent="0" marL="0">
              <a:lnSpc>
                <a:spcPct val="108000"/>
              </a:lnSpc>
              <a:buNone/>
            </a:pPr>
            <a:r>
              <a:rPr lang="en-US" sz="1450" b="1" dirty="0">
                <a:solidFill>
                  <a:srgbClr val="1F2937"/>
                </a:solidFill>
                <a:latin typeface="Calibri" pitchFamily="34" charset="0"/>
                <a:ea typeface="Calibri" pitchFamily="34" charset="-122"/>
                <a:cs typeface="Calibri" pitchFamily="34" charset="-120"/>
              </a:rPr>
              <a:t>Review the estimate wording   </a:t>
            </a:r>
            <a:pPr indent="0" marL="0">
              <a:lnSpc>
                <a:spcPct val="108000"/>
              </a:lnSpc>
              <a:buNone/>
            </a:pPr>
            <a:r>
              <a:rPr lang="en-US" sz="1300" dirty="0">
                <a:solidFill>
                  <a:srgbClr val="5F6B63"/>
                </a:solidFill>
                <a:latin typeface="Calibri" pitchFamily="34" charset="0"/>
                <a:ea typeface="Calibri" pitchFamily="34" charset="-122"/>
                <a:cs typeface="Calibri" pitchFamily="34" charset="-120"/>
              </a:rPr>
              <a:t>The four client messages (text/email, standard/reminder) are out for team review — send edits back this week.</a:t>
            </a:r>
            <a:endParaRPr lang="en-US" sz="1450" dirty="0"/>
          </a:p>
        </p:txBody>
      </p:sp>
      <p:sp>
        <p:nvSpPr>
          <p:cNvPr id="17" name="Shape 14"/>
          <p:cNvSpPr/>
          <p:nvPr/>
        </p:nvSpPr>
        <p:spPr>
          <a:xfrm>
            <a:off x="1207008" y="4123944"/>
            <a:ext cx="10241280" cy="0"/>
          </a:xfrm>
          <a:prstGeom prst="line">
            <a:avLst/>
          </a:prstGeom>
          <a:noFill/>
          <a:ln w="9525">
            <a:solidFill>
              <a:srgbClr val="DDE6DD"/>
            </a:solidFill>
            <a:prstDash val="solid"/>
          </a:ln>
        </p:spPr>
      </p:sp>
      <p:sp>
        <p:nvSpPr>
          <p:cNvPr id="18" name="Shape 15"/>
          <p:cNvSpPr/>
          <p:nvPr/>
        </p:nvSpPr>
        <p:spPr>
          <a:xfrm>
            <a:off x="566928" y="4306824"/>
            <a:ext cx="457200" cy="457200"/>
          </a:xfrm>
          <a:prstGeom prst="ellipse">
            <a:avLst/>
          </a:prstGeom>
          <a:solidFill>
            <a:srgbClr val="1C5C34"/>
          </a:solidFill>
          <a:ln/>
        </p:spPr>
      </p:sp>
      <p:sp>
        <p:nvSpPr>
          <p:cNvPr id="19" name="Text 16"/>
          <p:cNvSpPr txBox="1"/>
          <p:nvPr/>
        </p:nvSpPr>
        <p:spPr>
          <a:xfrm>
            <a:off x="566928" y="430682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0" name="Text 17"/>
          <p:cNvSpPr txBox="1"/>
          <p:nvPr/>
        </p:nvSpPr>
        <p:spPr>
          <a:xfrm>
            <a:off x="1207008" y="4261104"/>
            <a:ext cx="10332720" cy="777240"/>
          </a:xfrm>
          <a:prstGeom prst="rect">
            <a:avLst/>
          </a:prstGeom>
          <a:noFill/>
          <a:ln/>
        </p:spPr>
        <p:txBody>
          <a:bodyPr wrap="square" lIns="0" tIns="0" rIns="0" bIns="0" rtlCol="0" anchor="t"/>
          <a:lstStyle/>
          <a:p>
            <a:pPr indent="0" marL="0">
              <a:lnSpc>
                <a:spcPct val="108000"/>
              </a:lnSpc>
              <a:buNone/>
            </a:pPr>
            <a:r>
              <a:rPr lang="en-US" sz="1450" b="1" dirty="0">
                <a:solidFill>
                  <a:srgbClr val="1F2937"/>
                </a:solidFill>
                <a:latin typeface="Calibri" pitchFamily="34" charset="0"/>
                <a:ea typeface="Calibri" pitchFamily="34" charset="-122"/>
                <a:cs typeface="Calibri" pitchFamily="34" charset="-120"/>
              </a:rPr>
              <a:t>Fill in the Sub-Zero page blanks   </a:t>
            </a:r>
            <a:pPr indent="0" marL="0">
              <a:lnSpc>
                <a:spcPct val="108000"/>
              </a:lnSpc>
              <a:buNone/>
            </a:pPr>
            <a:r>
              <a:rPr lang="en-US" sz="1300" dirty="0">
                <a:solidFill>
                  <a:srgbClr val="5F6B63"/>
                </a:solidFill>
                <a:latin typeface="Calibri" pitchFamily="34" charset="0"/>
                <a:ea typeface="Calibri" pitchFamily="34" charset="-122"/>
                <a:cs typeface="Calibri" pitchFamily="34" charset="-120"/>
              </a:rPr>
              <a:t>The promotion strip and showroom hours are still placeholders on an otherwise-live page.</a:t>
            </a:r>
            <a:endParaRPr lang="en-US" sz="1450" dirty="0"/>
          </a:p>
        </p:txBody>
      </p:sp>
      <p:sp>
        <p:nvSpPr>
          <p:cNvPr id="21" name="Shape 18"/>
          <p:cNvSpPr/>
          <p:nvPr/>
        </p:nvSpPr>
        <p:spPr>
          <a:xfrm>
            <a:off x="1207008" y="5020056"/>
            <a:ext cx="10241280" cy="0"/>
          </a:xfrm>
          <a:prstGeom prst="line">
            <a:avLst/>
          </a:prstGeom>
          <a:noFill/>
          <a:ln w="9525">
            <a:solidFill>
              <a:srgbClr val="DDE6DD"/>
            </a:solidFill>
            <a:prstDash val="solid"/>
          </a:ln>
        </p:spPr>
      </p:sp>
      <p:sp>
        <p:nvSpPr>
          <p:cNvPr id="22" name="Shape 19"/>
          <p:cNvSpPr/>
          <p:nvPr/>
        </p:nvSpPr>
        <p:spPr>
          <a:xfrm>
            <a:off x="566928" y="5202936"/>
            <a:ext cx="457200" cy="457200"/>
          </a:xfrm>
          <a:prstGeom prst="ellipse">
            <a:avLst/>
          </a:prstGeom>
          <a:solidFill>
            <a:srgbClr val="1C5C34"/>
          </a:solidFill>
          <a:ln/>
        </p:spPr>
      </p:sp>
      <p:sp>
        <p:nvSpPr>
          <p:cNvPr id="23" name="Text 20"/>
          <p:cNvSpPr txBox="1"/>
          <p:nvPr/>
        </p:nvSpPr>
        <p:spPr>
          <a:xfrm>
            <a:off x="566928" y="520293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24" name="Text 21"/>
          <p:cNvSpPr txBox="1"/>
          <p:nvPr/>
        </p:nvSpPr>
        <p:spPr>
          <a:xfrm>
            <a:off x="1207008" y="5157216"/>
            <a:ext cx="10332720" cy="777240"/>
          </a:xfrm>
          <a:prstGeom prst="rect">
            <a:avLst/>
          </a:prstGeom>
          <a:noFill/>
          <a:ln/>
        </p:spPr>
        <p:txBody>
          <a:bodyPr wrap="square" lIns="0" tIns="0" rIns="0" bIns="0" rtlCol="0" anchor="t"/>
          <a:lstStyle/>
          <a:p>
            <a:pPr indent="0" marL="0">
              <a:lnSpc>
                <a:spcPct val="108000"/>
              </a:lnSpc>
              <a:buNone/>
            </a:pPr>
            <a:r>
              <a:rPr lang="en-US" sz="1450" b="1" dirty="0">
                <a:solidFill>
                  <a:srgbClr val="1F2937"/>
                </a:solidFill>
                <a:latin typeface="Calibri" pitchFamily="34" charset="0"/>
                <a:ea typeface="Calibri" pitchFamily="34" charset="-122"/>
                <a:cs typeface="Calibri" pitchFamily="34" charset="-120"/>
              </a:rPr>
              <a:t>Tell your teams about DIBS   </a:t>
            </a:r>
            <a:pPr indent="0" marL="0">
              <a:lnSpc>
                <a:spcPct val="108000"/>
              </a:lnSpc>
              <a:buNone/>
            </a:pPr>
            <a:r>
              <a:rPr lang="en-US" sz="1300" dirty="0">
                <a:solidFill>
                  <a:srgbClr val="5F6B63"/>
                </a:solidFill>
                <a:latin typeface="Calibri" pitchFamily="34" charset="0"/>
                <a:ea typeface="Calibri" pitchFamily="34" charset="-122"/>
                <a:cs typeface="Calibri" pitchFamily="34" charset="-120"/>
              </a:rPr>
              <a:t>Sub-Zero consultations, service leads, and web orders all claim the same way — first DIBS owns it, and the claim is on the record.</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2937"/>
        </a:solidFill>
      </p:bgPr>
    </p:bg>
    <p:spTree>
      <p:nvGrpSpPr>
        <p:cNvPr id="1" name=""/>
        <p:cNvGrpSpPr/>
        <p:nvPr/>
      </p:nvGrpSpPr>
      <p:grpSpPr>
        <a:xfrm>
          <a:off x="0" y="0"/>
          <a:ext cx="0" cy="0"/>
          <a:chOff x="0" y="0"/>
          <a:chExt cx="0" cy="0"/>
        </a:xfrm>
      </p:grpSpPr>
      <p:pic>
        <p:nvPicPr>
          <p:cNvPr id="2" name="Image 0" descr="/tmp/rebrand/subzero-photos/g6-columns.jpg">    </p:cNvPr>
          <p:cNvPicPr>
            <a:picLocks noChangeAspect="1"/>
          </p:cNvPicPr>
          <p:nvPr/>
        </p:nvPicPr>
        <p:blipFill>
          <a:blip r:embed="rId1">
            <a:alphaModFix amt="18000"/>
          </a:blip>
          <a:srcRect l="0" r="0" t="0" b="0"/>
          <a:stretch/>
        </p:blipFill>
        <p:spPr>
          <a:xfrm>
            <a:off x="0" y="0"/>
            <a:ext cx="12188952" cy="6858000"/>
          </a:xfrm>
          <a:prstGeom prst="rect">
            <a:avLst/>
          </a:prstGeom>
        </p:spPr>
      </p:pic>
      <p:sp>
        <p:nvSpPr>
          <p:cNvPr id="3" name="Text 0"/>
          <p:cNvSpPr txBox="1"/>
          <p:nvPr/>
        </p:nvSpPr>
        <p:spPr>
          <a:xfrm>
            <a:off x="822960" y="2148840"/>
            <a:ext cx="10515600"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One system, one pattern.</a:t>
            </a:r>
            <a:endParaRPr lang="en-US" sz="4400" dirty="0"/>
          </a:p>
        </p:txBody>
      </p:sp>
      <p:sp>
        <p:nvSpPr>
          <p:cNvPr id="4" name="Text 1"/>
          <p:cNvSpPr txBox="1"/>
          <p:nvPr/>
        </p:nvSpPr>
        <p:spPr>
          <a:xfrm>
            <a:off x="1371600" y="3200400"/>
            <a:ext cx="9418320" cy="822960"/>
          </a:xfrm>
          <a:prstGeom prst="rect">
            <a:avLst/>
          </a:prstGeom>
          <a:noFill/>
          <a:ln/>
        </p:spPr>
        <p:txBody>
          <a:bodyPr wrap="square" lIns="0" tIns="0" rIns="0" bIns="0" rtlCol="0" anchor="ctr"/>
          <a:lstStyle/>
          <a:p>
            <a:pPr algn="ctr" indent="0" marL="0">
              <a:lnSpc>
                <a:spcPct val="120000"/>
              </a:lnSpc>
              <a:buNone/>
            </a:pPr>
            <a:r>
              <a:rPr lang="en-US" sz="1700" dirty="0">
                <a:solidFill>
                  <a:srgbClr val="D9E8DD"/>
                </a:solidFill>
                <a:latin typeface="Calibri" pitchFamily="34" charset="0"/>
                <a:ea typeface="Calibri" pitchFamily="34" charset="-122"/>
                <a:cs typeface="Calibri" pitchFamily="34" charset="-120"/>
              </a:rPr>
              <a:t>Explicit clicks. Full audit trail. The customer's thread as the customer file.</a:t>
            </a:r>
            <a:endParaRPr lang="en-US" sz="1700" dirty="0"/>
          </a:p>
          <a:p>
            <a:pPr algn="ctr" indent="0" marL="0">
              <a:lnSpc>
                <a:spcPct val="120000"/>
              </a:lnSpc>
              <a:buNone/>
            </a:pPr>
            <a:r>
              <a:rPr lang="en-US" sz="1700" dirty="0">
                <a:solidFill>
                  <a:srgbClr val="D9E8DD"/>
                </a:solidFill>
                <a:latin typeface="Calibri" pitchFamily="34" charset="0"/>
                <a:ea typeface="Calibri" pitchFamily="34" charset="-122"/>
                <a:cs typeface="Calibri" pitchFamily="34" charset="-120"/>
              </a:rPr>
              <a:t>Everything from the last two weeks follows those three rules.</a:t>
            </a:r>
            <a:endParaRPr lang="en-US" sz="1700" dirty="0"/>
          </a:p>
        </p:txBody>
      </p:sp>
      <p:sp>
        <p:nvSpPr>
          <p:cNvPr id="5" name="Text 2"/>
          <p:cNvSpPr txBox="1"/>
          <p:nvPr/>
        </p:nvSpPr>
        <p:spPr>
          <a:xfrm>
            <a:off x="822960" y="4663440"/>
            <a:ext cx="10515600" cy="457200"/>
          </a:xfrm>
          <a:prstGeom prst="rect">
            <a:avLst/>
          </a:prstGeom>
          <a:noFill/>
          <a:ln/>
        </p:spPr>
        <p:txBody>
          <a:bodyPr wrap="square" lIns="0" tIns="0" rIns="0" bIns="0" rtlCol="0" anchor="ctr"/>
          <a:lstStyle/>
          <a:p>
            <a:pPr algn="ctr" indent="0" marL="0">
              <a:buNone/>
            </a:pPr>
            <a:r>
              <a:rPr lang="en-US" sz="1500" b="1" dirty="0">
                <a:solidFill>
                  <a:srgbClr val="9FD0AF"/>
                </a:solidFill>
                <a:latin typeface="Calibri" pitchFamily="34" charset="0"/>
                <a:ea typeface="Calibri" pitchFamily="34" charset="-122"/>
                <a:cs typeface="Calibri" pitchFamily="34" charset="-120"/>
              </a:rPr>
              <a:t>Questions — or requests for the next two weeks?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Agility — What's New</dc:title>
  <dc:subject>PptxGenJS Presentation</dc:subject>
  <dc:creator>Wilson AC &amp; Appliance</dc:creator>
  <cp:lastModifiedBy>Wilson AC &amp; Appliance</cp:lastModifiedBy>
  <cp:revision>1</cp:revision>
  <dcterms:created xsi:type="dcterms:W3CDTF">2026-08-27T16:28:19Z</dcterms:created>
  <dcterms:modified xsi:type="dcterms:W3CDTF">2026-08-27T16:28:19Z</dcterms:modified>
</cp:coreProperties>
</file>