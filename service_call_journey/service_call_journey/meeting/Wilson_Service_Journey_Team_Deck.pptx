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is about our own data and our own process, not software. Ten minutes of slides, then two short live demos. Nothing is decided today except two small pilot asks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numbers sit. These are theirs, from their reports. The 15-day median is the customer experience; the 33% is where the field quote lives; the 657/95% is the Saturday dump day and stale dates; the 16 west jobs is the argument for grouping trips. Don't explain the fixes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fear before it's voiced: nobody is being replaced or overruled. Say the John and Demitrius lines out loud and look at them when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STOPS column first for each row. People hear "you lose the morning write-up" very differently from "you get a new app." Then the demo shows the tech row for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tracker and the texts are Phase 1 and require nothing from the techs or parts. That is deliberate: the first thing that ships takes calls away from Client Care without changing anyone's workflow. All wording is editable — Noell has the copy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ask for approval of the whole plan. Ask for the three small things on the right and stop talking. The people who say yes become co-authors; that is how the loudest skeptic gets converted.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71D"/>
        </a:solidFill>
      </p:bgPr>
    </p:bg>
    <p:spTree>
      <p:nvGrpSpPr>
        <p:cNvPr id="1" name=""/>
        <p:cNvGrpSpPr/>
        <p:nvPr/>
      </p:nvGrpSpPr>
      <p:grpSpPr>
        <a:xfrm>
          <a:off x="0" y="0"/>
          <a:ext cx="0" cy="0"/>
          <a:chOff x="0" y="0"/>
          <a:chExt cx="0" cy="0"/>
        </a:xfrm>
      </p:grpSpPr>
      <p:sp>
        <p:nvSpPr>
          <p:cNvPr id="2" name="Text 0"/>
          <p:cNvSpPr txBox="1"/>
          <p:nvPr/>
        </p:nvSpPr>
        <p:spPr>
          <a:xfrm>
            <a:off x="640080" y="640080"/>
            <a:ext cx="7315200" cy="365760"/>
          </a:xfrm>
          <a:prstGeom prst="rect">
            <a:avLst/>
          </a:prstGeom>
          <a:noFill/>
          <a:ln/>
        </p:spPr>
        <p:txBody>
          <a:bodyPr wrap="square" lIns="0" tIns="0" rIns="0" bIns="0" rtlCol="0" anchor="ctr"/>
          <a:lstStyle/>
          <a:p>
            <a:pPr indent="0" marL="0">
              <a:buNone/>
            </a:pPr>
            <a:r>
              <a:rPr lang="en-US" sz="1300" spc="200" kern="0" dirty="0">
                <a:solidFill>
                  <a:srgbClr val="9FC3A8"/>
                </a:solidFill>
                <a:latin typeface="Calibri" pitchFamily="34" charset="0"/>
                <a:ea typeface="Calibri" pitchFamily="34" charset="-122"/>
                <a:cs typeface="Calibri" pitchFamily="34" charset="-120"/>
              </a:rPr>
              <a:t>Wilson AC &amp; Appliance · Service</a:t>
            </a:r>
            <a:endParaRPr lang="en-US" sz="1300" dirty="0"/>
          </a:p>
        </p:txBody>
      </p:sp>
      <p:sp>
        <p:nvSpPr>
          <p:cNvPr id="3" name="Text 1"/>
          <p:cNvSpPr txBox="1"/>
          <p:nvPr/>
        </p:nvSpPr>
        <p:spPr>
          <a:xfrm>
            <a:off x="640080" y="1828800"/>
            <a:ext cx="8686800" cy="18288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Where our service calls go —</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and where the time goes</a:t>
            </a:r>
            <a:endParaRPr lang="en-US" sz="4400" dirty="0"/>
          </a:p>
        </p:txBody>
      </p:sp>
      <p:sp>
        <p:nvSpPr>
          <p:cNvPr id="4" name="Text 2"/>
          <p:cNvSpPr txBox="1"/>
          <p:nvPr/>
        </p:nvSpPr>
        <p:spPr>
          <a:xfrm>
            <a:off x="640080" y="3840480"/>
            <a:ext cx="7863840" cy="914400"/>
          </a:xfrm>
          <a:prstGeom prst="rect">
            <a:avLst/>
          </a:prstGeom>
          <a:noFill/>
          <a:ln/>
        </p:spPr>
        <p:txBody>
          <a:bodyPr wrap="square" lIns="0" tIns="0" rIns="0" bIns="0" rtlCol="0" anchor="ctr"/>
          <a:lstStyle/>
          <a:p>
            <a:pPr indent="0" marL="0">
              <a:buNone/>
            </a:pPr>
            <a:r>
              <a:rPr lang="en-US" sz="1600" dirty="0">
                <a:solidFill>
                  <a:srgbClr val="CFE3D3"/>
                </a:solidFill>
                <a:latin typeface="Calibri" pitchFamily="34" charset="0"/>
                <a:ea typeface="Calibri" pitchFamily="34" charset="-122"/>
                <a:cs typeface="Calibri" pitchFamily="34" charset="-120"/>
              </a:rPr>
              <a:t>A look at the process from the customer's first text to the last card charge, using our own 2026 numbers — and a proposal to move it into the dashboard one piece at a time.</a:t>
            </a:r>
            <a:endParaRPr lang="en-US" sz="1600" dirty="0"/>
          </a:p>
        </p:txBody>
      </p:sp>
      <p:sp>
        <p:nvSpPr>
          <p:cNvPr id="5" name="Text 3"/>
          <p:cNvSpPr txBox="1"/>
          <p:nvPr/>
        </p:nvSpPr>
        <p:spPr>
          <a:xfrm>
            <a:off x="640080" y="6035040"/>
            <a:ext cx="7315200" cy="365760"/>
          </a:xfrm>
          <a:prstGeom prst="rect">
            <a:avLst/>
          </a:prstGeom>
          <a:noFill/>
          <a:ln/>
        </p:spPr>
        <p:txBody>
          <a:bodyPr wrap="square" lIns="0" tIns="0" rIns="0" bIns="0" rtlCol="0" anchor="ctr"/>
          <a:lstStyle/>
          <a:p>
            <a:pPr indent="0" marL="0">
              <a:buNone/>
            </a:pPr>
            <a:r>
              <a:rPr lang="en-US" sz="1200" dirty="0">
                <a:solidFill>
                  <a:srgbClr val="9FC3A8"/>
                </a:solidFill>
                <a:latin typeface="Calibri" pitchFamily="34" charset="0"/>
                <a:ea typeface="Calibri" pitchFamily="34" charset="-122"/>
                <a:cs typeface="Calibri" pitchFamily="34" charset="-120"/>
              </a:rPr>
              <a:t>Service team meeting · September 2026</a:t>
            </a:r>
            <a:endParaRPr lang="en-US" sz="1200" dirty="0"/>
          </a:p>
        </p:txBody>
      </p:sp>
      <p:pic>
        <p:nvPicPr>
          <p:cNvPr id="6" name="Image 0" descr="preencoded.png">    </p:cNvPr>
          <p:cNvPicPr>
            <a:picLocks noChangeAspect="1"/>
          </p:cNvPicPr>
          <p:nvPr/>
        </p:nvPicPr>
        <p:blipFill>
          <a:blip r:embed="rId1"/>
          <a:stretch>
            <a:fillRect/>
          </a:stretch>
        </p:blipFill>
        <p:spPr>
          <a:xfrm>
            <a:off x="9418320" y="822960"/>
            <a:ext cx="2377440" cy="46451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400" b="1" dirty="0">
                <a:solidFill>
                  <a:srgbClr val="1B241F"/>
                </a:solidFill>
                <a:latin typeface="Cambria" pitchFamily="34" charset="0"/>
                <a:ea typeface="Cambria" pitchFamily="34" charset="-122"/>
                <a:cs typeface="Cambria" pitchFamily="34" charset="-120"/>
              </a:rPr>
              <a:t>Our own numbers, January 1 – September 10</a:t>
            </a:r>
            <a:endParaRPr lang="en-US" sz="34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500" dirty="0">
                <a:solidFill>
                  <a:srgbClr val="5D6B62"/>
                </a:solidFill>
                <a:latin typeface="Calibri" pitchFamily="34" charset="0"/>
                <a:ea typeface="Calibri" pitchFamily="34" charset="-122"/>
                <a:cs typeface="Calibri" pitchFamily="34" charset="-120"/>
              </a:rPr>
              <a:t>Source: ePASS OE-23 (SV invoices), ExportInvoice (open tickets), DispatchTrack export — pulled 9/10</a:t>
            </a:r>
            <a:endParaRPr lang="en-US" sz="1500" dirty="0"/>
          </a:p>
        </p:txBody>
      </p:sp>
      <p:sp>
        <p:nvSpPr>
          <p:cNvPr id="4" name="Shape 2"/>
          <p:cNvSpPr/>
          <p:nvPr/>
        </p:nvSpPr>
        <p:spPr>
          <a:xfrm>
            <a:off x="548640" y="1874520"/>
            <a:ext cx="3520440" cy="1874520"/>
          </a:xfrm>
          <a:prstGeom prst="roundRect">
            <a:avLst>
              <a:gd name="adj" fmla="val 5854"/>
            </a:avLst>
          </a:prstGeom>
          <a:solidFill>
            <a:srgbClr val="EEF6F0"/>
          </a:solidFill>
          <a:ln w="12700">
            <a:solidFill>
              <a:srgbClr val="EEF6F0"/>
            </a:solidFill>
            <a:prstDash val="solid"/>
          </a:ln>
        </p:spPr>
      </p:sp>
      <p:sp>
        <p:nvSpPr>
          <p:cNvPr id="5" name="Text 3"/>
          <p:cNvSpPr txBox="1"/>
          <p:nvPr/>
        </p:nvSpPr>
        <p:spPr>
          <a:xfrm>
            <a:off x="822960" y="2057400"/>
            <a:ext cx="3017520" cy="822960"/>
          </a:xfrm>
          <a:prstGeom prst="rect">
            <a:avLst/>
          </a:prstGeom>
          <a:noFill/>
          <a:ln/>
        </p:spPr>
        <p:txBody>
          <a:bodyPr wrap="square" lIns="0" tIns="0" rIns="0" bIns="0" rtlCol="0" anchor="ctr"/>
          <a:lstStyle/>
          <a:p>
            <a:pPr indent="0" marL="0">
              <a:buNone/>
            </a:pPr>
            <a:r>
              <a:rPr lang="en-US" sz="4400" b="1" dirty="0">
                <a:solidFill>
                  <a:srgbClr val="155B26"/>
                </a:solidFill>
                <a:latin typeface="Cambria" pitchFamily="34" charset="0"/>
                <a:ea typeface="Cambria" pitchFamily="34" charset="-122"/>
                <a:cs typeface="Cambria" pitchFamily="34" charset="-120"/>
              </a:rPr>
              <a:t>15 days</a:t>
            </a:r>
            <a:endParaRPr lang="en-US" sz="4400" dirty="0"/>
          </a:p>
        </p:txBody>
      </p:sp>
      <p:sp>
        <p:nvSpPr>
          <p:cNvPr id="6" name="Text 4"/>
          <p:cNvSpPr txBox="1"/>
          <p:nvPr/>
        </p:nvSpPr>
        <p:spPr>
          <a:xfrm>
            <a:off x="822960" y="2834640"/>
            <a:ext cx="3017520" cy="548640"/>
          </a:xfrm>
          <a:prstGeom prst="rect">
            <a:avLst/>
          </a:prstGeom>
          <a:noFill/>
          <a:ln/>
        </p:spPr>
        <p:txBody>
          <a:bodyPr wrap="square" lIns="0" tIns="0" rIns="0" bIns="0" rtlCol="0" anchor="ctr"/>
          <a:lstStyle/>
          <a:p>
            <a:pPr indent="0" marL="0">
              <a:buNone/>
            </a:pPr>
            <a:r>
              <a:rPr lang="en-US" sz="1300" dirty="0">
                <a:solidFill>
                  <a:srgbClr val="1B241F"/>
                </a:solidFill>
                <a:latin typeface="Calibri" pitchFamily="34" charset="0"/>
                <a:ea typeface="Calibri" pitchFamily="34" charset="-122"/>
                <a:cs typeface="Calibri" pitchFamily="34" charset="-120"/>
              </a:rPr>
              <a:t>median from ticket created to finished</a:t>
            </a:r>
            <a:endParaRPr lang="en-US" sz="1300" dirty="0"/>
          </a:p>
        </p:txBody>
      </p:sp>
      <p:sp>
        <p:nvSpPr>
          <p:cNvPr id="7" name="Text 5"/>
          <p:cNvSpPr txBox="1"/>
          <p:nvPr/>
        </p:nvSpPr>
        <p:spPr>
          <a:xfrm>
            <a:off x="822960" y="3355848"/>
            <a:ext cx="3017520" cy="274320"/>
          </a:xfrm>
          <a:prstGeom prst="rect">
            <a:avLst/>
          </a:prstGeom>
          <a:noFill/>
          <a:ln/>
        </p:spPr>
        <p:txBody>
          <a:bodyPr wrap="square" lIns="0" tIns="0" rIns="0" bIns="0" rtlCol="0" anchor="ctr"/>
          <a:lstStyle/>
          <a:p>
            <a:pPr indent="0" marL="0">
              <a:buNone/>
            </a:pPr>
            <a:r>
              <a:rPr lang="en-US" sz="1100" i="1" dirty="0">
                <a:solidFill>
                  <a:srgbClr val="5D6B62"/>
                </a:solidFill>
                <a:latin typeface="Calibri" pitchFamily="34" charset="0"/>
                <a:ea typeface="Calibri" pitchFamily="34" charset="-122"/>
                <a:cs typeface="Calibri" pitchFamily="34" charset="-120"/>
              </a:rPr>
              <a:t>p90 is 46 days</a:t>
            </a:r>
            <a:endParaRPr lang="en-US" sz="1100" dirty="0"/>
          </a:p>
        </p:txBody>
      </p:sp>
      <p:sp>
        <p:nvSpPr>
          <p:cNvPr id="8" name="Shape 6"/>
          <p:cNvSpPr/>
          <p:nvPr/>
        </p:nvSpPr>
        <p:spPr>
          <a:xfrm>
            <a:off x="4343400" y="1874520"/>
            <a:ext cx="3520440" cy="1874520"/>
          </a:xfrm>
          <a:prstGeom prst="roundRect">
            <a:avLst>
              <a:gd name="adj" fmla="val 5854"/>
            </a:avLst>
          </a:prstGeom>
          <a:solidFill>
            <a:srgbClr val="EEF6F0"/>
          </a:solidFill>
          <a:ln w="12700">
            <a:solidFill>
              <a:srgbClr val="EEF6F0"/>
            </a:solidFill>
            <a:prstDash val="solid"/>
          </a:ln>
        </p:spPr>
      </p:sp>
      <p:sp>
        <p:nvSpPr>
          <p:cNvPr id="9" name="Text 7"/>
          <p:cNvSpPr txBox="1"/>
          <p:nvPr/>
        </p:nvSpPr>
        <p:spPr>
          <a:xfrm>
            <a:off x="4617720" y="2057400"/>
            <a:ext cx="3017520" cy="822960"/>
          </a:xfrm>
          <a:prstGeom prst="rect">
            <a:avLst/>
          </a:prstGeom>
          <a:noFill/>
          <a:ln/>
        </p:spPr>
        <p:txBody>
          <a:bodyPr wrap="square" lIns="0" tIns="0" rIns="0" bIns="0" rtlCol="0" anchor="ctr"/>
          <a:lstStyle/>
          <a:p>
            <a:pPr indent="0" marL="0">
              <a:buNone/>
            </a:pPr>
            <a:r>
              <a:rPr lang="en-US" sz="4400" b="1" dirty="0">
                <a:solidFill>
                  <a:srgbClr val="155B26"/>
                </a:solidFill>
                <a:latin typeface="Cambria" pitchFamily="34" charset="0"/>
                <a:ea typeface="Cambria" pitchFamily="34" charset="-122"/>
                <a:cs typeface="Cambria" pitchFamily="34" charset="-120"/>
              </a:rPr>
              <a:t>33%</a:t>
            </a:r>
            <a:endParaRPr lang="en-US" sz="4400" dirty="0"/>
          </a:p>
        </p:txBody>
      </p:sp>
      <p:sp>
        <p:nvSpPr>
          <p:cNvPr id="10" name="Text 8"/>
          <p:cNvSpPr txBox="1"/>
          <p:nvPr/>
        </p:nvSpPr>
        <p:spPr>
          <a:xfrm>
            <a:off x="4617720" y="2834640"/>
            <a:ext cx="3017520" cy="548640"/>
          </a:xfrm>
          <a:prstGeom prst="rect">
            <a:avLst/>
          </a:prstGeom>
          <a:noFill/>
          <a:ln/>
        </p:spPr>
        <p:txBody>
          <a:bodyPr wrap="square" lIns="0" tIns="0" rIns="0" bIns="0" rtlCol="0" anchor="ctr"/>
          <a:lstStyle/>
          <a:p>
            <a:pPr indent="0" marL="0">
              <a:buNone/>
            </a:pPr>
            <a:r>
              <a:rPr lang="en-US" sz="1300" dirty="0">
                <a:solidFill>
                  <a:srgbClr val="1B241F"/>
                </a:solidFill>
                <a:latin typeface="Calibri" pitchFamily="34" charset="0"/>
                <a:ea typeface="Calibri" pitchFamily="34" charset="-122"/>
                <a:cs typeface="Calibri" pitchFamily="34" charset="-120"/>
              </a:rPr>
              <a:t>of billed calls end at the $169.95 diagnostic with no repair sold</a:t>
            </a:r>
            <a:endParaRPr lang="en-US" sz="1300" dirty="0"/>
          </a:p>
        </p:txBody>
      </p:sp>
      <p:sp>
        <p:nvSpPr>
          <p:cNvPr id="11" name="Text 9"/>
          <p:cNvSpPr txBox="1"/>
          <p:nvPr/>
        </p:nvSpPr>
        <p:spPr>
          <a:xfrm>
            <a:off x="4617720" y="3355848"/>
            <a:ext cx="3017520" cy="274320"/>
          </a:xfrm>
          <a:prstGeom prst="rect">
            <a:avLst/>
          </a:prstGeom>
          <a:noFill/>
          <a:ln/>
        </p:spPr>
        <p:txBody>
          <a:bodyPr wrap="square" lIns="0" tIns="0" rIns="0" bIns="0" rtlCol="0" anchor="ctr"/>
          <a:lstStyle/>
          <a:p>
            <a:pPr indent="0" marL="0">
              <a:buNone/>
            </a:pPr>
            <a:r>
              <a:rPr lang="en-US" sz="1100" i="1" dirty="0">
                <a:solidFill>
                  <a:srgbClr val="5D6B62"/>
                </a:solidFill>
                <a:latin typeface="Calibri" pitchFamily="34" charset="0"/>
                <a:ea typeface="Calibri" pitchFamily="34" charset="-122"/>
                <a:cs typeface="Calibri" pitchFamily="34" charset="-120"/>
              </a:rPr>
              <a:t>ranges 23%–56% by tech</a:t>
            </a:r>
            <a:endParaRPr lang="en-US" sz="1100" dirty="0"/>
          </a:p>
        </p:txBody>
      </p:sp>
      <p:sp>
        <p:nvSpPr>
          <p:cNvPr id="12" name="Shape 10"/>
          <p:cNvSpPr/>
          <p:nvPr/>
        </p:nvSpPr>
        <p:spPr>
          <a:xfrm>
            <a:off x="8138160" y="1874520"/>
            <a:ext cx="3520440" cy="1874520"/>
          </a:xfrm>
          <a:prstGeom prst="roundRect">
            <a:avLst>
              <a:gd name="adj" fmla="val 5854"/>
            </a:avLst>
          </a:prstGeom>
          <a:solidFill>
            <a:srgbClr val="EEF6F0"/>
          </a:solidFill>
          <a:ln w="12700">
            <a:solidFill>
              <a:srgbClr val="EEF6F0"/>
            </a:solidFill>
            <a:prstDash val="solid"/>
          </a:ln>
        </p:spPr>
      </p:sp>
      <p:sp>
        <p:nvSpPr>
          <p:cNvPr id="13" name="Text 11"/>
          <p:cNvSpPr txBox="1"/>
          <p:nvPr/>
        </p:nvSpPr>
        <p:spPr>
          <a:xfrm>
            <a:off x="8412480" y="2057400"/>
            <a:ext cx="3017520" cy="822960"/>
          </a:xfrm>
          <a:prstGeom prst="rect">
            <a:avLst/>
          </a:prstGeom>
          <a:noFill/>
          <a:ln/>
        </p:spPr>
        <p:txBody>
          <a:bodyPr wrap="square" lIns="0" tIns="0" rIns="0" bIns="0" rtlCol="0" anchor="ctr"/>
          <a:lstStyle/>
          <a:p>
            <a:pPr indent="0" marL="0">
              <a:buNone/>
            </a:pPr>
            <a:r>
              <a:rPr lang="en-US" sz="4400" b="1" dirty="0">
                <a:solidFill>
                  <a:srgbClr val="155B26"/>
                </a:solidFill>
                <a:latin typeface="Cambria" pitchFamily="34" charset="0"/>
                <a:ea typeface="Cambria" pitchFamily="34" charset="-122"/>
                <a:cs typeface="Cambria" pitchFamily="34" charset="-120"/>
              </a:rPr>
              <a:t>657</a:t>
            </a:r>
            <a:endParaRPr lang="en-US" sz="4400" dirty="0"/>
          </a:p>
        </p:txBody>
      </p:sp>
      <p:sp>
        <p:nvSpPr>
          <p:cNvPr id="14" name="Text 12"/>
          <p:cNvSpPr txBox="1"/>
          <p:nvPr/>
        </p:nvSpPr>
        <p:spPr>
          <a:xfrm>
            <a:off x="8412480" y="2834640"/>
            <a:ext cx="3017520" cy="548640"/>
          </a:xfrm>
          <a:prstGeom prst="rect">
            <a:avLst/>
          </a:prstGeom>
          <a:noFill/>
          <a:ln/>
        </p:spPr>
        <p:txBody>
          <a:bodyPr wrap="square" lIns="0" tIns="0" rIns="0" bIns="0" rtlCol="0" anchor="ctr"/>
          <a:lstStyle/>
          <a:p>
            <a:pPr indent="0" marL="0">
              <a:buNone/>
            </a:pPr>
            <a:r>
              <a:rPr lang="en-US" sz="1300" dirty="0">
                <a:solidFill>
                  <a:srgbClr val="1B241F"/>
                </a:solidFill>
                <a:latin typeface="Calibri" pitchFamily="34" charset="0"/>
                <a:ea typeface="Calibri" pitchFamily="34" charset="-122"/>
                <a:cs typeface="Calibri" pitchFamily="34" charset="-120"/>
              </a:rPr>
              <a:t>open service tickets right now</a:t>
            </a:r>
            <a:endParaRPr lang="en-US" sz="1300" dirty="0"/>
          </a:p>
        </p:txBody>
      </p:sp>
      <p:sp>
        <p:nvSpPr>
          <p:cNvPr id="15" name="Text 13"/>
          <p:cNvSpPr txBox="1"/>
          <p:nvPr/>
        </p:nvSpPr>
        <p:spPr>
          <a:xfrm>
            <a:off x="8412480" y="3355848"/>
            <a:ext cx="3017520" cy="274320"/>
          </a:xfrm>
          <a:prstGeom prst="rect">
            <a:avLst/>
          </a:prstGeom>
          <a:noFill/>
          <a:ln/>
        </p:spPr>
        <p:txBody>
          <a:bodyPr wrap="square" lIns="0" tIns="0" rIns="0" bIns="0" rtlCol="0" anchor="ctr"/>
          <a:lstStyle/>
          <a:p>
            <a:pPr indent="0" marL="0">
              <a:buNone/>
            </a:pPr>
            <a:r>
              <a:rPr lang="en-US" sz="1100" i="1" dirty="0">
                <a:solidFill>
                  <a:srgbClr val="5D6B62"/>
                </a:solidFill>
                <a:latin typeface="Calibri" pitchFamily="34" charset="0"/>
                <a:ea typeface="Calibri" pitchFamily="34" charset="-122"/>
                <a:cs typeface="Calibri" pitchFamily="34" charset="-120"/>
              </a:rPr>
              <a:t>95% carry a date in the past</a:t>
            </a:r>
            <a:endParaRPr lang="en-US" sz="1100" dirty="0"/>
          </a:p>
        </p:txBody>
      </p:sp>
      <p:sp>
        <p:nvSpPr>
          <p:cNvPr id="16" name="Shape 14"/>
          <p:cNvSpPr/>
          <p:nvPr/>
        </p:nvSpPr>
        <p:spPr>
          <a:xfrm>
            <a:off x="548640" y="4023360"/>
            <a:ext cx="3520440" cy="1874520"/>
          </a:xfrm>
          <a:prstGeom prst="roundRect">
            <a:avLst>
              <a:gd name="adj" fmla="val 5854"/>
            </a:avLst>
          </a:prstGeom>
          <a:solidFill>
            <a:srgbClr val="EEF6F0"/>
          </a:solidFill>
          <a:ln w="12700">
            <a:solidFill>
              <a:srgbClr val="EEF6F0"/>
            </a:solidFill>
            <a:prstDash val="solid"/>
          </a:ln>
        </p:spPr>
      </p:sp>
      <p:sp>
        <p:nvSpPr>
          <p:cNvPr id="17" name="Text 15"/>
          <p:cNvSpPr txBox="1"/>
          <p:nvPr/>
        </p:nvSpPr>
        <p:spPr>
          <a:xfrm>
            <a:off x="822960" y="4206240"/>
            <a:ext cx="3017520" cy="822960"/>
          </a:xfrm>
          <a:prstGeom prst="rect">
            <a:avLst/>
          </a:prstGeom>
          <a:noFill/>
          <a:ln/>
        </p:spPr>
        <p:txBody>
          <a:bodyPr wrap="square" lIns="0" tIns="0" rIns="0" bIns="0" rtlCol="0" anchor="ctr"/>
          <a:lstStyle/>
          <a:p>
            <a:pPr indent="0" marL="0">
              <a:buNone/>
            </a:pPr>
            <a:r>
              <a:rPr lang="en-US" sz="4400" b="1" dirty="0">
                <a:solidFill>
                  <a:srgbClr val="155B26"/>
                </a:solidFill>
                <a:latin typeface="Cambria" pitchFamily="34" charset="0"/>
                <a:ea typeface="Cambria" pitchFamily="34" charset="-122"/>
                <a:cs typeface="Cambria" pitchFamily="34" charset="-120"/>
              </a:rPr>
              <a:t>16</a:t>
            </a:r>
            <a:endParaRPr lang="en-US" sz="4400" dirty="0"/>
          </a:p>
        </p:txBody>
      </p:sp>
      <p:sp>
        <p:nvSpPr>
          <p:cNvPr id="18" name="Text 16"/>
          <p:cNvSpPr txBox="1"/>
          <p:nvPr/>
        </p:nvSpPr>
        <p:spPr>
          <a:xfrm>
            <a:off x="822960" y="4983480"/>
            <a:ext cx="3017520" cy="548640"/>
          </a:xfrm>
          <a:prstGeom prst="rect">
            <a:avLst/>
          </a:prstGeom>
          <a:noFill/>
          <a:ln/>
        </p:spPr>
        <p:txBody>
          <a:bodyPr wrap="square" lIns="0" tIns="0" rIns="0" bIns="0" rtlCol="0" anchor="ctr"/>
          <a:lstStyle/>
          <a:p>
            <a:pPr indent="0" marL="0">
              <a:buNone/>
            </a:pPr>
            <a:r>
              <a:rPr lang="en-US" sz="1300" dirty="0">
                <a:solidFill>
                  <a:srgbClr val="1B241F"/>
                </a:solidFill>
                <a:latin typeface="Calibri" pitchFamily="34" charset="0"/>
                <a:ea typeface="Calibri" pitchFamily="34" charset="-122"/>
                <a:cs typeface="Calibri" pitchFamily="34" charset="-120"/>
              </a:rPr>
              <a:t>west-side jobs with parts in hand, waiting to be scheduled</a:t>
            </a:r>
            <a:endParaRPr lang="en-US" sz="1300" dirty="0"/>
          </a:p>
        </p:txBody>
      </p:sp>
      <p:sp>
        <p:nvSpPr>
          <p:cNvPr id="19" name="Text 17"/>
          <p:cNvSpPr txBox="1"/>
          <p:nvPr/>
        </p:nvSpPr>
        <p:spPr>
          <a:xfrm>
            <a:off x="822960" y="5504688"/>
            <a:ext cx="3017520" cy="274320"/>
          </a:xfrm>
          <a:prstGeom prst="rect">
            <a:avLst/>
          </a:prstGeom>
          <a:noFill/>
          <a:ln/>
        </p:spPr>
        <p:txBody>
          <a:bodyPr wrap="square" lIns="0" tIns="0" rIns="0" bIns="0" rtlCol="0" anchor="ctr"/>
          <a:lstStyle/>
          <a:p>
            <a:pPr indent="0" marL="0">
              <a:buNone/>
            </a:pPr>
            <a:r>
              <a:rPr lang="en-US" sz="1100" i="1" dirty="0">
                <a:solidFill>
                  <a:srgbClr val="5D6B62"/>
                </a:solidFill>
                <a:latin typeface="Calibri" pitchFamily="34" charset="0"/>
                <a:ea typeface="Calibri" pitchFamily="34" charset="-122"/>
                <a:cs typeface="Calibri" pitchFamily="34" charset="-120"/>
              </a:rPr>
              <a:t>about two full trip days</a:t>
            </a:r>
            <a:endParaRPr lang="en-US" sz="1100" dirty="0"/>
          </a:p>
        </p:txBody>
      </p:sp>
      <p:sp>
        <p:nvSpPr>
          <p:cNvPr id="20" name="Shape 18"/>
          <p:cNvSpPr/>
          <p:nvPr/>
        </p:nvSpPr>
        <p:spPr>
          <a:xfrm>
            <a:off x="4343400" y="4023360"/>
            <a:ext cx="3520440" cy="1874520"/>
          </a:xfrm>
          <a:prstGeom prst="roundRect">
            <a:avLst>
              <a:gd name="adj" fmla="val 5854"/>
            </a:avLst>
          </a:prstGeom>
          <a:solidFill>
            <a:srgbClr val="EEF6F0"/>
          </a:solidFill>
          <a:ln w="12700">
            <a:solidFill>
              <a:srgbClr val="EEF6F0"/>
            </a:solidFill>
            <a:prstDash val="solid"/>
          </a:ln>
        </p:spPr>
      </p:sp>
      <p:sp>
        <p:nvSpPr>
          <p:cNvPr id="21" name="Text 19"/>
          <p:cNvSpPr txBox="1"/>
          <p:nvPr/>
        </p:nvSpPr>
        <p:spPr>
          <a:xfrm>
            <a:off x="4617720" y="4206240"/>
            <a:ext cx="3017520" cy="822960"/>
          </a:xfrm>
          <a:prstGeom prst="rect">
            <a:avLst/>
          </a:prstGeom>
          <a:noFill/>
          <a:ln/>
        </p:spPr>
        <p:txBody>
          <a:bodyPr wrap="square" lIns="0" tIns="0" rIns="0" bIns="0" rtlCol="0" anchor="ctr"/>
          <a:lstStyle/>
          <a:p>
            <a:pPr indent="0" marL="0">
              <a:buNone/>
            </a:pPr>
            <a:r>
              <a:rPr lang="en-US" sz="4400" b="1" dirty="0">
                <a:solidFill>
                  <a:srgbClr val="155B26"/>
                </a:solidFill>
                <a:latin typeface="Cambria" pitchFamily="34" charset="0"/>
                <a:ea typeface="Cambria" pitchFamily="34" charset="-122"/>
                <a:cs typeface="Cambria" pitchFamily="34" charset="-120"/>
              </a:rPr>
              <a:t>2–2.5</a:t>
            </a:r>
            <a:endParaRPr lang="en-US" sz="4400" dirty="0"/>
          </a:p>
        </p:txBody>
      </p:sp>
      <p:sp>
        <p:nvSpPr>
          <p:cNvPr id="22" name="Text 20"/>
          <p:cNvSpPr txBox="1"/>
          <p:nvPr/>
        </p:nvSpPr>
        <p:spPr>
          <a:xfrm>
            <a:off x="4617720" y="4983480"/>
            <a:ext cx="3017520" cy="548640"/>
          </a:xfrm>
          <a:prstGeom prst="rect">
            <a:avLst/>
          </a:prstGeom>
          <a:noFill/>
          <a:ln/>
        </p:spPr>
        <p:txBody>
          <a:bodyPr wrap="square" lIns="0" tIns="0" rIns="0" bIns="0" rtlCol="0" anchor="ctr"/>
          <a:lstStyle/>
          <a:p>
            <a:pPr indent="0" marL="0">
              <a:buNone/>
            </a:pPr>
            <a:r>
              <a:rPr lang="en-US" sz="1300" dirty="0">
                <a:solidFill>
                  <a:srgbClr val="1B241F"/>
                </a:solidFill>
                <a:latin typeface="Calibri" pitchFamily="34" charset="0"/>
                <a:ea typeface="Calibri" pitchFamily="34" charset="-122"/>
                <a:cs typeface="Calibri" pitchFamily="34" charset="-120"/>
              </a:rPr>
              <a:t>completed COD jobs per tech per day (3.5–4.5 stops with warranty)</a:t>
            </a:r>
            <a:endParaRPr lang="en-US" sz="1300" dirty="0"/>
          </a:p>
        </p:txBody>
      </p:sp>
      <p:sp>
        <p:nvSpPr>
          <p:cNvPr id="23" name="Text 21"/>
          <p:cNvSpPr txBox="1"/>
          <p:nvPr/>
        </p:nvSpPr>
        <p:spPr>
          <a:xfrm>
            <a:off x="4617720" y="5504688"/>
            <a:ext cx="3017520" cy="274320"/>
          </a:xfrm>
          <a:prstGeom prst="rect">
            <a:avLst/>
          </a:prstGeom>
          <a:noFill/>
          <a:ln/>
        </p:spPr>
        <p:txBody>
          <a:bodyPr wrap="square" lIns="0" tIns="0" rIns="0" bIns="0" rtlCol="0" anchor="ctr"/>
          <a:lstStyle/>
          <a:p>
            <a:pPr indent="0" marL="0">
              <a:buNone/>
            </a:pPr>
            <a:r>
              <a:rPr lang="en-US" sz="1100" i="1" dirty="0">
                <a:solidFill>
                  <a:srgbClr val="5D6B62"/>
                </a:solidFill>
                <a:latin typeface="Calibri" pitchFamily="34" charset="0"/>
                <a:ea typeface="Calibri" pitchFamily="34" charset="-122"/>
                <a:cs typeface="Calibri" pitchFamily="34" charset="-120"/>
              </a:rPr>
              <a:t>2,303 invoices · $781k</a:t>
            </a:r>
            <a:endParaRPr lang="en-US" sz="1100" dirty="0"/>
          </a:p>
        </p:txBody>
      </p:sp>
      <p:sp>
        <p:nvSpPr>
          <p:cNvPr id="24" name="Text 22"/>
          <p:cNvSpPr txBox="1"/>
          <p:nvPr/>
        </p:nvSpPr>
        <p:spPr>
          <a:xfrm>
            <a:off x="8138160" y="4023360"/>
            <a:ext cx="3520440" cy="1874520"/>
          </a:xfrm>
          <a:prstGeom prst="rect">
            <a:avLst/>
          </a:prstGeom>
          <a:noFill/>
          <a:ln/>
        </p:spPr>
        <p:txBody>
          <a:bodyPr wrap="square" lIns="0" tIns="0" rIns="0" bIns="0" rtlCol="0" anchor="ctr"/>
          <a:lstStyle/>
          <a:p>
            <a:pPr indent="0" marL="0">
              <a:buNone/>
            </a:pPr>
            <a:r>
              <a:rPr lang="en-US" sz="1300" b="1" dirty="0">
                <a:solidFill>
                  <a:srgbClr val="1B241F"/>
                </a:solidFill>
                <a:latin typeface="Calibri" pitchFamily="34" charset="0"/>
                <a:ea typeface="Calibri" pitchFamily="34" charset="-122"/>
                <a:cs typeface="Calibri" pitchFamily="34" charset="-120"/>
              </a:rPr>
              <a:t>Every one of these is a phone call. </a:t>
            </a:r>
            <a:pPr indent="0" marL="0">
              <a:buNone/>
            </a:pPr>
            <a:r>
              <a:rPr lang="en-US" sz="1300" dirty="0">
                <a:solidFill>
                  <a:srgbClr val="5D6B62"/>
                </a:solidFill>
                <a:latin typeface="Calibri" pitchFamily="34" charset="0"/>
                <a:ea typeface="Calibri" pitchFamily="34" charset="-122"/>
                <a:cs typeface="Calibri" pitchFamily="34" charset="-120"/>
              </a:rPr>
              <a:t>"Where's my part?" · "When are you coming?" · "Did you get my request?" — the customer can't answer any of them without calling us, and a third of our diag visits end without a sale.</a:t>
            </a:r>
            <a:endParaRPr lang="en-US" sz="1300" dirty="0"/>
          </a:p>
        </p:txBody>
      </p:sp>
      <p:sp>
        <p:nvSpPr>
          <p:cNvPr id="25" name="Text 23"/>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5D6B62"/>
                </a:solidFill>
                <a:latin typeface="Calibri" pitchFamily="34" charset="0"/>
                <a:ea typeface="Calibri" pitchFamily="34" charset="-122"/>
                <a:cs typeface="Calibri" pitchFamily="34" charset="-120"/>
              </a:rPr>
              <a:t>Full breakdown by tech and zone: docs/06_Data_Findings_Sep2026.md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400" b="1" dirty="0">
                <a:solidFill>
                  <a:srgbClr val="1B241F"/>
                </a:solidFill>
                <a:latin typeface="Cambria" pitchFamily="34" charset="0"/>
                <a:ea typeface="Cambria" pitchFamily="34" charset="-122"/>
                <a:cs typeface="Cambria" pitchFamily="34" charset="-120"/>
              </a:rPr>
              <a:t>What stays exactly the same</a:t>
            </a:r>
            <a:endParaRPr lang="en-US" sz="34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500" dirty="0">
                <a:solidFill>
                  <a:srgbClr val="5D6B62"/>
                </a:solidFill>
                <a:latin typeface="Calibri" pitchFamily="34" charset="0"/>
                <a:ea typeface="Calibri" pitchFamily="34" charset="-122"/>
                <a:cs typeface="Calibri" pitchFamily="34" charset="-120"/>
              </a:rPr>
              <a:t>Before anything else — the parts of how we work that this does not touch</a:t>
            </a:r>
            <a:endParaRPr lang="en-US" sz="1500" dirty="0"/>
          </a:p>
        </p:txBody>
      </p:sp>
      <p:sp>
        <p:nvSpPr>
          <p:cNvPr id="4" name="Shape 2"/>
          <p:cNvSpPr/>
          <p:nvPr/>
        </p:nvSpPr>
        <p:spPr>
          <a:xfrm>
            <a:off x="548640" y="1901952"/>
            <a:ext cx="502920" cy="502920"/>
          </a:xfrm>
          <a:prstGeom prst="ellipse">
            <a:avLst/>
          </a:prstGeom>
          <a:solidFill>
            <a:srgbClr val="155B26"/>
          </a:solidFill>
          <a:ln w="12700">
            <a:solidFill>
              <a:srgbClr val="155B26"/>
            </a:solidFill>
            <a:prstDash val="solid"/>
          </a:ln>
        </p:spPr>
      </p:sp>
      <p:sp>
        <p:nvSpPr>
          <p:cNvPr id="5" name="Text 3"/>
          <p:cNvSpPr txBox="1"/>
          <p:nvPr/>
        </p:nvSpPr>
        <p:spPr>
          <a:xfrm>
            <a:off x="548640" y="190195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6" name="Text 4"/>
          <p:cNvSpPr txBox="1"/>
          <p:nvPr/>
        </p:nvSpPr>
        <p:spPr>
          <a:xfrm>
            <a:off x="1234440" y="1828800"/>
            <a:ext cx="4846320" cy="365760"/>
          </a:xfrm>
          <a:prstGeom prst="rect">
            <a:avLst/>
          </a:prstGeom>
          <a:noFill/>
          <a:ln/>
        </p:spPr>
        <p:txBody>
          <a:bodyPr wrap="square" lIns="0" tIns="0" rIns="0" bIns="0" rtlCol="0" anchor="ctr"/>
          <a:lstStyle/>
          <a:p>
            <a:pPr indent="0" marL="0">
              <a:buNone/>
            </a:pPr>
            <a:r>
              <a:rPr lang="en-US" sz="1700" b="1" dirty="0">
                <a:solidFill>
                  <a:srgbClr val="1B241F"/>
                </a:solidFill>
                <a:latin typeface="Calibri" pitchFamily="34" charset="0"/>
                <a:ea typeface="Calibri" pitchFamily="34" charset="-122"/>
                <a:cs typeface="Calibri" pitchFamily="34" charset="-120"/>
              </a:rPr>
              <a:t>Same status codes</a:t>
            </a:r>
            <a:endParaRPr lang="en-US" sz="1700" dirty="0"/>
          </a:p>
        </p:txBody>
      </p:sp>
      <p:sp>
        <p:nvSpPr>
          <p:cNvPr id="7" name="Text 5"/>
          <p:cNvSpPr txBox="1"/>
          <p:nvPr/>
        </p:nvSpPr>
        <p:spPr>
          <a:xfrm>
            <a:off x="1234440" y="2212848"/>
            <a:ext cx="4846320" cy="822960"/>
          </a:xfrm>
          <a:prstGeom prst="rect">
            <a:avLst/>
          </a:prstGeom>
          <a:noFill/>
          <a:ln/>
        </p:spPr>
        <p:txBody>
          <a:bodyPr wrap="square" lIns="0" tIns="0" rIns="0" bIns="0" rtlCol="0" anchor="ctr"/>
          <a:lstStyle/>
          <a:p>
            <a:pPr indent="0" marL="0">
              <a:buNone/>
            </a:pPr>
            <a:r>
              <a:rPr lang="en-US" sz="1300" dirty="0">
                <a:solidFill>
                  <a:srgbClr val="5D6B62"/>
                </a:solidFill>
                <a:latin typeface="Calibri" pitchFamily="34" charset="0"/>
                <a:ea typeface="Calibri" pitchFamily="34" charset="-122"/>
                <a:cs typeface="Calibri" pitchFamily="34" charset="-120"/>
              </a:rPr>
              <a:t>SO1 through SO9, SO4PRE, WAR — the codes you know, in ePASS and on the dashboard.</a:t>
            </a:r>
            <a:endParaRPr lang="en-US" sz="1300" dirty="0"/>
          </a:p>
        </p:txBody>
      </p:sp>
      <p:sp>
        <p:nvSpPr>
          <p:cNvPr id="8" name="Shape 6"/>
          <p:cNvSpPr/>
          <p:nvPr/>
        </p:nvSpPr>
        <p:spPr>
          <a:xfrm>
            <a:off x="6263640" y="1901952"/>
            <a:ext cx="502920" cy="502920"/>
          </a:xfrm>
          <a:prstGeom prst="ellipse">
            <a:avLst/>
          </a:prstGeom>
          <a:solidFill>
            <a:srgbClr val="155B26"/>
          </a:solidFill>
          <a:ln w="12700">
            <a:solidFill>
              <a:srgbClr val="155B26"/>
            </a:solidFill>
            <a:prstDash val="solid"/>
          </a:ln>
        </p:spPr>
      </p:sp>
      <p:sp>
        <p:nvSpPr>
          <p:cNvPr id="9" name="Text 7"/>
          <p:cNvSpPr txBox="1"/>
          <p:nvPr/>
        </p:nvSpPr>
        <p:spPr>
          <a:xfrm>
            <a:off x="6263640" y="190195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ext 8"/>
          <p:cNvSpPr txBox="1"/>
          <p:nvPr/>
        </p:nvSpPr>
        <p:spPr>
          <a:xfrm>
            <a:off x="6949440" y="1828800"/>
            <a:ext cx="4846320" cy="365760"/>
          </a:xfrm>
          <a:prstGeom prst="rect">
            <a:avLst/>
          </a:prstGeom>
          <a:noFill/>
          <a:ln/>
        </p:spPr>
        <p:txBody>
          <a:bodyPr wrap="square" lIns="0" tIns="0" rIns="0" bIns="0" rtlCol="0" anchor="ctr"/>
          <a:lstStyle/>
          <a:p>
            <a:pPr indent="0" marL="0">
              <a:buNone/>
            </a:pPr>
            <a:r>
              <a:rPr lang="en-US" sz="1700" b="1" dirty="0">
                <a:solidFill>
                  <a:srgbClr val="1B241F"/>
                </a:solidFill>
                <a:latin typeface="Calibri" pitchFamily="34" charset="0"/>
                <a:ea typeface="Calibri" pitchFamily="34" charset="-122"/>
                <a:cs typeface="Calibri" pitchFamily="34" charset="-120"/>
              </a:rPr>
              <a:t>The tech who diagnoses owns the call</a:t>
            </a:r>
            <a:endParaRPr lang="en-US" sz="1700" dirty="0"/>
          </a:p>
        </p:txBody>
      </p:sp>
      <p:sp>
        <p:nvSpPr>
          <p:cNvPr id="11" name="Text 9"/>
          <p:cNvSpPr txBox="1"/>
          <p:nvPr/>
        </p:nvSpPr>
        <p:spPr>
          <a:xfrm>
            <a:off x="6949440" y="2212848"/>
            <a:ext cx="4846320" cy="822960"/>
          </a:xfrm>
          <a:prstGeom prst="rect">
            <a:avLst/>
          </a:prstGeom>
          <a:noFill/>
          <a:ln/>
        </p:spPr>
        <p:txBody>
          <a:bodyPr wrap="square" lIns="0" tIns="0" rIns="0" bIns="0" rtlCol="0" anchor="ctr"/>
          <a:lstStyle/>
          <a:p>
            <a:pPr indent="0" marL="0">
              <a:buNone/>
            </a:pPr>
            <a:r>
              <a:rPr lang="en-US" sz="1300" dirty="0">
                <a:solidFill>
                  <a:srgbClr val="5D6B62"/>
                </a:solidFill>
                <a:latin typeface="Calibri" pitchFamily="34" charset="0"/>
                <a:ea typeface="Calibri" pitchFamily="34" charset="-122"/>
                <a:cs typeface="Calibri" pitchFamily="34" charset="-120"/>
              </a:rPr>
              <a:t>Installs, revisits and callbacks stay with the diagnosing tech. The system enforces it.</a:t>
            </a:r>
            <a:endParaRPr lang="en-US" sz="1300" dirty="0"/>
          </a:p>
        </p:txBody>
      </p:sp>
      <p:sp>
        <p:nvSpPr>
          <p:cNvPr id="12" name="Shape 10"/>
          <p:cNvSpPr/>
          <p:nvPr/>
        </p:nvSpPr>
        <p:spPr>
          <a:xfrm>
            <a:off x="548640" y="3364992"/>
            <a:ext cx="502920" cy="502920"/>
          </a:xfrm>
          <a:prstGeom prst="ellipse">
            <a:avLst/>
          </a:prstGeom>
          <a:solidFill>
            <a:srgbClr val="155B26"/>
          </a:solidFill>
          <a:ln w="12700">
            <a:solidFill>
              <a:srgbClr val="155B26"/>
            </a:solidFill>
            <a:prstDash val="solid"/>
          </a:ln>
        </p:spPr>
      </p:sp>
      <p:sp>
        <p:nvSpPr>
          <p:cNvPr id="13" name="Text 11"/>
          <p:cNvSpPr txBox="1"/>
          <p:nvPr/>
        </p:nvSpPr>
        <p:spPr>
          <a:xfrm>
            <a:off x="548640" y="336499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4" name="Text 12"/>
          <p:cNvSpPr txBox="1"/>
          <p:nvPr/>
        </p:nvSpPr>
        <p:spPr>
          <a:xfrm>
            <a:off x="1234440" y="3291840"/>
            <a:ext cx="4846320" cy="365760"/>
          </a:xfrm>
          <a:prstGeom prst="rect">
            <a:avLst/>
          </a:prstGeom>
          <a:noFill/>
          <a:ln/>
        </p:spPr>
        <p:txBody>
          <a:bodyPr wrap="square" lIns="0" tIns="0" rIns="0" bIns="0" rtlCol="0" anchor="ctr"/>
          <a:lstStyle/>
          <a:p>
            <a:pPr indent="0" marL="0">
              <a:buNone/>
            </a:pPr>
            <a:r>
              <a:rPr lang="en-US" sz="1700" b="1" dirty="0">
                <a:solidFill>
                  <a:srgbClr val="1B241F"/>
                </a:solidFill>
                <a:latin typeface="Calibri" pitchFamily="34" charset="0"/>
                <a:ea typeface="Calibri" pitchFamily="34" charset="-122"/>
                <a:cs typeface="Calibri" pitchFamily="34" charset="-120"/>
              </a:rPr>
              <a:t>Demitrius owns the board</a:t>
            </a:r>
            <a:endParaRPr lang="en-US" sz="1700" dirty="0"/>
          </a:p>
        </p:txBody>
      </p:sp>
      <p:sp>
        <p:nvSpPr>
          <p:cNvPr id="15" name="Text 13"/>
          <p:cNvSpPr txBox="1"/>
          <p:nvPr/>
        </p:nvSpPr>
        <p:spPr>
          <a:xfrm>
            <a:off x="1234440" y="3675888"/>
            <a:ext cx="4846320" cy="822960"/>
          </a:xfrm>
          <a:prstGeom prst="rect">
            <a:avLst/>
          </a:prstGeom>
          <a:noFill/>
          <a:ln/>
        </p:spPr>
        <p:txBody>
          <a:bodyPr wrap="square" lIns="0" tIns="0" rIns="0" bIns="0" rtlCol="0" anchor="ctr"/>
          <a:lstStyle/>
          <a:p>
            <a:pPr indent="0" marL="0">
              <a:buNone/>
            </a:pPr>
            <a:r>
              <a:rPr lang="en-US" sz="1300" dirty="0">
                <a:solidFill>
                  <a:srgbClr val="5D6B62"/>
                </a:solidFill>
                <a:latin typeface="Calibri" pitchFamily="34" charset="0"/>
                <a:ea typeface="Calibri" pitchFamily="34" charset="-122"/>
                <a:cs typeface="Calibri" pitchFamily="34" charset="-120"/>
              </a:rPr>
              <a:t>Two-truck view, drag and drop, pins. The board proposes; he decides. Nothing moves without him.</a:t>
            </a:r>
            <a:endParaRPr lang="en-US" sz="1300" dirty="0"/>
          </a:p>
        </p:txBody>
      </p:sp>
      <p:sp>
        <p:nvSpPr>
          <p:cNvPr id="16" name="Shape 14"/>
          <p:cNvSpPr/>
          <p:nvPr/>
        </p:nvSpPr>
        <p:spPr>
          <a:xfrm>
            <a:off x="6263640" y="3364992"/>
            <a:ext cx="502920" cy="502920"/>
          </a:xfrm>
          <a:prstGeom prst="ellipse">
            <a:avLst/>
          </a:prstGeom>
          <a:solidFill>
            <a:srgbClr val="155B26"/>
          </a:solidFill>
          <a:ln w="12700">
            <a:solidFill>
              <a:srgbClr val="155B26"/>
            </a:solidFill>
            <a:prstDash val="solid"/>
          </a:ln>
        </p:spPr>
      </p:sp>
      <p:sp>
        <p:nvSpPr>
          <p:cNvPr id="17" name="Text 15"/>
          <p:cNvSpPr txBox="1"/>
          <p:nvPr/>
        </p:nvSpPr>
        <p:spPr>
          <a:xfrm>
            <a:off x="6263640" y="336499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6"/>
          <p:cNvSpPr txBox="1"/>
          <p:nvPr/>
        </p:nvSpPr>
        <p:spPr>
          <a:xfrm>
            <a:off x="6949440" y="3291840"/>
            <a:ext cx="4846320" cy="365760"/>
          </a:xfrm>
          <a:prstGeom prst="rect">
            <a:avLst/>
          </a:prstGeom>
          <a:noFill/>
          <a:ln/>
        </p:spPr>
        <p:txBody>
          <a:bodyPr wrap="square" lIns="0" tIns="0" rIns="0" bIns="0" rtlCol="0" anchor="ctr"/>
          <a:lstStyle/>
          <a:p>
            <a:pPr indent="0" marL="0">
              <a:buNone/>
            </a:pPr>
            <a:r>
              <a:rPr lang="en-US" sz="1700" b="1" dirty="0">
                <a:solidFill>
                  <a:srgbClr val="1B241F"/>
                </a:solidFill>
                <a:latin typeface="Calibri" pitchFamily="34" charset="0"/>
                <a:ea typeface="Calibri" pitchFamily="34" charset="-122"/>
                <a:cs typeface="Calibri" pitchFamily="34" charset="-120"/>
              </a:rPr>
              <a:t>Noell owns quotes and billing</a:t>
            </a:r>
            <a:endParaRPr lang="en-US" sz="1700" dirty="0"/>
          </a:p>
        </p:txBody>
      </p:sp>
      <p:sp>
        <p:nvSpPr>
          <p:cNvPr id="19" name="Text 17"/>
          <p:cNvSpPr txBox="1"/>
          <p:nvPr/>
        </p:nvSpPr>
        <p:spPr>
          <a:xfrm>
            <a:off x="6949440" y="3675888"/>
            <a:ext cx="4846320" cy="822960"/>
          </a:xfrm>
          <a:prstGeom prst="rect">
            <a:avLst/>
          </a:prstGeom>
          <a:noFill/>
          <a:ln/>
        </p:spPr>
        <p:txBody>
          <a:bodyPr wrap="square" lIns="0" tIns="0" rIns="0" bIns="0" rtlCol="0" anchor="ctr"/>
          <a:lstStyle/>
          <a:p>
            <a:pPr indent="0" marL="0">
              <a:buNone/>
            </a:pPr>
            <a:r>
              <a:rPr lang="en-US" sz="1300" dirty="0">
                <a:solidFill>
                  <a:srgbClr val="5D6B62"/>
                </a:solidFill>
                <a:latin typeface="Calibri" pitchFamily="34" charset="0"/>
                <a:ea typeface="Calibri" pitchFamily="34" charset="-122"/>
                <a:cs typeface="Calibri" pitchFamily="34" charset="-120"/>
              </a:rPr>
              <a:t>She reviews what the system builds and handles the exceptions — she stops re-typing PDFs.</a:t>
            </a:r>
            <a:endParaRPr lang="en-US" sz="1300" dirty="0"/>
          </a:p>
        </p:txBody>
      </p:sp>
      <p:sp>
        <p:nvSpPr>
          <p:cNvPr id="20" name="Shape 18"/>
          <p:cNvSpPr/>
          <p:nvPr/>
        </p:nvSpPr>
        <p:spPr>
          <a:xfrm>
            <a:off x="548640" y="4828032"/>
            <a:ext cx="502920" cy="502920"/>
          </a:xfrm>
          <a:prstGeom prst="ellipse">
            <a:avLst/>
          </a:prstGeom>
          <a:solidFill>
            <a:srgbClr val="155B26"/>
          </a:solidFill>
          <a:ln w="12700">
            <a:solidFill>
              <a:srgbClr val="155B26"/>
            </a:solidFill>
            <a:prstDash val="solid"/>
          </a:ln>
        </p:spPr>
      </p:sp>
      <p:sp>
        <p:nvSpPr>
          <p:cNvPr id="21" name="Text 19"/>
          <p:cNvSpPr txBox="1"/>
          <p:nvPr/>
        </p:nvSpPr>
        <p:spPr>
          <a:xfrm>
            <a:off x="548640" y="482803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txBox="1"/>
          <p:nvPr/>
        </p:nvSpPr>
        <p:spPr>
          <a:xfrm>
            <a:off x="1234440" y="4754880"/>
            <a:ext cx="4846320" cy="365760"/>
          </a:xfrm>
          <a:prstGeom prst="rect">
            <a:avLst/>
          </a:prstGeom>
          <a:noFill/>
          <a:ln/>
        </p:spPr>
        <p:txBody>
          <a:bodyPr wrap="square" lIns="0" tIns="0" rIns="0" bIns="0" rtlCol="0" anchor="ctr"/>
          <a:lstStyle/>
          <a:p>
            <a:pPr indent="0" marL="0">
              <a:buNone/>
            </a:pPr>
            <a:r>
              <a:rPr lang="en-US" sz="1700" b="1" dirty="0">
                <a:solidFill>
                  <a:srgbClr val="1B241F"/>
                </a:solidFill>
                <a:latin typeface="Calibri" pitchFamily="34" charset="0"/>
                <a:ea typeface="Calibri" pitchFamily="34" charset="-122"/>
                <a:cs typeface="Calibri" pitchFamily="34" charset="-120"/>
              </a:rPr>
              <a:t>John runs his own route</a:t>
            </a:r>
            <a:endParaRPr lang="en-US" sz="1700" dirty="0"/>
          </a:p>
        </p:txBody>
      </p:sp>
      <p:sp>
        <p:nvSpPr>
          <p:cNvPr id="23" name="Text 21"/>
          <p:cNvSpPr txBox="1"/>
          <p:nvPr/>
        </p:nvSpPr>
        <p:spPr>
          <a:xfrm>
            <a:off x="1234440" y="5138928"/>
            <a:ext cx="4846320" cy="822960"/>
          </a:xfrm>
          <a:prstGeom prst="rect">
            <a:avLst/>
          </a:prstGeom>
          <a:noFill/>
          <a:ln/>
        </p:spPr>
        <p:txBody>
          <a:bodyPr wrap="square" lIns="0" tIns="0" rIns="0" bIns="0" rtlCol="0" anchor="ctr"/>
          <a:lstStyle/>
          <a:p>
            <a:pPr indent="0" marL="0">
              <a:buNone/>
            </a:pPr>
            <a:r>
              <a:rPr lang="en-US" sz="1300" dirty="0">
                <a:solidFill>
                  <a:srgbClr val="5D6B62"/>
                </a:solidFill>
                <a:latin typeface="Calibri" pitchFamily="34" charset="0"/>
                <a:ea typeface="Calibri" pitchFamily="34" charset="-122"/>
                <a:cs typeface="Calibri" pitchFamily="34" charset="-120"/>
              </a:rPr>
              <a:t>West trips are built by the office and sequenced by John. The optimizer never touches his stops.</a:t>
            </a:r>
            <a:endParaRPr lang="en-US" sz="1300" dirty="0"/>
          </a:p>
        </p:txBody>
      </p:sp>
      <p:sp>
        <p:nvSpPr>
          <p:cNvPr id="24" name="Shape 22"/>
          <p:cNvSpPr/>
          <p:nvPr/>
        </p:nvSpPr>
        <p:spPr>
          <a:xfrm>
            <a:off x="6263640" y="4828032"/>
            <a:ext cx="502920" cy="502920"/>
          </a:xfrm>
          <a:prstGeom prst="ellipse">
            <a:avLst/>
          </a:prstGeom>
          <a:solidFill>
            <a:srgbClr val="155B26"/>
          </a:solidFill>
          <a:ln w="12700">
            <a:solidFill>
              <a:srgbClr val="155B26"/>
            </a:solidFill>
            <a:prstDash val="solid"/>
          </a:ln>
        </p:spPr>
      </p:sp>
      <p:sp>
        <p:nvSpPr>
          <p:cNvPr id="25" name="Text 23"/>
          <p:cNvSpPr txBox="1"/>
          <p:nvPr/>
        </p:nvSpPr>
        <p:spPr>
          <a:xfrm>
            <a:off x="6263640" y="482803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6" name="Text 24"/>
          <p:cNvSpPr txBox="1"/>
          <p:nvPr/>
        </p:nvSpPr>
        <p:spPr>
          <a:xfrm>
            <a:off x="6949440" y="4754880"/>
            <a:ext cx="4846320" cy="365760"/>
          </a:xfrm>
          <a:prstGeom prst="rect">
            <a:avLst/>
          </a:prstGeom>
          <a:noFill/>
          <a:ln/>
        </p:spPr>
        <p:txBody>
          <a:bodyPr wrap="square" lIns="0" tIns="0" rIns="0" bIns="0" rtlCol="0" anchor="ctr"/>
          <a:lstStyle/>
          <a:p>
            <a:pPr indent="0" marL="0">
              <a:buNone/>
            </a:pPr>
            <a:r>
              <a:rPr lang="en-US" sz="1700" b="1" dirty="0">
                <a:solidFill>
                  <a:srgbClr val="1B241F"/>
                </a:solidFill>
                <a:latin typeface="Calibri" pitchFamily="34" charset="0"/>
                <a:ea typeface="Calibri" pitchFamily="34" charset="-122"/>
                <a:cs typeface="Calibri" pitchFamily="34" charset="-120"/>
              </a:rPr>
              <a:t>ePASS stays until NetSuite</a:t>
            </a:r>
            <a:endParaRPr lang="en-US" sz="1700" dirty="0"/>
          </a:p>
        </p:txBody>
      </p:sp>
      <p:sp>
        <p:nvSpPr>
          <p:cNvPr id="27" name="Text 25"/>
          <p:cNvSpPr txBox="1"/>
          <p:nvPr/>
        </p:nvSpPr>
        <p:spPr>
          <a:xfrm>
            <a:off x="6949440" y="5138928"/>
            <a:ext cx="4846320" cy="822960"/>
          </a:xfrm>
          <a:prstGeom prst="rect">
            <a:avLst/>
          </a:prstGeom>
          <a:noFill/>
          <a:ln/>
        </p:spPr>
        <p:txBody>
          <a:bodyPr wrap="square" lIns="0" tIns="0" rIns="0" bIns="0" rtlCol="0" anchor="ctr"/>
          <a:lstStyle/>
          <a:p>
            <a:pPr indent="0" marL="0">
              <a:buNone/>
            </a:pPr>
            <a:r>
              <a:rPr lang="en-US" sz="1300" dirty="0">
                <a:solidFill>
                  <a:srgbClr val="5D6B62"/>
                </a:solidFill>
                <a:latin typeface="Calibri" pitchFamily="34" charset="0"/>
                <a:ea typeface="Calibri" pitchFamily="34" charset="-122"/>
                <a:cs typeface="Calibri" pitchFamily="34" charset="-120"/>
              </a:rPr>
              <a:t>The dashboard becomes the source of truth; ePASS is kept in step by a sync queue, not by techs.</a:t>
            </a:r>
            <a:endParaRPr lang="en-US" sz="1300" dirty="0"/>
          </a:p>
        </p:txBody>
      </p:sp>
      <p:sp>
        <p:nvSpPr>
          <p:cNvPr id="28" name="Text 26"/>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5D6B62"/>
                </a:solidFill>
                <a:latin typeface="Calibri" pitchFamily="34" charset="0"/>
                <a:ea typeface="Calibri" pitchFamily="34" charset="-122"/>
                <a:cs typeface="Calibri" pitchFamily="34" charset="-120"/>
              </a:rPr>
              <a:t>Decisions log: docs/01_Service_Journey_Blueprint.md §13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400" b="1" dirty="0">
                <a:solidFill>
                  <a:srgbClr val="1B241F"/>
                </a:solidFill>
                <a:latin typeface="Cambria" pitchFamily="34" charset="0"/>
                <a:ea typeface="Cambria" pitchFamily="34" charset="-122"/>
                <a:cs typeface="Cambria" pitchFamily="34" charset="-120"/>
              </a:rPr>
              <a:t>What changes — mostly work that goes away</a:t>
            </a:r>
            <a:endParaRPr lang="en-US" sz="34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500" dirty="0">
                <a:solidFill>
                  <a:srgbClr val="5D6B62"/>
                </a:solidFill>
                <a:latin typeface="Calibri" pitchFamily="34" charset="0"/>
                <a:ea typeface="Calibri" pitchFamily="34" charset="-122"/>
                <a:cs typeface="Calibri" pitchFamily="34" charset="-120"/>
              </a:rPr>
              <a:t>One line per person. Red is what stops; green is what starts.</a:t>
            </a:r>
            <a:endParaRPr lang="en-US" sz="1500" dirty="0"/>
          </a:p>
        </p:txBody>
      </p:sp>
      <p:sp>
        <p:nvSpPr>
          <p:cNvPr id="4" name="Text 2"/>
          <p:cNvSpPr txBox="1"/>
          <p:nvPr/>
        </p:nvSpPr>
        <p:spPr>
          <a:xfrm>
            <a:off x="2103120" y="1490472"/>
            <a:ext cx="4480560" cy="274320"/>
          </a:xfrm>
          <a:prstGeom prst="rect">
            <a:avLst/>
          </a:prstGeom>
          <a:noFill/>
          <a:ln/>
        </p:spPr>
        <p:txBody>
          <a:bodyPr wrap="square" lIns="0" tIns="0" rIns="0" bIns="0" rtlCol="0" anchor="ctr"/>
          <a:lstStyle/>
          <a:p>
            <a:pPr indent="0" marL="0">
              <a:buNone/>
            </a:pPr>
            <a:r>
              <a:rPr lang="en-US" sz="1000" b="1" spc="200" kern="0" dirty="0">
                <a:solidFill>
                  <a:srgbClr val="B3362F"/>
                </a:solidFill>
                <a:latin typeface="Calibri" pitchFamily="34" charset="0"/>
                <a:ea typeface="Calibri" pitchFamily="34" charset="-122"/>
                <a:cs typeface="Calibri" pitchFamily="34" charset="-120"/>
              </a:rPr>
              <a:t>STOPS</a:t>
            </a:r>
            <a:endParaRPr lang="en-US" sz="1000" dirty="0"/>
          </a:p>
        </p:txBody>
      </p:sp>
      <p:sp>
        <p:nvSpPr>
          <p:cNvPr id="5" name="Text 3"/>
          <p:cNvSpPr txBox="1"/>
          <p:nvPr/>
        </p:nvSpPr>
        <p:spPr>
          <a:xfrm>
            <a:off x="6858000" y="1490472"/>
            <a:ext cx="4754880" cy="274320"/>
          </a:xfrm>
          <a:prstGeom prst="rect">
            <a:avLst/>
          </a:prstGeom>
          <a:noFill/>
          <a:ln/>
        </p:spPr>
        <p:txBody>
          <a:bodyPr wrap="square" lIns="0" tIns="0" rIns="0" bIns="0" rtlCol="0" anchor="ctr"/>
          <a:lstStyle/>
          <a:p>
            <a:pPr indent="0" marL="0">
              <a:buNone/>
            </a:pPr>
            <a:r>
              <a:rPr lang="en-US" sz="1000" b="1" spc="200" kern="0" dirty="0">
                <a:solidFill>
                  <a:srgbClr val="155B26"/>
                </a:solidFill>
                <a:latin typeface="Calibri" pitchFamily="34" charset="0"/>
                <a:ea typeface="Calibri" pitchFamily="34" charset="-122"/>
                <a:cs typeface="Calibri" pitchFamily="34" charset="-120"/>
              </a:rPr>
              <a:t>STARTS</a:t>
            </a:r>
            <a:endParaRPr lang="en-US" sz="1000" dirty="0"/>
          </a:p>
        </p:txBody>
      </p:sp>
      <p:sp>
        <p:nvSpPr>
          <p:cNvPr id="6" name="Shape 4"/>
          <p:cNvSpPr/>
          <p:nvPr/>
        </p:nvSpPr>
        <p:spPr>
          <a:xfrm>
            <a:off x="548640" y="1728216"/>
            <a:ext cx="11064240" cy="731520"/>
          </a:xfrm>
          <a:prstGeom prst="rect">
            <a:avLst/>
          </a:prstGeom>
          <a:solidFill>
            <a:srgbClr val="F5F8F5"/>
          </a:solidFill>
          <a:ln w="12700">
            <a:solidFill>
              <a:srgbClr val="F5F8F5"/>
            </a:solidFill>
            <a:prstDash val="solid"/>
          </a:ln>
        </p:spPr>
      </p:sp>
      <p:sp>
        <p:nvSpPr>
          <p:cNvPr id="7" name="Text 5"/>
          <p:cNvSpPr txBox="1"/>
          <p:nvPr/>
        </p:nvSpPr>
        <p:spPr>
          <a:xfrm>
            <a:off x="685800" y="1783080"/>
            <a:ext cx="1371600" cy="594360"/>
          </a:xfrm>
          <a:prstGeom prst="rect">
            <a:avLst/>
          </a:prstGeom>
          <a:noFill/>
          <a:ln/>
        </p:spPr>
        <p:txBody>
          <a:bodyPr wrap="square" lIns="0" tIns="0" rIns="0" bIns="0" rtlCol="0" anchor="ctr"/>
          <a:lstStyle/>
          <a:p>
            <a:pPr indent="0" marL="0">
              <a:buNone/>
            </a:pPr>
            <a:r>
              <a:rPr lang="en-US" sz="1500" b="1" dirty="0">
                <a:solidFill>
                  <a:srgbClr val="1B241F"/>
                </a:solidFill>
                <a:latin typeface="Calibri" pitchFamily="34" charset="0"/>
                <a:ea typeface="Calibri" pitchFamily="34" charset="-122"/>
                <a:cs typeface="Calibri" pitchFamily="34" charset="-120"/>
              </a:rPr>
              <a:t>Techs</a:t>
            </a:r>
            <a:endParaRPr lang="en-US" sz="1500" dirty="0"/>
          </a:p>
        </p:txBody>
      </p:sp>
      <p:sp>
        <p:nvSpPr>
          <p:cNvPr id="8" name="Text 6"/>
          <p:cNvSpPr txBox="1"/>
          <p:nvPr/>
        </p:nvSpPr>
        <p:spPr>
          <a:xfrm>
            <a:off x="2103120" y="1783080"/>
            <a:ext cx="4480560" cy="594360"/>
          </a:xfrm>
          <a:prstGeom prst="rect">
            <a:avLst/>
          </a:prstGeom>
          <a:noFill/>
          <a:ln/>
        </p:spPr>
        <p:txBody>
          <a:bodyPr wrap="square" lIns="0" tIns="0" rIns="0" bIns="0" rtlCol="0" anchor="ctr"/>
          <a:lstStyle/>
          <a:p>
            <a:pPr indent="0" marL="0">
              <a:buNone/>
            </a:pPr>
            <a:r>
              <a:rPr lang="en-US" sz="1150" dirty="0">
                <a:solidFill>
                  <a:srgbClr val="7A2E28"/>
                </a:solidFill>
                <a:latin typeface="Calibri" pitchFamily="34" charset="0"/>
                <a:ea typeface="Calibri" pitchFamily="34" charset="-122"/>
                <a:cs typeface="Calibri" pitchFamily="34" charset="-120"/>
              </a:rPr>
              <a:t>the next-morning write-up in ePASS · re-typing parts and labor · touching ePASS at all</a:t>
            </a:r>
            <a:endParaRPr lang="en-US" sz="1150" dirty="0"/>
          </a:p>
        </p:txBody>
      </p:sp>
      <p:sp>
        <p:nvSpPr>
          <p:cNvPr id="9" name="Text 7"/>
          <p:cNvSpPr txBox="1"/>
          <p:nvPr/>
        </p:nvSpPr>
        <p:spPr>
          <a:xfrm>
            <a:off x="6858000" y="1783080"/>
            <a:ext cx="4754880" cy="594360"/>
          </a:xfrm>
          <a:prstGeom prst="rect">
            <a:avLst/>
          </a:prstGeom>
          <a:noFill/>
          <a:ln/>
        </p:spPr>
        <p:txBody>
          <a:bodyPr wrap="square" lIns="0" tIns="0" rIns="0" bIns="0" rtlCol="0" anchor="ctr"/>
          <a:lstStyle/>
          <a:p>
            <a:pPr indent="0" marL="0">
              <a:buNone/>
            </a:pPr>
            <a:r>
              <a:rPr lang="en-US" sz="1150" dirty="0">
                <a:solidFill>
                  <a:srgbClr val="174A27"/>
                </a:solidFill>
                <a:latin typeface="Calibri" pitchFamily="34" charset="0"/>
                <a:ea typeface="Calibri" pitchFamily="34" charset="-122"/>
                <a:cs typeface="Calibri" pitchFamily="34" charset="-120"/>
              </a:rPr>
              <a:t>notes, photos, parts and labor on the phone at the job · quote in the field, customer signs · "On my way" texts itself</a:t>
            </a:r>
            <a:endParaRPr lang="en-US" sz="1150" dirty="0"/>
          </a:p>
        </p:txBody>
      </p:sp>
      <p:sp>
        <p:nvSpPr>
          <p:cNvPr id="10" name="Text 8"/>
          <p:cNvSpPr txBox="1"/>
          <p:nvPr/>
        </p:nvSpPr>
        <p:spPr>
          <a:xfrm>
            <a:off x="685800" y="2514600"/>
            <a:ext cx="1371600" cy="594360"/>
          </a:xfrm>
          <a:prstGeom prst="rect">
            <a:avLst/>
          </a:prstGeom>
          <a:noFill/>
          <a:ln/>
        </p:spPr>
        <p:txBody>
          <a:bodyPr wrap="square" lIns="0" tIns="0" rIns="0" bIns="0" rtlCol="0" anchor="ctr"/>
          <a:lstStyle/>
          <a:p>
            <a:pPr indent="0" marL="0">
              <a:buNone/>
            </a:pPr>
            <a:r>
              <a:rPr lang="en-US" sz="1500" b="1" dirty="0">
                <a:solidFill>
                  <a:srgbClr val="1B241F"/>
                </a:solidFill>
                <a:latin typeface="Calibri" pitchFamily="34" charset="0"/>
                <a:ea typeface="Calibri" pitchFamily="34" charset="-122"/>
                <a:cs typeface="Calibri" pitchFamily="34" charset="-120"/>
              </a:rPr>
              <a:t>Demitrius</a:t>
            </a:r>
            <a:endParaRPr lang="en-US" sz="1500" dirty="0"/>
          </a:p>
        </p:txBody>
      </p:sp>
      <p:sp>
        <p:nvSpPr>
          <p:cNvPr id="11" name="Text 9"/>
          <p:cNvSpPr txBox="1"/>
          <p:nvPr/>
        </p:nvSpPr>
        <p:spPr>
          <a:xfrm>
            <a:off x="2103120" y="2514600"/>
            <a:ext cx="4480560" cy="594360"/>
          </a:xfrm>
          <a:prstGeom prst="rect">
            <a:avLst/>
          </a:prstGeom>
          <a:noFill/>
          <a:ln/>
        </p:spPr>
        <p:txBody>
          <a:bodyPr wrap="square" lIns="0" tIns="0" rIns="0" bIns="0" rtlCol="0" anchor="ctr"/>
          <a:lstStyle/>
          <a:p>
            <a:pPr indent="0" marL="0">
              <a:buNone/>
            </a:pPr>
            <a:r>
              <a:rPr lang="en-US" sz="1150" dirty="0">
                <a:solidFill>
                  <a:srgbClr val="7A2E28"/>
                </a:solidFill>
                <a:latin typeface="Calibri" pitchFamily="34" charset="0"/>
                <a:ea typeface="Calibri" pitchFamily="34" charset="-122"/>
                <a:cs typeface="Calibri" pitchFamily="34" charset="-120"/>
              </a:rPr>
              <a:t>building every route from scratch · the Saturday dump day · chasing SO5s to marry with SO1s</a:t>
            </a:r>
            <a:endParaRPr lang="en-US" sz="1150" dirty="0"/>
          </a:p>
        </p:txBody>
      </p:sp>
      <p:sp>
        <p:nvSpPr>
          <p:cNvPr id="12" name="Text 10"/>
          <p:cNvSpPr txBox="1"/>
          <p:nvPr/>
        </p:nvSpPr>
        <p:spPr>
          <a:xfrm>
            <a:off x="6858000" y="2514600"/>
            <a:ext cx="4754880" cy="594360"/>
          </a:xfrm>
          <a:prstGeom prst="rect">
            <a:avLst/>
          </a:prstGeom>
          <a:noFill/>
          <a:ln/>
        </p:spPr>
        <p:txBody>
          <a:bodyPr wrap="square" lIns="0" tIns="0" rIns="0" bIns="0" rtlCol="0" anchor="ctr"/>
          <a:lstStyle/>
          <a:p>
            <a:pPr indent="0" marL="0">
              <a:buNone/>
            </a:pPr>
            <a:r>
              <a:rPr lang="en-US" sz="1150" dirty="0">
                <a:solidFill>
                  <a:srgbClr val="174A27"/>
                </a:solidFill>
                <a:latin typeface="Calibri" pitchFamily="34" charset="0"/>
                <a:ea typeface="Calibri" pitchFamily="34" charset="-122"/>
                <a:cs typeface="Calibri" pitchFamily="34" charset="-120"/>
              </a:rPr>
              <a:t>a board that proposes routes and trip days · customers pick their own windows · he supervises and overrides</a:t>
            </a:r>
            <a:endParaRPr lang="en-US" sz="1150" dirty="0"/>
          </a:p>
        </p:txBody>
      </p:sp>
      <p:sp>
        <p:nvSpPr>
          <p:cNvPr id="13" name="Shape 11"/>
          <p:cNvSpPr/>
          <p:nvPr/>
        </p:nvSpPr>
        <p:spPr>
          <a:xfrm>
            <a:off x="548640" y="3191256"/>
            <a:ext cx="11064240" cy="731520"/>
          </a:xfrm>
          <a:prstGeom prst="rect">
            <a:avLst/>
          </a:prstGeom>
          <a:solidFill>
            <a:srgbClr val="F5F8F5"/>
          </a:solidFill>
          <a:ln w="12700">
            <a:solidFill>
              <a:srgbClr val="F5F8F5"/>
            </a:solidFill>
            <a:prstDash val="solid"/>
          </a:ln>
        </p:spPr>
      </p:sp>
      <p:sp>
        <p:nvSpPr>
          <p:cNvPr id="14" name="Text 12"/>
          <p:cNvSpPr txBox="1"/>
          <p:nvPr/>
        </p:nvSpPr>
        <p:spPr>
          <a:xfrm>
            <a:off x="685800" y="3246120"/>
            <a:ext cx="1371600" cy="594360"/>
          </a:xfrm>
          <a:prstGeom prst="rect">
            <a:avLst/>
          </a:prstGeom>
          <a:noFill/>
          <a:ln/>
        </p:spPr>
        <p:txBody>
          <a:bodyPr wrap="square" lIns="0" tIns="0" rIns="0" bIns="0" rtlCol="0" anchor="ctr"/>
          <a:lstStyle/>
          <a:p>
            <a:pPr indent="0" marL="0">
              <a:buNone/>
            </a:pPr>
            <a:r>
              <a:rPr lang="en-US" sz="1500" b="1" dirty="0">
                <a:solidFill>
                  <a:srgbClr val="1B241F"/>
                </a:solidFill>
                <a:latin typeface="Calibri" pitchFamily="34" charset="0"/>
                <a:ea typeface="Calibri" pitchFamily="34" charset="-122"/>
                <a:cs typeface="Calibri" pitchFamily="34" charset="-120"/>
              </a:rPr>
              <a:t>Parts</a:t>
            </a:r>
            <a:endParaRPr lang="en-US" sz="1500" dirty="0"/>
          </a:p>
        </p:txBody>
      </p:sp>
      <p:sp>
        <p:nvSpPr>
          <p:cNvPr id="15" name="Text 13"/>
          <p:cNvSpPr txBox="1"/>
          <p:nvPr/>
        </p:nvSpPr>
        <p:spPr>
          <a:xfrm>
            <a:off x="2103120" y="3246120"/>
            <a:ext cx="4480560" cy="594360"/>
          </a:xfrm>
          <a:prstGeom prst="rect">
            <a:avLst/>
          </a:prstGeom>
          <a:noFill/>
          <a:ln/>
        </p:spPr>
        <p:txBody>
          <a:bodyPr wrap="square" lIns="0" tIns="0" rIns="0" bIns="0" rtlCol="0" anchor="ctr"/>
          <a:lstStyle/>
          <a:p>
            <a:pPr indent="0" marL="0">
              <a:buNone/>
            </a:pPr>
            <a:r>
              <a:rPr lang="en-US" sz="1150" dirty="0">
                <a:solidFill>
                  <a:srgbClr val="7A2E28"/>
                </a:solidFill>
                <a:latin typeface="Calibri" pitchFamily="34" charset="0"/>
                <a:ea typeface="Calibri" pitchFamily="34" charset="-122"/>
                <a:cs typeface="Calibri" pitchFamily="34" charset="-120"/>
              </a:rPr>
              <a:t>running the SO2 and SO3 reports · price-checking quotes that already went stale</a:t>
            </a:r>
            <a:endParaRPr lang="en-US" sz="1150" dirty="0"/>
          </a:p>
        </p:txBody>
      </p:sp>
      <p:sp>
        <p:nvSpPr>
          <p:cNvPr id="16" name="Text 14"/>
          <p:cNvSpPr txBox="1"/>
          <p:nvPr/>
        </p:nvSpPr>
        <p:spPr>
          <a:xfrm>
            <a:off x="6858000" y="3246120"/>
            <a:ext cx="4754880" cy="594360"/>
          </a:xfrm>
          <a:prstGeom prst="rect">
            <a:avLst/>
          </a:prstGeom>
          <a:noFill/>
          <a:ln/>
        </p:spPr>
        <p:txBody>
          <a:bodyPr wrap="square" lIns="0" tIns="0" rIns="0" bIns="0" rtlCol="0" anchor="ctr"/>
          <a:lstStyle/>
          <a:p>
            <a:pPr indent="0" marL="0">
              <a:buNone/>
            </a:pPr>
            <a:r>
              <a:rPr lang="en-US" sz="1150" dirty="0">
                <a:solidFill>
                  <a:srgbClr val="174A27"/>
                </a:solidFill>
                <a:latin typeface="Calibri" pitchFamily="34" charset="0"/>
                <a:ea typeface="Calibri" pitchFamily="34" charset="-122"/>
                <a:cs typeface="Calibri" pitchFamily="34" charset="-120"/>
              </a:rPr>
              <a:t>a verify queue that fills itself the moment a tech submits · PO builder · ETA that drives the customer's tracker</a:t>
            </a:r>
            <a:endParaRPr lang="en-US" sz="1150" dirty="0"/>
          </a:p>
        </p:txBody>
      </p:sp>
      <p:sp>
        <p:nvSpPr>
          <p:cNvPr id="17" name="Text 15"/>
          <p:cNvSpPr txBox="1"/>
          <p:nvPr/>
        </p:nvSpPr>
        <p:spPr>
          <a:xfrm>
            <a:off x="685800" y="3977640"/>
            <a:ext cx="1371600" cy="594360"/>
          </a:xfrm>
          <a:prstGeom prst="rect">
            <a:avLst/>
          </a:prstGeom>
          <a:noFill/>
          <a:ln/>
        </p:spPr>
        <p:txBody>
          <a:bodyPr wrap="square" lIns="0" tIns="0" rIns="0" bIns="0" rtlCol="0" anchor="ctr"/>
          <a:lstStyle/>
          <a:p>
            <a:pPr indent="0" marL="0">
              <a:buNone/>
            </a:pPr>
            <a:r>
              <a:rPr lang="en-US" sz="1500" b="1" dirty="0">
                <a:solidFill>
                  <a:srgbClr val="1B241F"/>
                </a:solidFill>
                <a:latin typeface="Calibri" pitchFamily="34" charset="0"/>
                <a:ea typeface="Calibri" pitchFamily="34" charset="-122"/>
                <a:cs typeface="Calibri" pitchFamily="34" charset="-120"/>
              </a:rPr>
              <a:t>Noell</a:t>
            </a:r>
            <a:endParaRPr lang="en-US" sz="1500" dirty="0"/>
          </a:p>
        </p:txBody>
      </p:sp>
      <p:sp>
        <p:nvSpPr>
          <p:cNvPr id="18" name="Text 16"/>
          <p:cNvSpPr txBox="1"/>
          <p:nvPr/>
        </p:nvSpPr>
        <p:spPr>
          <a:xfrm>
            <a:off x="2103120" y="3977640"/>
            <a:ext cx="4480560" cy="594360"/>
          </a:xfrm>
          <a:prstGeom prst="rect">
            <a:avLst/>
          </a:prstGeom>
          <a:noFill/>
          <a:ln/>
        </p:spPr>
        <p:txBody>
          <a:bodyPr wrap="square" lIns="0" tIns="0" rIns="0" bIns="0" rtlCol="0" anchor="ctr"/>
          <a:lstStyle/>
          <a:p>
            <a:pPr indent="0" marL="0">
              <a:buNone/>
            </a:pPr>
            <a:r>
              <a:rPr lang="en-US" sz="1150" dirty="0">
                <a:solidFill>
                  <a:srgbClr val="7A2E28"/>
                </a:solidFill>
                <a:latin typeface="Calibri" pitchFamily="34" charset="0"/>
                <a:ea typeface="Calibri" pitchFamily="34" charset="-122"/>
                <a:cs typeface="Calibri" pitchFamily="34" charset="-120"/>
              </a:rPr>
              <a:t>the quote PDF drop · manual SO3 flips · running the card by hand</a:t>
            </a:r>
            <a:endParaRPr lang="en-US" sz="1150" dirty="0"/>
          </a:p>
        </p:txBody>
      </p:sp>
      <p:sp>
        <p:nvSpPr>
          <p:cNvPr id="19" name="Text 17"/>
          <p:cNvSpPr txBox="1"/>
          <p:nvPr/>
        </p:nvSpPr>
        <p:spPr>
          <a:xfrm>
            <a:off x="6858000" y="3977640"/>
            <a:ext cx="4754880" cy="594360"/>
          </a:xfrm>
          <a:prstGeom prst="rect">
            <a:avLst/>
          </a:prstGeom>
          <a:noFill/>
          <a:ln/>
        </p:spPr>
        <p:txBody>
          <a:bodyPr wrap="square" lIns="0" tIns="0" rIns="0" bIns="0" rtlCol="0" anchor="ctr"/>
          <a:lstStyle/>
          <a:p>
            <a:pPr indent="0" marL="0">
              <a:buNone/>
            </a:pPr>
            <a:r>
              <a:rPr lang="en-US" sz="1150" dirty="0">
                <a:solidFill>
                  <a:srgbClr val="174A27"/>
                </a:solidFill>
                <a:latin typeface="Calibri" pitchFamily="34" charset="0"/>
                <a:ea typeface="Calibri" pitchFamily="34" charset="-122"/>
                <a:cs typeface="Calibri" pitchFamily="34" charset="-120"/>
              </a:rPr>
              <a:t>quotes built from the tech's lines and sent automatically · an exceptions queue · auto-charge at completion</a:t>
            </a:r>
            <a:endParaRPr lang="en-US" sz="1150" dirty="0"/>
          </a:p>
        </p:txBody>
      </p:sp>
      <p:sp>
        <p:nvSpPr>
          <p:cNvPr id="20" name="Shape 18"/>
          <p:cNvSpPr/>
          <p:nvPr/>
        </p:nvSpPr>
        <p:spPr>
          <a:xfrm>
            <a:off x="548640" y="4654296"/>
            <a:ext cx="11064240" cy="731520"/>
          </a:xfrm>
          <a:prstGeom prst="rect">
            <a:avLst/>
          </a:prstGeom>
          <a:solidFill>
            <a:srgbClr val="F5F8F5"/>
          </a:solidFill>
          <a:ln w="12700">
            <a:solidFill>
              <a:srgbClr val="F5F8F5"/>
            </a:solidFill>
            <a:prstDash val="solid"/>
          </a:ln>
        </p:spPr>
      </p:sp>
      <p:sp>
        <p:nvSpPr>
          <p:cNvPr id="21" name="Text 19"/>
          <p:cNvSpPr txBox="1"/>
          <p:nvPr/>
        </p:nvSpPr>
        <p:spPr>
          <a:xfrm>
            <a:off x="685800" y="4709160"/>
            <a:ext cx="1371600" cy="594360"/>
          </a:xfrm>
          <a:prstGeom prst="rect">
            <a:avLst/>
          </a:prstGeom>
          <a:noFill/>
          <a:ln/>
        </p:spPr>
        <p:txBody>
          <a:bodyPr wrap="square" lIns="0" tIns="0" rIns="0" bIns="0" rtlCol="0" anchor="ctr"/>
          <a:lstStyle/>
          <a:p>
            <a:pPr indent="0" marL="0">
              <a:buNone/>
            </a:pPr>
            <a:r>
              <a:rPr lang="en-US" sz="1500" b="1" dirty="0">
                <a:solidFill>
                  <a:srgbClr val="1B241F"/>
                </a:solidFill>
                <a:latin typeface="Calibri" pitchFamily="34" charset="0"/>
                <a:ea typeface="Calibri" pitchFamily="34" charset="-122"/>
                <a:cs typeface="Calibri" pitchFamily="34" charset="-120"/>
              </a:rPr>
              <a:t>Michael</a:t>
            </a:r>
            <a:endParaRPr lang="en-US" sz="1500" dirty="0"/>
          </a:p>
        </p:txBody>
      </p:sp>
      <p:sp>
        <p:nvSpPr>
          <p:cNvPr id="22" name="Text 20"/>
          <p:cNvSpPr txBox="1"/>
          <p:nvPr/>
        </p:nvSpPr>
        <p:spPr>
          <a:xfrm>
            <a:off x="2103120" y="4709160"/>
            <a:ext cx="4480560" cy="594360"/>
          </a:xfrm>
          <a:prstGeom prst="rect">
            <a:avLst/>
          </a:prstGeom>
          <a:noFill/>
          <a:ln/>
        </p:spPr>
        <p:txBody>
          <a:bodyPr wrap="square" lIns="0" tIns="0" rIns="0" bIns="0" rtlCol="0" anchor="ctr"/>
          <a:lstStyle/>
          <a:p>
            <a:pPr indent="0" marL="0">
              <a:buNone/>
            </a:pPr>
            <a:r>
              <a:rPr lang="en-US" sz="1150" dirty="0">
                <a:solidFill>
                  <a:srgbClr val="7A2E28"/>
                </a:solidFill>
                <a:latin typeface="Calibri" pitchFamily="34" charset="0"/>
                <a:ea typeface="Calibri" pitchFamily="34" charset="-122"/>
                <a:cs typeface="Calibri" pitchFamily="34" charset="-120"/>
              </a:rPr>
              <a:t>"TICKET MADE. MSD" · typing tech notes into ePASS</a:t>
            </a:r>
            <a:endParaRPr lang="en-US" sz="1150" dirty="0"/>
          </a:p>
        </p:txBody>
      </p:sp>
      <p:sp>
        <p:nvSpPr>
          <p:cNvPr id="23" name="Text 21"/>
          <p:cNvSpPr txBox="1"/>
          <p:nvPr/>
        </p:nvSpPr>
        <p:spPr>
          <a:xfrm>
            <a:off x="6858000" y="4709160"/>
            <a:ext cx="4754880" cy="594360"/>
          </a:xfrm>
          <a:prstGeom prst="rect">
            <a:avLst/>
          </a:prstGeom>
          <a:noFill/>
          <a:ln/>
        </p:spPr>
        <p:txBody>
          <a:bodyPr wrap="square" lIns="0" tIns="0" rIns="0" bIns="0" rtlCol="0" anchor="ctr"/>
          <a:lstStyle/>
          <a:p>
            <a:pPr indent="0" marL="0">
              <a:buNone/>
            </a:pPr>
            <a:r>
              <a:rPr lang="en-US" sz="1150" dirty="0">
                <a:solidFill>
                  <a:srgbClr val="174A27"/>
                </a:solidFill>
                <a:latin typeface="Calibri" pitchFamily="34" charset="0"/>
                <a:ea typeface="Calibri" pitchFamily="34" charset="-122"/>
                <a:cs typeface="Calibri" pitchFamily="34" charset="-120"/>
              </a:rPr>
              <a:t>a paste-ready packet per ticket that confirms itself on the next import</a:t>
            </a:r>
            <a:endParaRPr lang="en-US" sz="1150" dirty="0"/>
          </a:p>
        </p:txBody>
      </p:sp>
      <p:sp>
        <p:nvSpPr>
          <p:cNvPr id="24" name="Text 22"/>
          <p:cNvSpPr txBox="1"/>
          <p:nvPr/>
        </p:nvSpPr>
        <p:spPr>
          <a:xfrm>
            <a:off x="685800" y="5440680"/>
            <a:ext cx="1371600" cy="594360"/>
          </a:xfrm>
          <a:prstGeom prst="rect">
            <a:avLst/>
          </a:prstGeom>
          <a:noFill/>
          <a:ln/>
        </p:spPr>
        <p:txBody>
          <a:bodyPr wrap="square" lIns="0" tIns="0" rIns="0" bIns="0" rtlCol="0" anchor="ctr"/>
          <a:lstStyle/>
          <a:p>
            <a:pPr indent="0" marL="0">
              <a:buNone/>
            </a:pPr>
            <a:r>
              <a:rPr lang="en-US" sz="1500" b="1" dirty="0">
                <a:solidFill>
                  <a:srgbClr val="1B241F"/>
                </a:solidFill>
                <a:latin typeface="Calibri" pitchFamily="34" charset="0"/>
                <a:ea typeface="Calibri" pitchFamily="34" charset="-122"/>
                <a:cs typeface="Calibri" pitchFamily="34" charset="-120"/>
              </a:rPr>
              <a:t>Customers</a:t>
            </a:r>
            <a:endParaRPr lang="en-US" sz="1500" dirty="0"/>
          </a:p>
        </p:txBody>
      </p:sp>
      <p:sp>
        <p:nvSpPr>
          <p:cNvPr id="25" name="Text 23"/>
          <p:cNvSpPr txBox="1"/>
          <p:nvPr/>
        </p:nvSpPr>
        <p:spPr>
          <a:xfrm>
            <a:off x="2103120" y="5440680"/>
            <a:ext cx="4480560" cy="594360"/>
          </a:xfrm>
          <a:prstGeom prst="rect">
            <a:avLst/>
          </a:prstGeom>
          <a:noFill/>
          <a:ln/>
        </p:spPr>
        <p:txBody>
          <a:bodyPr wrap="square" lIns="0" tIns="0" rIns="0" bIns="0" rtlCol="0" anchor="ctr"/>
          <a:lstStyle/>
          <a:p>
            <a:pPr indent="0" marL="0">
              <a:buNone/>
            </a:pPr>
            <a:r>
              <a:rPr lang="en-US" sz="1150" dirty="0">
                <a:solidFill>
                  <a:srgbClr val="7A2E28"/>
                </a:solidFill>
                <a:latin typeface="Calibri" pitchFamily="34" charset="0"/>
                <a:ea typeface="Calibri" pitchFamily="34" charset="-122"/>
                <a:cs typeface="Calibri" pitchFamily="34" charset="-120"/>
              </a:rPr>
              <a:t>calling to ask where their part is · calling to schedule · waiting for a call back</a:t>
            </a:r>
            <a:endParaRPr lang="en-US" sz="1150" dirty="0"/>
          </a:p>
        </p:txBody>
      </p:sp>
      <p:sp>
        <p:nvSpPr>
          <p:cNvPr id="26" name="Text 24"/>
          <p:cNvSpPr txBox="1"/>
          <p:nvPr/>
        </p:nvSpPr>
        <p:spPr>
          <a:xfrm>
            <a:off x="6858000" y="5440680"/>
            <a:ext cx="4754880" cy="594360"/>
          </a:xfrm>
          <a:prstGeom prst="rect">
            <a:avLst/>
          </a:prstGeom>
          <a:noFill/>
          <a:ln/>
        </p:spPr>
        <p:txBody>
          <a:bodyPr wrap="square" lIns="0" tIns="0" rIns="0" bIns="0" rtlCol="0" anchor="ctr"/>
          <a:lstStyle/>
          <a:p>
            <a:pPr indent="0" marL="0">
              <a:buNone/>
            </a:pPr>
            <a:r>
              <a:rPr lang="en-US" sz="1150" dirty="0">
                <a:solidFill>
                  <a:srgbClr val="174A27"/>
                </a:solidFill>
                <a:latin typeface="Calibri" pitchFamily="34" charset="0"/>
                <a:ea typeface="Calibri" pitchFamily="34" charset="-122"/>
                <a:cs typeface="Calibri" pitchFamily="34" charset="-120"/>
              </a:rPr>
              <a:t>pick a time on the form · a tracker like a pizza order · a text at every step</a:t>
            </a:r>
            <a:endParaRPr lang="en-US" sz="1150" dirty="0"/>
          </a:p>
        </p:txBody>
      </p:sp>
      <p:sp>
        <p:nvSpPr>
          <p:cNvPr id="27" name="Text 25"/>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5D6B62"/>
                </a:solidFill>
                <a:latin typeface="Calibri" pitchFamily="34" charset="0"/>
                <a:ea typeface="Calibri" pitchFamily="34" charset="-122"/>
                <a:cs typeface="Calibri" pitchFamily="34" charset="-120"/>
              </a:rPr>
              <a:t>The tech row is the live demo in a minute. Everything in the STOPS column is a report someone remembers to run today.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400" b="1" dirty="0">
                <a:solidFill>
                  <a:srgbClr val="1B241F"/>
                </a:solidFill>
                <a:latin typeface="Cambria" pitchFamily="34" charset="0"/>
                <a:ea typeface="Cambria" pitchFamily="34" charset="-122"/>
                <a:cs typeface="Cambria" pitchFamily="34" charset="-120"/>
              </a:rPr>
              <a:t>What the customer sees</a:t>
            </a:r>
            <a:endParaRPr lang="en-US" sz="34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500" dirty="0">
                <a:solidFill>
                  <a:srgbClr val="5D6B62"/>
                </a:solidFill>
                <a:latin typeface="Calibri" pitchFamily="34" charset="0"/>
                <a:ea typeface="Calibri" pitchFamily="34" charset="-122"/>
                <a:cs typeface="Calibri" pitchFamily="34" charset="-120"/>
              </a:rPr>
              <a:t>"Is my repair ready yet?" — the page that replaces the phone call</a:t>
            </a:r>
            <a:endParaRPr lang="en-US" sz="1500" dirty="0"/>
          </a:p>
        </p:txBody>
      </p:sp>
      <p:pic>
        <p:nvPicPr>
          <p:cNvPr id="4" name="Image 0" descr="preencoded.png">    </p:cNvPr>
          <p:cNvPicPr>
            <a:picLocks noChangeAspect="1"/>
          </p:cNvPicPr>
          <p:nvPr/>
        </p:nvPicPr>
        <p:blipFill>
          <a:blip r:embed="rId1"/>
          <a:stretch>
            <a:fillRect/>
          </a:stretch>
        </p:blipFill>
        <p:spPr>
          <a:xfrm>
            <a:off x="548640" y="1783080"/>
            <a:ext cx="3931920" cy="4562856"/>
          </a:xfrm>
          <a:prstGeom prst="rect">
            <a:avLst/>
          </a:prstGeom>
        </p:spPr>
      </p:pic>
      <p:sp>
        <p:nvSpPr>
          <p:cNvPr id="5" name="Text 2"/>
          <p:cNvSpPr txBox="1"/>
          <p:nvPr/>
        </p:nvSpPr>
        <p:spPr>
          <a:xfrm>
            <a:off x="4937760" y="1783080"/>
            <a:ext cx="2743200" cy="274320"/>
          </a:xfrm>
          <a:prstGeom prst="rect">
            <a:avLst/>
          </a:prstGeom>
          <a:noFill/>
          <a:ln/>
        </p:spPr>
        <p:txBody>
          <a:bodyPr wrap="square" lIns="0" tIns="0" rIns="0" bIns="0" rtlCol="0" anchor="ctr"/>
          <a:lstStyle/>
          <a:p>
            <a:pPr indent="0" marL="0">
              <a:buNone/>
            </a:pPr>
            <a:r>
              <a:rPr lang="en-US" sz="1100" b="1" spc="100" kern="0" dirty="0">
                <a:solidFill>
                  <a:srgbClr val="155B26"/>
                </a:solidFill>
                <a:latin typeface="Calibri" pitchFamily="34" charset="0"/>
                <a:ea typeface="Calibri" pitchFamily="34" charset="-122"/>
                <a:cs typeface="Calibri" pitchFamily="34" charset="-120"/>
              </a:rPr>
              <a:t>Form submitted</a:t>
            </a:r>
            <a:endParaRPr lang="en-US" sz="1100" dirty="0"/>
          </a:p>
        </p:txBody>
      </p:sp>
      <p:sp>
        <p:nvSpPr>
          <p:cNvPr id="6" name="Shape 3"/>
          <p:cNvSpPr/>
          <p:nvPr/>
        </p:nvSpPr>
        <p:spPr>
          <a:xfrm>
            <a:off x="4937760" y="2075688"/>
            <a:ext cx="6675120" cy="713232"/>
          </a:xfrm>
          <a:prstGeom prst="roundRect">
            <a:avLst>
              <a:gd name="adj" fmla="val 19231"/>
            </a:avLst>
          </a:prstGeom>
          <a:solidFill>
            <a:srgbClr val="EEF6F0"/>
          </a:solidFill>
          <a:ln w="12700">
            <a:solidFill>
              <a:srgbClr val="EEF6F0"/>
            </a:solidFill>
            <a:prstDash val="solid"/>
          </a:ln>
        </p:spPr>
      </p:sp>
      <p:sp>
        <p:nvSpPr>
          <p:cNvPr id="7" name="Text 4"/>
          <p:cNvSpPr txBox="1"/>
          <p:nvPr/>
        </p:nvSpPr>
        <p:spPr>
          <a:xfrm>
            <a:off x="5120640" y="2112264"/>
            <a:ext cx="6309360" cy="640080"/>
          </a:xfrm>
          <a:prstGeom prst="rect">
            <a:avLst/>
          </a:prstGeom>
          <a:noFill/>
          <a:ln/>
        </p:spPr>
        <p:txBody>
          <a:bodyPr wrap="square" lIns="0" tIns="0" rIns="0" bIns="0" rtlCol="0" anchor="ctr"/>
          <a:lstStyle/>
          <a:p>
            <a:pPr indent="0" marL="0">
              <a:buNone/>
            </a:pPr>
            <a:r>
              <a:rPr lang="en-US" sz="1250" dirty="0">
                <a:solidFill>
                  <a:srgbClr val="1B241F"/>
                </a:solidFill>
                <a:latin typeface="Calibri" pitchFamily="34" charset="0"/>
                <a:ea typeface="Calibri" pitchFamily="34" charset="-122"/>
                <a:cs typeface="Calibri" pitchFamily="34" charset="-120"/>
              </a:rPr>
              <a:t>We've got your request for your dishwasher. Your reference is SV00123421. Track it here: {link}</a:t>
            </a:r>
            <a:endParaRPr lang="en-US" sz="1250" dirty="0"/>
          </a:p>
        </p:txBody>
      </p:sp>
      <p:sp>
        <p:nvSpPr>
          <p:cNvPr id="8" name="Text 5"/>
          <p:cNvSpPr txBox="1"/>
          <p:nvPr/>
        </p:nvSpPr>
        <p:spPr>
          <a:xfrm>
            <a:off x="4937760" y="2898648"/>
            <a:ext cx="2743200" cy="274320"/>
          </a:xfrm>
          <a:prstGeom prst="rect">
            <a:avLst/>
          </a:prstGeom>
          <a:noFill/>
          <a:ln/>
        </p:spPr>
        <p:txBody>
          <a:bodyPr wrap="square" lIns="0" tIns="0" rIns="0" bIns="0" rtlCol="0" anchor="ctr"/>
          <a:lstStyle/>
          <a:p>
            <a:pPr indent="0" marL="0">
              <a:buNone/>
            </a:pPr>
            <a:r>
              <a:rPr lang="en-US" sz="1100" b="1" spc="100" kern="0" dirty="0">
                <a:solidFill>
                  <a:srgbClr val="155B26"/>
                </a:solidFill>
                <a:latin typeface="Calibri" pitchFamily="34" charset="0"/>
                <a:ea typeface="Calibri" pitchFamily="34" charset="-122"/>
                <a:cs typeface="Calibri" pitchFamily="34" charset="-120"/>
              </a:rPr>
              <a:t>Parts ordered</a:t>
            </a:r>
            <a:endParaRPr lang="en-US" sz="1100" dirty="0"/>
          </a:p>
        </p:txBody>
      </p:sp>
      <p:sp>
        <p:nvSpPr>
          <p:cNvPr id="9" name="Shape 6"/>
          <p:cNvSpPr/>
          <p:nvPr/>
        </p:nvSpPr>
        <p:spPr>
          <a:xfrm>
            <a:off x="4937760" y="3191256"/>
            <a:ext cx="6675120" cy="713232"/>
          </a:xfrm>
          <a:prstGeom prst="roundRect">
            <a:avLst>
              <a:gd name="adj" fmla="val 19231"/>
            </a:avLst>
          </a:prstGeom>
          <a:solidFill>
            <a:srgbClr val="EEF6F0"/>
          </a:solidFill>
          <a:ln w="12700">
            <a:solidFill>
              <a:srgbClr val="EEF6F0"/>
            </a:solidFill>
            <a:prstDash val="solid"/>
          </a:ln>
        </p:spPr>
      </p:sp>
      <p:sp>
        <p:nvSpPr>
          <p:cNvPr id="10" name="Text 7"/>
          <p:cNvSpPr txBox="1"/>
          <p:nvPr/>
        </p:nvSpPr>
        <p:spPr>
          <a:xfrm>
            <a:off x="5120640" y="3227832"/>
            <a:ext cx="6309360" cy="640080"/>
          </a:xfrm>
          <a:prstGeom prst="rect">
            <a:avLst/>
          </a:prstGeom>
          <a:noFill/>
          <a:ln/>
        </p:spPr>
        <p:txBody>
          <a:bodyPr wrap="square" lIns="0" tIns="0" rIns="0" bIns="0" rtlCol="0" anchor="ctr"/>
          <a:lstStyle/>
          <a:p>
            <a:pPr indent="0" marL="0">
              <a:buNone/>
            </a:pPr>
            <a:r>
              <a:rPr lang="en-US" sz="1250" dirty="0">
                <a:solidFill>
                  <a:srgbClr val="1B241F"/>
                </a:solidFill>
                <a:latin typeface="Calibri" pitchFamily="34" charset="0"/>
                <a:ea typeface="Calibri" pitchFamily="34" charset="-122"/>
                <a:cs typeface="Calibri" pitchFamily="34" charset="-120"/>
              </a:rPr>
              <a:t>Parts for your dishwasher are ordered and expected Sep 18. We'll text the moment they check in so you can pick your install time.</a:t>
            </a:r>
            <a:endParaRPr lang="en-US" sz="1250" dirty="0"/>
          </a:p>
        </p:txBody>
      </p:sp>
      <p:sp>
        <p:nvSpPr>
          <p:cNvPr id="11" name="Text 8"/>
          <p:cNvSpPr txBox="1"/>
          <p:nvPr/>
        </p:nvSpPr>
        <p:spPr>
          <a:xfrm>
            <a:off x="4937760" y="4014216"/>
            <a:ext cx="2743200" cy="274320"/>
          </a:xfrm>
          <a:prstGeom prst="rect">
            <a:avLst/>
          </a:prstGeom>
          <a:noFill/>
          <a:ln/>
        </p:spPr>
        <p:txBody>
          <a:bodyPr wrap="square" lIns="0" tIns="0" rIns="0" bIns="0" rtlCol="0" anchor="ctr"/>
          <a:lstStyle/>
          <a:p>
            <a:pPr indent="0" marL="0">
              <a:buNone/>
            </a:pPr>
            <a:r>
              <a:rPr lang="en-US" sz="1100" b="1" spc="100" kern="0" dirty="0">
                <a:solidFill>
                  <a:srgbClr val="155B26"/>
                </a:solidFill>
                <a:latin typeface="Calibri" pitchFamily="34" charset="0"/>
                <a:ea typeface="Calibri" pitchFamily="34" charset="-122"/>
                <a:cs typeface="Calibri" pitchFamily="34" charset="-120"/>
              </a:rPr>
              <a:t>Part arrived</a:t>
            </a:r>
            <a:endParaRPr lang="en-US" sz="1100" dirty="0"/>
          </a:p>
        </p:txBody>
      </p:sp>
      <p:sp>
        <p:nvSpPr>
          <p:cNvPr id="12" name="Shape 9"/>
          <p:cNvSpPr/>
          <p:nvPr/>
        </p:nvSpPr>
        <p:spPr>
          <a:xfrm>
            <a:off x="4937760" y="4306824"/>
            <a:ext cx="6675120" cy="713232"/>
          </a:xfrm>
          <a:prstGeom prst="roundRect">
            <a:avLst>
              <a:gd name="adj" fmla="val 19231"/>
            </a:avLst>
          </a:prstGeom>
          <a:solidFill>
            <a:srgbClr val="EEF6F0"/>
          </a:solidFill>
          <a:ln w="12700">
            <a:solidFill>
              <a:srgbClr val="EEF6F0"/>
            </a:solidFill>
            <a:prstDash val="solid"/>
          </a:ln>
        </p:spPr>
      </p:sp>
      <p:sp>
        <p:nvSpPr>
          <p:cNvPr id="13" name="Text 10"/>
          <p:cNvSpPr txBox="1"/>
          <p:nvPr/>
        </p:nvSpPr>
        <p:spPr>
          <a:xfrm>
            <a:off x="5120640" y="4343400"/>
            <a:ext cx="6309360" cy="640080"/>
          </a:xfrm>
          <a:prstGeom prst="rect">
            <a:avLst/>
          </a:prstGeom>
          <a:noFill/>
          <a:ln/>
        </p:spPr>
        <p:txBody>
          <a:bodyPr wrap="square" lIns="0" tIns="0" rIns="0" bIns="0" rtlCol="0" anchor="ctr"/>
          <a:lstStyle/>
          <a:p>
            <a:pPr indent="0" marL="0">
              <a:buNone/>
            </a:pPr>
            <a:r>
              <a:rPr lang="en-US" sz="1250" dirty="0">
                <a:solidFill>
                  <a:srgbClr val="1B241F"/>
                </a:solidFill>
                <a:latin typeface="Calibri" pitchFamily="34" charset="0"/>
                <a:ea typeface="Calibri" pitchFamily="34" charset="-122"/>
                <a:cs typeface="Calibri" pitchFamily="34" charset="-120"/>
              </a:rPr>
              <a:t>Your part is in! Pick an install time with Diogo: {link}</a:t>
            </a:r>
            <a:endParaRPr lang="en-US" sz="1250" dirty="0"/>
          </a:p>
        </p:txBody>
      </p:sp>
      <p:sp>
        <p:nvSpPr>
          <p:cNvPr id="14" name="Text 11"/>
          <p:cNvSpPr txBox="1"/>
          <p:nvPr/>
        </p:nvSpPr>
        <p:spPr>
          <a:xfrm>
            <a:off x="4937760" y="5129784"/>
            <a:ext cx="2743200" cy="274320"/>
          </a:xfrm>
          <a:prstGeom prst="rect">
            <a:avLst/>
          </a:prstGeom>
          <a:noFill/>
          <a:ln/>
        </p:spPr>
        <p:txBody>
          <a:bodyPr wrap="square" lIns="0" tIns="0" rIns="0" bIns="0" rtlCol="0" anchor="ctr"/>
          <a:lstStyle/>
          <a:p>
            <a:pPr indent="0" marL="0">
              <a:buNone/>
            </a:pPr>
            <a:r>
              <a:rPr lang="en-US" sz="1100" b="1" spc="100" kern="0" dirty="0">
                <a:solidFill>
                  <a:srgbClr val="155B26"/>
                </a:solidFill>
                <a:latin typeface="Calibri" pitchFamily="34" charset="0"/>
                <a:ea typeface="Calibri" pitchFamily="34" charset="-122"/>
                <a:cs typeface="Calibri" pitchFamily="34" charset="-120"/>
              </a:rPr>
              <a:t>Repair complete</a:t>
            </a:r>
            <a:endParaRPr lang="en-US" sz="1100" dirty="0"/>
          </a:p>
        </p:txBody>
      </p:sp>
      <p:sp>
        <p:nvSpPr>
          <p:cNvPr id="15" name="Shape 12"/>
          <p:cNvSpPr/>
          <p:nvPr/>
        </p:nvSpPr>
        <p:spPr>
          <a:xfrm>
            <a:off x="4937760" y="5422392"/>
            <a:ext cx="6675120" cy="713232"/>
          </a:xfrm>
          <a:prstGeom prst="roundRect">
            <a:avLst>
              <a:gd name="adj" fmla="val 19231"/>
            </a:avLst>
          </a:prstGeom>
          <a:solidFill>
            <a:srgbClr val="EEF6F0"/>
          </a:solidFill>
          <a:ln w="12700">
            <a:solidFill>
              <a:srgbClr val="EEF6F0"/>
            </a:solidFill>
            <a:prstDash val="solid"/>
          </a:ln>
        </p:spPr>
      </p:sp>
      <p:sp>
        <p:nvSpPr>
          <p:cNvPr id="16" name="Text 13"/>
          <p:cNvSpPr txBox="1"/>
          <p:nvPr/>
        </p:nvSpPr>
        <p:spPr>
          <a:xfrm>
            <a:off x="5120640" y="5458968"/>
            <a:ext cx="6309360" cy="640080"/>
          </a:xfrm>
          <a:prstGeom prst="rect">
            <a:avLst/>
          </a:prstGeom>
          <a:noFill/>
          <a:ln/>
        </p:spPr>
        <p:txBody>
          <a:bodyPr wrap="square" lIns="0" tIns="0" rIns="0" bIns="0" rtlCol="0" anchor="ctr"/>
          <a:lstStyle/>
          <a:p>
            <a:pPr indent="0" marL="0">
              <a:buNone/>
            </a:pPr>
            <a:r>
              <a:rPr lang="en-US" sz="1250" dirty="0">
                <a:solidFill>
                  <a:srgbClr val="1B241F"/>
                </a:solidFill>
                <a:latin typeface="Calibri" pitchFamily="34" charset="0"/>
                <a:ea typeface="Calibri" pitchFamily="34" charset="-122"/>
                <a:cs typeface="Calibri" pitchFamily="34" charset="-120"/>
              </a:rPr>
              <a:t>Your dishwasher is repaired. Your receipt: {link}. Thanks for choosing Wilson.</a:t>
            </a:r>
            <a:endParaRPr lang="en-US" sz="1250" dirty="0"/>
          </a:p>
        </p:txBody>
      </p:sp>
      <p:sp>
        <p:nvSpPr>
          <p:cNvPr id="17" name="Text 14"/>
          <p:cNvSpPr txBox="1"/>
          <p:nvPr/>
        </p:nvSpPr>
        <p:spPr>
          <a:xfrm>
            <a:off x="4937760" y="6263640"/>
            <a:ext cx="6675120" cy="411480"/>
          </a:xfrm>
          <a:prstGeom prst="rect">
            <a:avLst/>
          </a:prstGeom>
          <a:noFill/>
          <a:ln/>
        </p:spPr>
        <p:txBody>
          <a:bodyPr wrap="square" lIns="0" tIns="0" rIns="0" bIns="0" rtlCol="0" anchor="ctr"/>
          <a:lstStyle/>
          <a:p>
            <a:pPr indent="0" marL="0">
              <a:buNone/>
            </a:pPr>
            <a:r>
              <a:rPr lang="en-US" sz="1100" i="1" dirty="0">
                <a:solidFill>
                  <a:srgbClr val="5D6B62"/>
                </a:solidFill>
                <a:latin typeface="Calibri" pitchFamily="34" charset="0"/>
                <a:ea typeface="Calibri" pitchFamily="34" charset="-122"/>
                <a:cs typeface="Calibri" pitchFamily="34" charset="-120"/>
              </a:rPr>
              <a:t>Nine stages, dates on each, and the one thing the customer can do right now. Customers in the Hill Country and Austin pick their own windows; far-out areas are told we group visits and get a date by text; out-of-area gets a call.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400" b="1" dirty="0">
                <a:solidFill>
                  <a:srgbClr val="1B241F"/>
                </a:solidFill>
                <a:latin typeface="Cambria" pitchFamily="34" charset="0"/>
                <a:ea typeface="Cambria" pitchFamily="34" charset="-122"/>
                <a:cs typeface="Cambria" pitchFamily="34" charset="-120"/>
              </a:rPr>
              <a:t>How it ships, and what I'm asking for today</a:t>
            </a:r>
            <a:endParaRPr lang="en-US" sz="34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500" dirty="0">
                <a:solidFill>
                  <a:srgbClr val="5D6B62"/>
                </a:solidFill>
                <a:latin typeface="Calibri" pitchFamily="34" charset="0"/>
                <a:ea typeface="Calibri" pitchFamily="34" charset="-122"/>
                <a:cs typeface="Calibri" pitchFamily="34" charset="-120"/>
              </a:rPr>
              <a:t>Each phase is useful on its own. Phase 1 changes nothing about how any of us work.</a:t>
            </a:r>
            <a:endParaRPr lang="en-US" sz="1500" dirty="0"/>
          </a:p>
        </p:txBody>
      </p:sp>
      <p:sp>
        <p:nvSpPr>
          <p:cNvPr id="4" name="Shape 2"/>
          <p:cNvSpPr/>
          <p:nvPr/>
        </p:nvSpPr>
        <p:spPr>
          <a:xfrm>
            <a:off x="548640" y="1828800"/>
            <a:ext cx="548640" cy="548640"/>
          </a:xfrm>
          <a:prstGeom prst="ellipse">
            <a:avLst/>
          </a:prstGeom>
          <a:solidFill>
            <a:srgbClr val="155B26"/>
          </a:solidFill>
          <a:ln w="12700">
            <a:solidFill>
              <a:srgbClr val="155B26"/>
            </a:solidFill>
            <a:prstDash val="solid"/>
          </a:ln>
        </p:spPr>
      </p:sp>
      <p:sp>
        <p:nvSpPr>
          <p:cNvPr id="5" name="Text 3"/>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a:t>
            </a:r>
            <a:endParaRPr lang="en-US" sz="1600" dirty="0"/>
          </a:p>
        </p:txBody>
      </p:sp>
      <p:sp>
        <p:nvSpPr>
          <p:cNvPr id="6" name="Text 4"/>
          <p:cNvSpPr txBox="1"/>
          <p:nvPr/>
        </p:nvSpPr>
        <p:spPr>
          <a:xfrm>
            <a:off x="1280160" y="1783080"/>
            <a:ext cx="2011680" cy="640080"/>
          </a:xfrm>
          <a:prstGeom prst="rect">
            <a:avLst/>
          </a:prstGeom>
          <a:noFill/>
          <a:ln/>
        </p:spPr>
        <p:txBody>
          <a:bodyPr wrap="square" lIns="0" tIns="0" rIns="0" bIns="0" rtlCol="0" anchor="ctr"/>
          <a:lstStyle/>
          <a:p>
            <a:pPr indent="0" marL="0">
              <a:buNone/>
            </a:pPr>
            <a:r>
              <a:rPr lang="en-US" sz="1500" b="1" dirty="0">
                <a:solidFill>
                  <a:srgbClr val="1B241F"/>
                </a:solidFill>
                <a:latin typeface="Calibri" pitchFamily="34" charset="0"/>
                <a:ea typeface="Calibri" pitchFamily="34" charset="-122"/>
                <a:cs typeface="Calibri" pitchFamily="34" charset="-120"/>
              </a:rPr>
              <a:t>Foundation</a:t>
            </a:r>
            <a:endParaRPr lang="en-US" sz="1500" dirty="0"/>
          </a:p>
        </p:txBody>
      </p:sp>
      <p:sp>
        <p:nvSpPr>
          <p:cNvPr id="7" name="Text 5"/>
          <p:cNvSpPr txBox="1"/>
          <p:nvPr/>
        </p:nvSpPr>
        <p:spPr>
          <a:xfrm>
            <a:off x="3291840" y="1783080"/>
            <a:ext cx="3931920" cy="658368"/>
          </a:xfrm>
          <a:prstGeom prst="rect">
            <a:avLst/>
          </a:prstGeom>
          <a:noFill/>
          <a:ln/>
        </p:spPr>
        <p:txBody>
          <a:bodyPr wrap="square" lIns="0" tIns="0" rIns="0" bIns="0" rtlCol="0" anchor="ctr"/>
          <a:lstStyle/>
          <a:p>
            <a:pPr indent="0" marL="0">
              <a:buNone/>
            </a:pPr>
            <a:r>
              <a:rPr lang="en-US" sz="1150" dirty="0">
                <a:solidFill>
                  <a:srgbClr val="5D6B62"/>
                </a:solidFill>
                <a:latin typeface="Calibri" pitchFamily="34" charset="0"/>
                <a:ea typeface="Calibri" pitchFamily="34" charset="-122"/>
                <a:cs typeface="Calibri" pitchFamily="34" charset="-120"/>
              </a:rPr>
              <a:t>Import from ePASS every 15 min · one job record · sync queue replaces "TICKET MADE"</a:t>
            </a:r>
            <a:endParaRPr lang="en-US" sz="1150" dirty="0"/>
          </a:p>
          <a:p>
            <a:pPr indent="0" marL="0">
              <a:buNone/>
            </a:pPr>
            <a:r>
              <a:rPr lang="en-US" sz="1150" i="1" dirty="0">
                <a:solidFill>
                  <a:srgbClr val="155B26"/>
                </a:solidFill>
                <a:latin typeface="Calibri" pitchFamily="34" charset="0"/>
                <a:ea typeface="Calibri" pitchFamily="34" charset="-122"/>
                <a:cs typeface="Calibri" pitchFamily="34" charset="-120"/>
              </a:rPr>
              <a:t>Michael keys from a packet; nobody else notices</a:t>
            </a:r>
            <a:endParaRPr lang="en-US" sz="1150" dirty="0"/>
          </a:p>
        </p:txBody>
      </p:sp>
      <p:sp>
        <p:nvSpPr>
          <p:cNvPr id="8" name="Shape 6"/>
          <p:cNvSpPr/>
          <p:nvPr/>
        </p:nvSpPr>
        <p:spPr>
          <a:xfrm>
            <a:off x="548640" y="2542032"/>
            <a:ext cx="548640" cy="548640"/>
          </a:xfrm>
          <a:prstGeom prst="ellipse">
            <a:avLst/>
          </a:prstGeom>
          <a:solidFill>
            <a:srgbClr val="155B26"/>
          </a:solidFill>
          <a:ln w="12700">
            <a:solidFill>
              <a:srgbClr val="155B26"/>
            </a:solidFill>
            <a:prstDash val="solid"/>
          </a:ln>
        </p:spPr>
      </p:sp>
      <p:sp>
        <p:nvSpPr>
          <p:cNvPr id="9" name="Text 7"/>
          <p:cNvSpPr txBox="1"/>
          <p:nvPr/>
        </p:nvSpPr>
        <p:spPr>
          <a:xfrm>
            <a:off x="548640" y="254203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txBox="1"/>
          <p:nvPr/>
        </p:nvSpPr>
        <p:spPr>
          <a:xfrm>
            <a:off x="1280160" y="2496312"/>
            <a:ext cx="2011680" cy="640080"/>
          </a:xfrm>
          <a:prstGeom prst="rect">
            <a:avLst/>
          </a:prstGeom>
          <a:noFill/>
          <a:ln/>
        </p:spPr>
        <p:txBody>
          <a:bodyPr wrap="square" lIns="0" tIns="0" rIns="0" bIns="0" rtlCol="0" anchor="ctr"/>
          <a:lstStyle/>
          <a:p>
            <a:pPr indent="0" marL="0">
              <a:buNone/>
            </a:pPr>
            <a:r>
              <a:rPr lang="en-US" sz="1500" b="1" dirty="0">
                <a:solidFill>
                  <a:srgbClr val="1B241F"/>
                </a:solidFill>
                <a:latin typeface="Calibri" pitchFamily="34" charset="0"/>
                <a:ea typeface="Calibri" pitchFamily="34" charset="-122"/>
                <a:cs typeface="Calibri" pitchFamily="34" charset="-120"/>
              </a:rPr>
              <a:t>Customer visibility</a:t>
            </a:r>
            <a:endParaRPr lang="en-US" sz="1500" dirty="0"/>
          </a:p>
        </p:txBody>
      </p:sp>
      <p:sp>
        <p:nvSpPr>
          <p:cNvPr id="11" name="Text 9"/>
          <p:cNvSpPr txBox="1"/>
          <p:nvPr/>
        </p:nvSpPr>
        <p:spPr>
          <a:xfrm>
            <a:off x="3291840" y="2496312"/>
            <a:ext cx="3931920" cy="658368"/>
          </a:xfrm>
          <a:prstGeom prst="rect">
            <a:avLst/>
          </a:prstGeom>
          <a:noFill/>
          <a:ln/>
        </p:spPr>
        <p:txBody>
          <a:bodyPr wrap="square" lIns="0" tIns="0" rIns="0" bIns="0" rtlCol="0" anchor="ctr"/>
          <a:lstStyle/>
          <a:p>
            <a:pPr indent="0" marL="0">
              <a:buNone/>
            </a:pPr>
            <a:r>
              <a:rPr lang="en-US" sz="1150" dirty="0">
                <a:solidFill>
                  <a:srgbClr val="5D6B62"/>
                </a:solidFill>
                <a:latin typeface="Calibri" pitchFamily="34" charset="0"/>
                <a:ea typeface="Calibri" pitchFamily="34" charset="-122"/>
                <a:cs typeface="Calibri" pitchFamily="34" charset="-120"/>
              </a:rPr>
              <a:t>Tracker + automatic texts, driven by ePASS status</a:t>
            </a:r>
            <a:endParaRPr lang="en-US" sz="1150" dirty="0"/>
          </a:p>
          <a:p>
            <a:pPr indent="0" marL="0">
              <a:buNone/>
            </a:pPr>
            <a:r>
              <a:rPr lang="en-US" sz="1150" i="1" dirty="0">
                <a:solidFill>
                  <a:srgbClr val="155B26"/>
                </a:solidFill>
                <a:latin typeface="Calibri" pitchFamily="34" charset="0"/>
                <a:ea typeface="Calibri" pitchFamily="34" charset="-122"/>
                <a:cs typeface="Calibri" pitchFamily="34" charset="-120"/>
              </a:rPr>
              <a:t>Calls drop. No workflow change for anyone</a:t>
            </a:r>
            <a:endParaRPr lang="en-US" sz="1150" dirty="0"/>
          </a:p>
        </p:txBody>
      </p:sp>
      <p:sp>
        <p:nvSpPr>
          <p:cNvPr id="12" name="Shape 10"/>
          <p:cNvSpPr/>
          <p:nvPr/>
        </p:nvSpPr>
        <p:spPr>
          <a:xfrm>
            <a:off x="548640" y="3255264"/>
            <a:ext cx="548640" cy="548640"/>
          </a:xfrm>
          <a:prstGeom prst="ellipse">
            <a:avLst/>
          </a:prstGeom>
          <a:solidFill>
            <a:srgbClr val="EEF6F0"/>
          </a:solidFill>
          <a:ln w="12700">
            <a:solidFill>
              <a:srgbClr val="D9E1DA"/>
            </a:solidFill>
            <a:prstDash val="solid"/>
          </a:ln>
        </p:spPr>
      </p:sp>
      <p:sp>
        <p:nvSpPr>
          <p:cNvPr id="13" name="Text 11"/>
          <p:cNvSpPr txBox="1"/>
          <p:nvPr/>
        </p:nvSpPr>
        <p:spPr>
          <a:xfrm>
            <a:off x="548640" y="3255264"/>
            <a:ext cx="548640" cy="548640"/>
          </a:xfrm>
          <a:prstGeom prst="rect">
            <a:avLst/>
          </a:prstGeom>
          <a:noFill/>
          <a:ln/>
        </p:spPr>
        <p:txBody>
          <a:bodyPr wrap="square" lIns="0" tIns="0" rIns="0" bIns="0" rtlCol="0" anchor="ctr"/>
          <a:lstStyle/>
          <a:p>
            <a:pPr algn="ctr" indent="0" marL="0">
              <a:buNone/>
            </a:pPr>
            <a:r>
              <a:rPr lang="en-US" sz="1600" b="1" dirty="0">
                <a:solidFill>
                  <a:srgbClr val="155B26"/>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1280160" y="3209544"/>
            <a:ext cx="2011680" cy="640080"/>
          </a:xfrm>
          <a:prstGeom prst="rect">
            <a:avLst/>
          </a:prstGeom>
          <a:noFill/>
          <a:ln/>
        </p:spPr>
        <p:txBody>
          <a:bodyPr wrap="square" lIns="0" tIns="0" rIns="0" bIns="0" rtlCol="0" anchor="ctr"/>
          <a:lstStyle/>
          <a:p>
            <a:pPr indent="0" marL="0">
              <a:buNone/>
            </a:pPr>
            <a:r>
              <a:rPr lang="en-US" sz="1500" b="1" dirty="0">
                <a:solidFill>
                  <a:srgbClr val="1B241F"/>
                </a:solidFill>
                <a:latin typeface="Calibri" pitchFamily="34" charset="0"/>
                <a:ea typeface="Calibri" pitchFamily="34" charset="-122"/>
                <a:cs typeface="Calibri" pitchFamily="34" charset="-120"/>
              </a:rPr>
              <a:t>Field tool &amp; quotes</a:t>
            </a:r>
            <a:endParaRPr lang="en-US" sz="1500" dirty="0"/>
          </a:p>
        </p:txBody>
      </p:sp>
      <p:sp>
        <p:nvSpPr>
          <p:cNvPr id="15" name="Text 13"/>
          <p:cNvSpPr txBox="1"/>
          <p:nvPr/>
        </p:nvSpPr>
        <p:spPr>
          <a:xfrm>
            <a:off x="3291840" y="3209544"/>
            <a:ext cx="3931920" cy="658368"/>
          </a:xfrm>
          <a:prstGeom prst="rect">
            <a:avLst/>
          </a:prstGeom>
          <a:noFill/>
          <a:ln/>
        </p:spPr>
        <p:txBody>
          <a:bodyPr wrap="square" lIns="0" tIns="0" rIns="0" bIns="0" rtlCol="0" anchor="ctr"/>
          <a:lstStyle/>
          <a:p>
            <a:pPr indent="0" marL="0">
              <a:buNone/>
            </a:pPr>
            <a:r>
              <a:rPr lang="en-US" sz="1150" dirty="0">
                <a:solidFill>
                  <a:srgbClr val="5D6B62"/>
                </a:solidFill>
                <a:latin typeface="Calibri" pitchFamily="34" charset="0"/>
                <a:ea typeface="Calibri" pitchFamily="34" charset="-122"/>
                <a:cs typeface="Calibri" pitchFamily="34" charset="-120"/>
              </a:rPr>
              <a:t>Tech phone tool · field quotes with signature · parts verify queue</a:t>
            </a:r>
            <a:endParaRPr lang="en-US" sz="1150" dirty="0"/>
          </a:p>
          <a:p>
            <a:pPr indent="0" marL="0">
              <a:buNone/>
            </a:pPr>
            <a:r>
              <a:rPr lang="en-US" sz="1150" i="1" dirty="0">
                <a:solidFill>
                  <a:srgbClr val="155B26"/>
                </a:solidFill>
                <a:latin typeface="Calibri" pitchFamily="34" charset="0"/>
                <a:ea typeface="Calibri" pitchFamily="34" charset="-122"/>
                <a:cs typeface="Calibri" pitchFamily="34" charset="-120"/>
              </a:rPr>
              <a:t>Techs stop writing up the next morning</a:t>
            </a:r>
            <a:endParaRPr lang="en-US" sz="1150" dirty="0"/>
          </a:p>
        </p:txBody>
      </p:sp>
      <p:sp>
        <p:nvSpPr>
          <p:cNvPr id="16" name="Shape 14"/>
          <p:cNvSpPr/>
          <p:nvPr/>
        </p:nvSpPr>
        <p:spPr>
          <a:xfrm>
            <a:off x="548640" y="3968496"/>
            <a:ext cx="548640" cy="548640"/>
          </a:xfrm>
          <a:prstGeom prst="ellipse">
            <a:avLst/>
          </a:prstGeom>
          <a:solidFill>
            <a:srgbClr val="EEF6F0"/>
          </a:solidFill>
          <a:ln w="12700">
            <a:solidFill>
              <a:srgbClr val="D9E1DA"/>
            </a:solidFill>
            <a:prstDash val="solid"/>
          </a:ln>
        </p:spPr>
      </p:sp>
      <p:sp>
        <p:nvSpPr>
          <p:cNvPr id="17" name="Text 15"/>
          <p:cNvSpPr txBox="1"/>
          <p:nvPr/>
        </p:nvSpPr>
        <p:spPr>
          <a:xfrm>
            <a:off x="548640" y="3968496"/>
            <a:ext cx="548640" cy="548640"/>
          </a:xfrm>
          <a:prstGeom prst="rect">
            <a:avLst/>
          </a:prstGeom>
          <a:noFill/>
          <a:ln/>
        </p:spPr>
        <p:txBody>
          <a:bodyPr wrap="square" lIns="0" tIns="0" rIns="0" bIns="0" rtlCol="0" anchor="ctr"/>
          <a:lstStyle/>
          <a:p>
            <a:pPr algn="ctr" indent="0" marL="0">
              <a:buNone/>
            </a:pPr>
            <a:r>
              <a:rPr lang="en-US" sz="1600" b="1" dirty="0">
                <a:solidFill>
                  <a:srgbClr val="155B26"/>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1280160" y="3922776"/>
            <a:ext cx="2011680" cy="640080"/>
          </a:xfrm>
          <a:prstGeom prst="rect">
            <a:avLst/>
          </a:prstGeom>
          <a:noFill/>
          <a:ln/>
        </p:spPr>
        <p:txBody>
          <a:bodyPr wrap="square" lIns="0" tIns="0" rIns="0" bIns="0" rtlCol="0" anchor="ctr"/>
          <a:lstStyle/>
          <a:p>
            <a:pPr indent="0" marL="0">
              <a:buNone/>
            </a:pPr>
            <a:r>
              <a:rPr lang="en-US" sz="1500" b="1" dirty="0">
                <a:solidFill>
                  <a:srgbClr val="1B241F"/>
                </a:solidFill>
                <a:latin typeface="Calibri" pitchFamily="34" charset="0"/>
                <a:ea typeface="Calibri" pitchFamily="34" charset="-122"/>
                <a:cs typeface="Calibri" pitchFamily="34" charset="-120"/>
              </a:rPr>
              <a:t>Parts pipeline</a:t>
            </a:r>
            <a:endParaRPr lang="en-US" sz="1500" dirty="0"/>
          </a:p>
        </p:txBody>
      </p:sp>
      <p:sp>
        <p:nvSpPr>
          <p:cNvPr id="19" name="Text 17"/>
          <p:cNvSpPr txBox="1"/>
          <p:nvPr/>
        </p:nvSpPr>
        <p:spPr>
          <a:xfrm>
            <a:off x="3291840" y="3922776"/>
            <a:ext cx="3931920" cy="658368"/>
          </a:xfrm>
          <a:prstGeom prst="rect">
            <a:avLst/>
          </a:prstGeom>
          <a:noFill/>
          <a:ln/>
        </p:spPr>
        <p:txBody>
          <a:bodyPr wrap="square" lIns="0" tIns="0" rIns="0" bIns="0" rtlCol="0" anchor="ctr"/>
          <a:lstStyle/>
          <a:p>
            <a:pPr indent="0" marL="0">
              <a:buNone/>
            </a:pPr>
            <a:r>
              <a:rPr lang="en-US" sz="1150" dirty="0">
                <a:solidFill>
                  <a:srgbClr val="5D6B62"/>
                </a:solidFill>
                <a:latin typeface="Calibri" pitchFamily="34" charset="0"/>
                <a:ea typeface="Calibri" pitchFamily="34" charset="-122"/>
                <a:cs typeface="Calibri" pitchFamily="34" charset="-120"/>
              </a:rPr>
              <a:t>PO builder · receiving → SO5 · ETA everywhere</a:t>
            </a:r>
            <a:endParaRPr lang="en-US" sz="1150" dirty="0"/>
          </a:p>
          <a:p>
            <a:pPr indent="0" marL="0">
              <a:buNone/>
            </a:pPr>
            <a:r>
              <a:rPr lang="en-US" sz="1150" i="1" dirty="0">
                <a:solidFill>
                  <a:srgbClr val="155B26"/>
                </a:solidFill>
                <a:latin typeface="Calibri" pitchFamily="34" charset="0"/>
                <a:ea typeface="Calibri" pitchFamily="34" charset="-122"/>
                <a:cs typeface="Calibri" pitchFamily="34" charset="-120"/>
              </a:rPr>
              <a:t>Parts stops running reports</a:t>
            </a:r>
            <a:endParaRPr lang="en-US" sz="1150" dirty="0"/>
          </a:p>
        </p:txBody>
      </p:sp>
      <p:sp>
        <p:nvSpPr>
          <p:cNvPr id="20" name="Shape 18"/>
          <p:cNvSpPr/>
          <p:nvPr/>
        </p:nvSpPr>
        <p:spPr>
          <a:xfrm>
            <a:off x="548640" y="4681728"/>
            <a:ext cx="548640" cy="548640"/>
          </a:xfrm>
          <a:prstGeom prst="ellipse">
            <a:avLst/>
          </a:prstGeom>
          <a:solidFill>
            <a:srgbClr val="EEF6F0"/>
          </a:solidFill>
          <a:ln w="12700">
            <a:solidFill>
              <a:srgbClr val="D9E1DA"/>
            </a:solidFill>
            <a:prstDash val="solid"/>
          </a:ln>
        </p:spPr>
      </p:sp>
      <p:sp>
        <p:nvSpPr>
          <p:cNvPr id="21" name="Text 19"/>
          <p:cNvSpPr txBox="1"/>
          <p:nvPr/>
        </p:nvSpPr>
        <p:spPr>
          <a:xfrm>
            <a:off x="548640" y="4681728"/>
            <a:ext cx="548640" cy="548640"/>
          </a:xfrm>
          <a:prstGeom prst="rect">
            <a:avLst/>
          </a:prstGeom>
          <a:noFill/>
          <a:ln/>
        </p:spPr>
        <p:txBody>
          <a:bodyPr wrap="square" lIns="0" tIns="0" rIns="0" bIns="0" rtlCol="0" anchor="ctr"/>
          <a:lstStyle/>
          <a:p>
            <a:pPr algn="ctr" indent="0" marL="0">
              <a:buNone/>
            </a:pPr>
            <a:r>
              <a:rPr lang="en-US" sz="1600" b="1" dirty="0">
                <a:solidFill>
                  <a:srgbClr val="155B26"/>
                </a:solidFill>
                <a:latin typeface="Cambria" pitchFamily="34" charset="0"/>
                <a:ea typeface="Cambria" pitchFamily="34" charset="-122"/>
                <a:cs typeface="Cambria" pitchFamily="34" charset="-120"/>
              </a:rPr>
              <a:t>4–6</a:t>
            </a:r>
            <a:endParaRPr lang="en-US" sz="1600" dirty="0"/>
          </a:p>
        </p:txBody>
      </p:sp>
      <p:sp>
        <p:nvSpPr>
          <p:cNvPr id="22" name="Text 20"/>
          <p:cNvSpPr txBox="1"/>
          <p:nvPr/>
        </p:nvSpPr>
        <p:spPr>
          <a:xfrm>
            <a:off x="1280160" y="4636008"/>
            <a:ext cx="2011680" cy="640080"/>
          </a:xfrm>
          <a:prstGeom prst="rect">
            <a:avLst/>
          </a:prstGeom>
          <a:noFill/>
          <a:ln/>
        </p:spPr>
        <p:txBody>
          <a:bodyPr wrap="square" lIns="0" tIns="0" rIns="0" bIns="0" rtlCol="0" anchor="ctr"/>
          <a:lstStyle/>
          <a:p>
            <a:pPr indent="0" marL="0">
              <a:buNone/>
            </a:pPr>
            <a:r>
              <a:rPr lang="en-US" sz="1500" b="1" dirty="0">
                <a:solidFill>
                  <a:srgbClr val="1B241F"/>
                </a:solidFill>
                <a:latin typeface="Calibri" pitchFamily="34" charset="0"/>
                <a:ea typeface="Calibri" pitchFamily="34" charset="-122"/>
                <a:cs typeface="Calibri" pitchFamily="34" charset="-120"/>
              </a:rPr>
              <a:t>Scheduling</a:t>
            </a:r>
            <a:endParaRPr lang="en-US" sz="1500" dirty="0"/>
          </a:p>
        </p:txBody>
      </p:sp>
      <p:sp>
        <p:nvSpPr>
          <p:cNvPr id="23" name="Text 21"/>
          <p:cNvSpPr txBox="1"/>
          <p:nvPr/>
        </p:nvSpPr>
        <p:spPr>
          <a:xfrm>
            <a:off x="3291840" y="4636008"/>
            <a:ext cx="3931920" cy="658368"/>
          </a:xfrm>
          <a:prstGeom prst="rect">
            <a:avLst/>
          </a:prstGeom>
          <a:noFill/>
          <a:ln/>
        </p:spPr>
        <p:txBody>
          <a:bodyPr wrap="square" lIns="0" tIns="0" rIns="0" bIns="0" rtlCol="0" anchor="ctr"/>
          <a:lstStyle/>
          <a:p>
            <a:pPr indent="0" marL="0">
              <a:buNone/>
            </a:pPr>
            <a:r>
              <a:rPr lang="en-US" sz="1150" dirty="0">
                <a:solidFill>
                  <a:srgbClr val="5D6B62"/>
                </a:solidFill>
                <a:latin typeface="Calibri" pitchFamily="34" charset="0"/>
                <a:ea typeface="Calibri" pitchFamily="34" charset="-122"/>
                <a:cs typeface="Calibri" pitchFamily="34" charset="-120"/>
              </a:rPr>
              <a:t>Customers pick windows · board proposes routes and trips · auto-charge</a:t>
            </a:r>
            <a:endParaRPr lang="en-US" sz="1150" dirty="0"/>
          </a:p>
          <a:p>
            <a:pPr indent="0" marL="0">
              <a:buNone/>
            </a:pPr>
            <a:r>
              <a:rPr lang="en-US" sz="1150" i="1" dirty="0">
                <a:solidFill>
                  <a:srgbClr val="155B26"/>
                </a:solidFill>
                <a:latin typeface="Calibri" pitchFamily="34" charset="0"/>
                <a:ea typeface="Calibri" pitchFamily="34" charset="-122"/>
                <a:cs typeface="Calibri" pitchFamily="34" charset="-120"/>
              </a:rPr>
              <a:t>Demitrius supervises instead of builds</a:t>
            </a:r>
            <a:endParaRPr lang="en-US" sz="1150" dirty="0"/>
          </a:p>
        </p:txBody>
      </p:sp>
      <p:sp>
        <p:nvSpPr>
          <p:cNvPr id="24" name="Shape 22"/>
          <p:cNvSpPr/>
          <p:nvPr/>
        </p:nvSpPr>
        <p:spPr>
          <a:xfrm>
            <a:off x="7498080" y="1737360"/>
            <a:ext cx="4114800" cy="4480560"/>
          </a:xfrm>
          <a:prstGeom prst="roundRect">
            <a:avLst>
              <a:gd name="adj" fmla="val 3333"/>
            </a:avLst>
          </a:prstGeom>
          <a:solidFill>
            <a:srgbClr val="0F471D"/>
          </a:solidFill>
          <a:ln w="12700">
            <a:solidFill>
              <a:srgbClr val="0F471D"/>
            </a:solidFill>
            <a:prstDash val="solid"/>
          </a:ln>
        </p:spPr>
      </p:sp>
      <p:sp>
        <p:nvSpPr>
          <p:cNvPr id="25" name="Text 23"/>
          <p:cNvSpPr txBox="1"/>
          <p:nvPr/>
        </p:nvSpPr>
        <p:spPr>
          <a:xfrm>
            <a:off x="7772400" y="1920240"/>
            <a:ext cx="3657600" cy="274320"/>
          </a:xfrm>
          <a:prstGeom prst="rect">
            <a:avLst/>
          </a:prstGeom>
          <a:noFill/>
          <a:ln/>
        </p:spPr>
        <p:txBody>
          <a:bodyPr wrap="square" lIns="0" tIns="0" rIns="0" bIns="0" rtlCol="0" anchor="ctr"/>
          <a:lstStyle/>
          <a:p>
            <a:pPr indent="0" marL="0">
              <a:buNone/>
            </a:pPr>
            <a:r>
              <a:rPr lang="en-US" sz="1100" b="1" spc="200" kern="0" dirty="0">
                <a:solidFill>
                  <a:srgbClr val="9FC3A8"/>
                </a:solidFill>
                <a:latin typeface="Calibri" pitchFamily="34" charset="0"/>
                <a:ea typeface="Calibri" pitchFamily="34" charset="-122"/>
                <a:cs typeface="Calibri" pitchFamily="34" charset="-120"/>
              </a:rPr>
              <a:t>THE ASK</a:t>
            </a:r>
            <a:endParaRPr lang="en-US" sz="1100" dirty="0"/>
          </a:p>
        </p:txBody>
      </p:sp>
      <p:sp>
        <p:nvSpPr>
          <p:cNvPr id="26" name="Text 24"/>
          <p:cNvSpPr txBox="1"/>
          <p:nvPr/>
        </p:nvSpPr>
        <p:spPr>
          <a:xfrm>
            <a:off x="7772400" y="2286000"/>
            <a:ext cx="3611880" cy="374904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Two techs pilot the field tool for two weeks</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alongside ePASS, not instead of it. We compare their notes timing and quote rate to the others.</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 </a:t>
            </a:r>
            <a:endParaRPr lang="en-US" sz="1350" dirty="0"/>
          </a:p>
          <a:p>
            <a:pPr indent="0" marL="0">
              <a:buNone/>
            </a:pPr>
            <a:r>
              <a:rPr lang="en-US" sz="1350" b="1" dirty="0">
                <a:solidFill>
                  <a:srgbClr val="FFFFFF"/>
                </a:solidFill>
                <a:latin typeface="Calibri" pitchFamily="34" charset="0"/>
                <a:ea typeface="Calibri" pitchFamily="34" charset="-122"/>
                <a:cs typeface="Calibri" pitchFamily="34" charset="-120"/>
              </a:rPr>
              <a:t>One hour with Demitrius</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on the zone table and the trip rules — the board should encode his judgment, not replace it.</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 </a:t>
            </a:r>
            <a:endParaRPr lang="en-US" sz="1350" dirty="0"/>
          </a:p>
          <a:p>
            <a:pPr indent="0" marL="0">
              <a:buNone/>
            </a:pPr>
            <a:r>
              <a:rPr lang="en-US" sz="1350" b="1" dirty="0">
                <a:solidFill>
                  <a:srgbClr val="FFFFFF"/>
                </a:solidFill>
                <a:latin typeface="Calibri" pitchFamily="34" charset="0"/>
                <a:ea typeface="Calibri" pitchFamily="34" charset="-122"/>
                <a:cs typeface="Calibri" pitchFamily="34" charset="-120"/>
              </a:rPr>
              <a:t>Thirty minutes with Noell and Michael</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on the parts and sync queues, before the developer builds them.</a:t>
            </a:r>
            <a:endParaRPr lang="en-US" sz="1350" dirty="0"/>
          </a:p>
        </p:txBody>
      </p:sp>
      <p:sp>
        <p:nvSpPr>
          <p:cNvPr id="27" name="Text 25"/>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5D6B62"/>
                </a:solidFill>
                <a:latin typeface="Calibri" pitchFamily="34" charset="0"/>
                <a:ea typeface="Calibri" pitchFamily="34" charset="-122"/>
                <a:cs typeface="Calibri" pitchFamily="34" charset="-120"/>
              </a:rPr>
              <a:t>Blueprint, prototypes and the developer spec are in C:\Dev\service_call_journey — anyone can open them.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2026-09-11T11:21:36Z</dcterms:created>
  <dcterms:modified xsi:type="dcterms:W3CDTF">2026-09-11T11:21:36Z</dcterms:modified>
</cp:coreProperties>
</file>